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4"/>
  </p:sldMasterIdLst>
  <p:notesMasterIdLst>
    <p:notesMasterId r:id="rId93"/>
  </p:notesMasterIdLst>
  <p:sldIdLst>
    <p:sldId id="262" r:id="rId5"/>
    <p:sldId id="4291" r:id="rId6"/>
    <p:sldId id="1233" r:id="rId7"/>
    <p:sldId id="1226" r:id="rId8"/>
    <p:sldId id="1227" r:id="rId9"/>
    <p:sldId id="458" r:id="rId10"/>
    <p:sldId id="1228" r:id="rId11"/>
    <p:sldId id="4373" r:id="rId12"/>
    <p:sldId id="1539" r:id="rId13"/>
    <p:sldId id="2147473590" r:id="rId14"/>
    <p:sldId id="2147473592" r:id="rId15"/>
    <p:sldId id="2147473593" r:id="rId16"/>
    <p:sldId id="4374" r:id="rId17"/>
    <p:sldId id="4147" r:id="rId18"/>
    <p:sldId id="1230" r:id="rId19"/>
    <p:sldId id="4146" r:id="rId20"/>
    <p:sldId id="2147473612" r:id="rId21"/>
    <p:sldId id="2147473596" r:id="rId22"/>
    <p:sldId id="2147473614" r:id="rId23"/>
    <p:sldId id="2147473604" r:id="rId24"/>
    <p:sldId id="4117" r:id="rId25"/>
    <p:sldId id="4148" r:id="rId26"/>
    <p:sldId id="4163" r:id="rId27"/>
    <p:sldId id="4376" r:id="rId28"/>
    <p:sldId id="4377" r:id="rId29"/>
    <p:sldId id="4378" r:id="rId30"/>
    <p:sldId id="4174" r:id="rId31"/>
    <p:sldId id="4379" r:id="rId32"/>
    <p:sldId id="4380" r:id="rId33"/>
    <p:sldId id="4381" r:id="rId34"/>
    <p:sldId id="4382" r:id="rId35"/>
    <p:sldId id="4383" r:id="rId36"/>
    <p:sldId id="4384" r:id="rId37"/>
    <p:sldId id="4176" r:id="rId38"/>
    <p:sldId id="4184" r:id="rId39"/>
    <p:sldId id="4185" r:id="rId40"/>
    <p:sldId id="4179" r:id="rId41"/>
    <p:sldId id="4195" r:id="rId42"/>
    <p:sldId id="4385" r:id="rId43"/>
    <p:sldId id="4474" r:id="rId44"/>
    <p:sldId id="4475" r:id="rId45"/>
    <p:sldId id="4476" r:id="rId46"/>
    <p:sldId id="4477" r:id="rId47"/>
    <p:sldId id="4478" r:id="rId48"/>
    <p:sldId id="4479" r:id="rId49"/>
    <p:sldId id="4480" r:id="rId50"/>
    <p:sldId id="4481" r:id="rId51"/>
    <p:sldId id="4482" r:id="rId52"/>
    <p:sldId id="4483" r:id="rId53"/>
    <p:sldId id="4485" r:id="rId54"/>
    <p:sldId id="4486" r:id="rId55"/>
    <p:sldId id="4487" r:id="rId56"/>
    <p:sldId id="4488" r:id="rId57"/>
    <p:sldId id="4489" r:id="rId58"/>
    <p:sldId id="4490" r:id="rId59"/>
    <p:sldId id="4491" r:id="rId60"/>
    <p:sldId id="4492" r:id="rId61"/>
    <p:sldId id="4493" r:id="rId62"/>
    <p:sldId id="4495" r:id="rId63"/>
    <p:sldId id="4497" r:id="rId64"/>
    <p:sldId id="4197" r:id="rId65"/>
    <p:sldId id="4498" r:id="rId66"/>
    <p:sldId id="4386" r:id="rId67"/>
    <p:sldId id="4180" r:id="rId68"/>
    <p:sldId id="4181" r:id="rId69"/>
    <p:sldId id="4182" r:id="rId70"/>
    <p:sldId id="4183" r:id="rId71"/>
    <p:sldId id="4188" r:id="rId72"/>
    <p:sldId id="4189" r:id="rId73"/>
    <p:sldId id="4387" r:id="rId74"/>
    <p:sldId id="4388" r:id="rId75"/>
    <p:sldId id="4116" r:id="rId76"/>
    <p:sldId id="4165" r:id="rId77"/>
    <p:sldId id="4390" r:id="rId78"/>
    <p:sldId id="4391" r:id="rId79"/>
    <p:sldId id="1335" r:id="rId80"/>
    <p:sldId id="4128" r:id="rId81"/>
    <p:sldId id="4436" r:id="rId82"/>
    <p:sldId id="4435" r:id="rId83"/>
    <p:sldId id="4434" r:id="rId84"/>
    <p:sldId id="4433" r:id="rId85"/>
    <p:sldId id="4432" r:id="rId86"/>
    <p:sldId id="4431" r:id="rId87"/>
    <p:sldId id="1537" r:id="rId88"/>
    <p:sldId id="4499" r:id="rId89"/>
    <p:sldId id="4325" r:id="rId90"/>
    <p:sldId id="4178" r:id="rId91"/>
    <p:sldId id="4186" r:id="rId92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D26842D-213D-3BEE-1335-BF71C230E2EA}" name="Emma Sandberg Andersen" initials="ESA" userId="S::emma.sandberg.andersen@trustworks.dk::e8867f3d-578c-425b-9a14-78d9bf6d41fe" providerId="AD"/>
  <p188:author id="{41717ECE-50EA-558A-6561-32AAFB47EC1A}" name="Jeppe Cramon" initials="JC" userId="S::jeppe.cramon@trustworks.dk::1aad9fba-2b33-4405-8ab5-a1094be7124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BABAB"/>
    <a:srgbClr val="CDCDCD"/>
    <a:srgbClr val="FF6600"/>
    <a:srgbClr val="F6CC9A"/>
    <a:srgbClr val="FFD900"/>
    <a:srgbClr val="2196DA"/>
    <a:srgbClr val="FFEA98"/>
    <a:srgbClr val="E8ECED"/>
    <a:srgbClr val="8497B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DFA619-770A-1560-7256-49E11F0655C7}" v="1" dt="2026-03-12T13:04:47.1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llemlayout 2 - Markering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llemlayout 2 - Markering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58"/>
    <p:restoredTop sz="90116"/>
  </p:normalViewPr>
  <p:slideViewPr>
    <p:cSldViewPr snapToGrid="0">
      <p:cViewPr varScale="1">
        <p:scale>
          <a:sx n="91" d="100"/>
          <a:sy n="91" d="100"/>
        </p:scale>
        <p:origin x="224" y="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-11649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viewProps" Target="viewProps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91" Type="http://schemas.openxmlformats.org/officeDocument/2006/relationships/slide" Target="slides/slide87.xml"/><Relationship Id="rId9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presProps" Target="presProps.xml"/><Relationship Id="rId9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tableStyles" Target="tableStyle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notesMaster" Target="notesMasters/notesMaster1.xml"/><Relationship Id="rId98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1918935-CFEB-1A41-BA72-51EF6A560136}" type="doc">
      <dgm:prSet loTypeId="urn:microsoft.com/office/officeart/2005/8/layout/hChevron3" loCatId="" qsTypeId="urn:microsoft.com/office/officeart/2005/8/quickstyle/simple3" qsCatId="simple" csTypeId="urn:microsoft.com/office/officeart/2005/8/colors/accent1_2" csCatId="accent1" phldr="1"/>
      <dgm:spPr/>
    </dgm:pt>
    <dgm:pt modelId="{E1774B8D-D973-2842-9B75-5A8D993B1930}">
      <dgm:prSet phldrT="[Text]" custT="1">
        <dgm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dgm:style>
      </dgm:prSet>
      <dgm:spPr>
        <a:xfrm>
          <a:off x="1020" y="1812847"/>
          <a:ext cx="1566996" cy="626798"/>
        </a:xfrm>
        <a:prstGeom prst="homePlate">
          <a:avLst/>
        </a:prstGeom>
        <a:ln/>
      </dgm:spPr>
      <dgm:t>
        <a:bodyPr/>
        <a:lstStyle/>
        <a:p>
          <a:pPr>
            <a:buNone/>
          </a:pPr>
          <a:r>
            <a:rPr lang="da-DK" sz="900" b="1" dirty="0" err="1">
              <a:solidFill>
                <a:srgbClr val="000000"/>
              </a:solidFill>
              <a:latin typeface="Century Gothic" panose="020F0302020204030204"/>
              <a:ea typeface="+mn-ea"/>
              <a:cs typeface="+mn-cs"/>
            </a:rPr>
            <a:t>ProductAdded</a:t>
          </a:r>
          <a:endParaRPr lang="da-DK" sz="900" b="1" dirty="0">
            <a:solidFill>
              <a:srgbClr val="000000"/>
            </a:solidFill>
            <a:latin typeface="Century Gothic" panose="020F0302020204030204"/>
            <a:ea typeface="+mn-ea"/>
            <a:cs typeface="+mn-cs"/>
          </a:endParaRPr>
        </a:p>
      </dgm:t>
    </dgm:pt>
    <dgm:pt modelId="{A280262B-7E75-694D-9955-7E4351B86A96}" type="parTrans" cxnId="{EF225861-B9F8-9149-8CCD-C15D1C7FEA4B}">
      <dgm:prSet/>
      <dgm:spPr/>
      <dgm:t>
        <a:bodyPr/>
        <a:lstStyle/>
        <a:p>
          <a:endParaRPr lang="da-DK" sz="2000" b="1"/>
        </a:p>
      </dgm:t>
    </dgm:pt>
    <dgm:pt modelId="{B54DB7AD-B5F8-6B44-B60F-A30BD70210E4}" type="sibTrans" cxnId="{EF225861-B9F8-9149-8CCD-C15D1C7FEA4B}">
      <dgm:prSet/>
      <dgm:spPr/>
      <dgm:t>
        <a:bodyPr/>
        <a:lstStyle/>
        <a:p>
          <a:endParaRPr lang="da-DK" sz="2000" b="1"/>
        </a:p>
      </dgm:t>
    </dgm:pt>
    <dgm:pt modelId="{3042D0C9-37F1-FE4E-BF89-C3A901E9100C}">
      <dgm:prSet phldrT="[Text]" custT="1">
        <dgm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dgm:style>
      </dgm:prSet>
      <dgm:spPr>
        <a:xfrm>
          <a:off x="1254617" y="1812847"/>
          <a:ext cx="1566996" cy="626798"/>
        </a:xfrm>
        <a:prstGeom prst="chevron">
          <a:avLst/>
        </a:prstGeom>
        <a:ln/>
      </dgm:spPr>
      <dgm:t>
        <a:bodyPr/>
        <a:lstStyle/>
        <a:p>
          <a:pPr>
            <a:buNone/>
          </a:pPr>
          <a:r>
            <a:rPr lang="da-DK" sz="900" b="1" dirty="0" err="1">
              <a:solidFill>
                <a:srgbClr val="000000"/>
              </a:solidFill>
              <a:latin typeface="Century Gothic" panose="020F0302020204030204"/>
              <a:ea typeface="+mn-ea"/>
              <a:cs typeface="+mn-cs"/>
            </a:rPr>
            <a:t>ProductPrice</a:t>
          </a:r>
          <a:br>
            <a:rPr lang="da-DK" sz="900" b="1" dirty="0">
              <a:solidFill>
                <a:srgbClr val="000000"/>
              </a:solidFill>
              <a:latin typeface="Century Gothic" panose="020F0302020204030204"/>
              <a:ea typeface="+mn-ea"/>
              <a:cs typeface="+mn-cs"/>
            </a:rPr>
          </a:br>
          <a:r>
            <a:rPr lang="da-DK" sz="900" b="1" dirty="0" err="1">
              <a:solidFill>
                <a:srgbClr val="000000"/>
              </a:solidFill>
              <a:latin typeface="Century Gothic" panose="020F0302020204030204"/>
              <a:ea typeface="+mn-ea"/>
              <a:cs typeface="+mn-cs"/>
            </a:rPr>
            <a:t>Changed</a:t>
          </a:r>
          <a:endParaRPr lang="da-DK" sz="900" b="1" dirty="0">
            <a:solidFill>
              <a:srgbClr val="000000"/>
            </a:solidFill>
            <a:latin typeface="Century Gothic" panose="020F0302020204030204"/>
            <a:ea typeface="+mn-ea"/>
            <a:cs typeface="+mn-cs"/>
          </a:endParaRPr>
        </a:p>
      </dgm:t>
    </dgm:pt>
    <dgm:pt modelId="{24BA76F3-708C-7F4F-B7E5-CFB1528306C4}" type="parTrans" cxnId="{73C7D217-A8C9-9E42-AE52-EEF2CDC2593A}">
      <dgm:prSet/>
      <dgm:spPr/>
      <dgm:t>
        <a:bodyPr/>
        <a:lstStyle/>
        <a:p>
          <a:endParaRPr lang="da-DK" sz="2000" b="1"/>
        </a:p>
      </dgm:t>
    </dgm:pt>
    <dgm:pt modelId="{2E331512-5759-B341-8516-FEB1F7BCA3C9}" type="sibTrans" cxnId="{73C7D217-A8C9-9E42-AE52-EEF2CDC2593A}">
      <dgm:prSet/>
      <dgm:spPr/>
      <dgm:t>
        <a:bodyPr/>
        <a:lstStyle/>
        <a:p>
          <a:endParaRPr lang="da-DK" sz="2000" b="1"/>
        </a:p>
      </dgm:t>
    </dgm:pt>
    <dgm:pt modelId="{B6E96490-645E-ED4C-A23B-A1B11ABC7E13}">
      <dgm:prSet phldrT="[Text]" custT="1">
        <dgm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dgm:style>
      </dgm:prSet>
      <dgm:spPr>
        <a:xfrm>
          <a:off x="2508215" y="1812847"/>
          <a:ext cx="1566996" cy="626798"/>
        </a:xfrm>
        <a:prstGeom prst="chevron">
          <a:avLst/>
        </a:prstGeom>
        <a:ln/>
      </dgm:spPr>
      <dgm:t>
        <a:bodyPr/>
        <a:lstStyle/>
        <a:p>
          <a:pPr>
            <a:buNone/>
          </a:pPr>
          <a:r>
            <a:rPr lang="da-DK" sz="900" b="1" dirty="0" err="1">
              <a:solidFill>
                <a:srgbClr val="000000"/>
              </a:solidFill>
              <a:latin typeface="Century Gothic" panose="020F0302020204030204"/>
              <a:ea typeface="+mn-ea"/>
              <a:cs typeface="+mn-cs"/>
            </a:rPr>
            <a:t>ProductPrice</a:t>
          </a:r>
          <a:br>
            <a:rPr lang="da-DK" sz="900" b="1" dirty="0">
              <a:solidFill>
                <a:srgbClr val="000000"/>
              </a:solidFill>
              <a:latin typeface="Century Gothic" panose="020F0302020204030204"/>
              <a:ea typeface="+mn-ea"/>
              <a:cs typeface="+mn-cs"/>
            </a:rPr>
          </a:br>
          <a:r>
            <a:rPr lang="da-DK" sz="900" b="1" dirty="0" err="1">
              <a:solidFill>
                <a:srgbClr val="000000"/>
              </a:solidFill>
              <a:latin typeface="Century Gothic" panose="020F0302020204030204"/>
              <a:ea typeface="+mn-ea"/>
              <a:cs typeface="+mn-cs"/>
            </a:rPr>
            <a:t>Changed</a:t>
          </a:r>
          <a:endParaRPr lang="da-DK" sz="900" b="1" dirty="0">
            <a:solidFill>
              <a:srgbClr val="000000"/>
            </a:solidFill>
            <a:latin typeface="Century Gothic" panose="020F0302020204030204"/>
            <a:ea typeface="+mn-ea"/>
            <a:cs typeface="+mn-cs"/>
          </a:endParaRPr>
        </a:p>
      </dgm:t>
    </dgm:pt>
    <dgm:pt modelId="{A079D49C-A5F5-264C-9FC4-116BFBA0C9A2}" type="parTrans" cxnId="{5D546BFA-D43E-6F44-814E-AAD23D0ED63F}">
      <dgm:prSet/>
      <dgm:spPr/>
      <dgm:t>
        <a:bodyPr/>
        <a:lstStyle/>
        <a:p>
          <a:endParaRPr lang="da-DK" sz="2000" b="1"/>
        </a:p>
      </dgm:t>
    </dgm:pt>
    <dgm:pt modelId="{D36F0213-69EF-2B46-962E-5B292B7771E2}" type="sibTrans" cxnId="{5D546BFA-D43E-6F44-814E-AAD23D0ED63F}">
      <dgm:prSet/>
      <dgm:spPr/>
      <dgm:t>
        <a:bodyPr/>
        <a:lstStyle/>
        <a:p>
          <a:endParaRPr lang="da-DK" sz="2000" b="1"/>
        </a:p>
      </dgm:t>
    </dgm:pt>
    <dgm:pt modelId="{69E850C1-B5EF-5F4D-AB7D-6B95BB69AD68}">
      <dgm:prSet phldrT="[Text]" custT="1">
        <dgm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dgm:style>
      </dgm:prSet>
      <dgm:spPr>
        <a:xfrm>
          <a:off x="3761812" y="1812847"/>
          <a:ext cx="1773104" cy="626798"/>
        </a:xfrm>
        <a:prstGeom prst="chevron">
          <a:avLst/>
        </a:prstGeom>
        <a:ln/>
      </dgm:spPr>
      <dgm:t>
        <a:bodyPr/>
        <a:lstStyle/>
        <a:p>
          <a:pPr>
            <a:buNone/>
          </a:pPr>
          <a:r>
            <a:rPr lang="da-DK" sz="900" b="1" dirty="0" err="1">
              <a:solidFill>
                <a:srgbClr val="000000"/>
              </a:solidFill>
              <a:latin typeface="Century Gothic" panose="020F0302020204030204"/>
              <a:ea typeface="+mn-ea"/>
              <a:cs typeface="+mn-cs"/>
            </a:rPr>
            <a:t>ProductPrice</a:t>
          </a:r>
          <a:br>
            <a:rPr lang="da-DK" sz="900" b="1" dirty="0">
              <a:solidFill>
                <a:srgbClr val="000000"/>
              </a:solidFill>
              <a:latin typeface="Century Gothic" panose="020F0302020204030204"/>
              <a:ea typeface="+mn-ea"/>
              <a:cs typeface="+mn-cs"/>
            </a:rPr>
          </a:br>
          <a:r>
            <a:rPr lang="da-DK" sz="900" b="1" dirty="0" err="1">
              <a:solidFill>
                <a:srgbClr val="000000"/>
              </a:solidFill>
              <a:latin typeface="Century Gothic" panose="020F0302020204030204"/>
              <a:ea typeface="+mn-ea"/>
              <a:cs typeface="+mn-cs"/>
            </a:rPr>
            <a:t>Changed</a:t>
          </a:r>
          <a:endParaRPr lang="da-DK" sz="900" b="1" u="sng" dirty="0">
            <a:solidFill>
              <a:srgbClr val="000000"/>
            </a:solidFill>
            <a:latin typeface="Century Gothic" panose="020F0302020204030204"/>
            <a:ea typeface="+mn-ea"/>
            <a:cs typeface="+mn-cs"/>
          </a:endParaRPr>
        </a:p>
      </dgm:t>
    </dgm:pt>
    <dgm:pt modelId="{AF84FB62-899B-3242-B65D-5018D201422A}" type="parTrans" cxnId="{E6C79676-B61D-A549-90E8-9996B35BB0E6}">
      <dgm:prSet/>
      <dgm:spPr/>
      <dgm:t>
        <a:bodyPr/>
        <a:lstStyle/>
        <a:p>
          <a:endParaRPr lang="da-DK" sz="2000" b="1"/>
        </a:p>
      </dgm:t>
    </dgm:pt>
    <dgm:pt modelId="{53BD2E32-3296-BE43-BE51-30450D93222A}" type="sibTrans" cxnId="{E6C79676-B61D-A549-90E8-9996B35BB0E6}">
      <dgm:prSet/>
      <dgm:spPr/>
      <dgm:t>
        <a:bodyPr/>
        <a:lstStyle/>
        <a:p>
          <a:endParaRPr lang="da-DK" sz="2000" b="1"/>
        </a:p>
      </dgm:t>
    </dgm:pt>
    <dgm:pt modelId="{A4A83460-2248-5D46-BD5F-31C308C94222}">
      <dgm:prSet phldrT="[Text]" custT="1">
        <dgm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dgm:style>
      </dgm:prSet>
      <dgm:spPr>
        <a:xfrm>
          <a:off x="5221517" y="1812847"/>
          <a:ext cx="1566996" cy="626798"/>
        </a:xfrm>
        <a:prstGeom prst="chevron">
          <a:avLst/>
        </a:prstGeom>
        <a:ln/>
      </dgm:spPr>
      <dgm:t>
        <a:bodyPr/>
        <a:lstStyle/>
        <a:p>
          <a:pPr>
            <a:buNone/>
          </a:pPr>
          <a:r>
            <a:rPr lang="da-DK" sz="900" b="1" dirty="0" err="1">
              <a:solidFill>
                <a:srgbClr val="000000"/>
              </a:solidFill>
              <a:latin typeface="Century Gothic" panose="020F0302020204030204"/>
              <a:ea typeface="+mn-ea"/>
              <a:cs typeface="+mn-cs"/>
            </a:rPr>
            <a:t>ProductPrice</a:t>
          </a:r>
          <a:br>
            <a:rPr lang="da-DK" sz="900" b="1" dirty="0">
              <a:solidFill>
                <a:srgbClr val="000000"/>
              </a:solidFill>
              <a:latin typeface="Century Gothic" panose="020F0302020204030204"/>
              <a:ea typeface="+mn-ea"/>
              <a:cs typeface="+mn-cs"/>
            </a:rPr>
          </a:br>
          <a:r>
            <a:rPr lang="da-DK" sz="900" b="1" dirty="0" err="1">
              <a:solidFill>
                <a:srgbClr val="000000"/>
              </a:solidFill>
              <a:latin typeface="Century Gothic" panose="020F0302020204030204"/>
              <a:ea typeface="+mn-ea"/>
              <a:cs typeface="+mn-cs"/>
            </a:rPr>
            <a:t>Changed</a:t>
          </a:r>
          <a:endParaRPr lang="da-DK" sz="900" b="1" dirty="0">
            <a:solidFill>
              <a:srgbClr val="000000"/>
            </a:solidFill>
            <a:latin typeface="Century Gothic" panose="020F0302020204030204"/>
            <a:ea typeface="+mn-ea"/>
            <a:cs typeface="+mn-cs"/>
          </a:endParaRPr>
        </a:p>
      </dgm:t>
    </dgm:pt>
    <dgm:pt modelId="{F28668AF-3D78-754B-983E-483069229A28}" type="parTrans" cxnId="{9FE8E08A-C7D1-6743-86D0-DADF6804EDD6}">
      <dgm:prSet/>
      <dgm:spPr/>
      <dgm:t>
        <a:bodyPr/>
        <a:lstStyle/>
        <a:p>
          <a:endParaRPr lang="da-DK" sz="2000" b="1"/>
        </a:p>
      </dgm:t>
    </dgm:pt>
    <dgm:pt modelId="{0559EE96-D002-5F4A-930F-9D29513664EC}" type="sibTrans" cxnId="{9FE8E08A-C7D1-6743-86D0-DADF6804EDD6}">
      <dgm:prSet/>
      <dgm:spPr/>
      <dgm:t>
        <a:bodyPr/>
        <a:lstStyle/>
        <a:p>
          <a:endParaRPr lang="da-DK" sz="2000" b="1"/>
        </a:p>
      </dgm:t>
    </dgm:pt>
    <dgm:pt modelId="{1C737521-BF4F-8D49-8DA4-C7B170AF5F62}">
      <dgm:prSet phldrT="[Text]" custT="1">
        <dgm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dgm:style>
      </dgm:prSet>
      <dgm:spPr>
        <a:xfrm>
          <a:off x="6475114" y="1812847"/>
          <a:ext cx="1566996" cy="626798"/>
        </a:xfrm>
        <a:prstGeom prst="chevron">
          <a:avLst/>
        </a:prstGeom>
        <a:ln/>
      </dgm:spPr>
      <dgm:t>
        <a:bodyPr/>
        <a:lstStyle/>
        <a:p>
          <a:pPr>
            <a:buNone/>
          </a:pPr>
          <a:r>
            <a:rPr lang="da-DK" sz="900" b="1" dirty="0" err="1">
              <a:solidFill>
                <a:srgbClr val="000000"/>
              </a:solidFill>
              <a:latin typeface="Century Gothic" panose="020F0302020204030204"/>
              <a:ea typeface="+mn-ea"/>
              <a:cs typeface="+mn-cs"/>
            </a:rPr>
            <a:t>ProductPrice</a:t>
          </a:r>
          <a:br>
            <a:rPr lang="da-DK" sz="900" b="1" dirty="0">
              <a:solidFill>
                <a:srgbClr val="000000"/>
              </a:solidFill>
              <a:latin typeface="Century Gothic" panose="020F0302020204030204"/>
              <a:ea typeface="+mn-ea"/>
              <a:cs typeface="+mn-cs"/>
            </a:rPr>
          </a:br>
          <a:r>
            <a:rPr lang="da-DK" sz="900" b="1" dirty="0" err="1">
              <a:solidFill>
                <a:srgbClr val="000000"/>
              </a:solidFill>
              <a:latin typeface="Century Gothic" panose="020F0302020204030204"/>
              <a:ea typeface="+mn-ea"/>
              <a:cs typeface="+mn-cs"/>
            </a:rPr>
            <a:t>Changed</a:t>
          </a:r>
          <a:endParaRPr lang="da-DK" sz="900" b="1" dirty="0">
            <a:solidFill>
              <a:srgbClr val="000000"/>
            </a:solidFill>
            <a:latin typeface="Century Gothic" panose="020F0302020204030204"/>
            <a:ea typeface="+mn-ea"/>
            <a:cs typeface="+mn-cs"/>
          </a:endParaRPr>
        </a:p>
      </dgm:t>
    </dgm:pt>
    <dgm:pt modelId="{614556AC-62C4-904C-8FF7-43551F6B2B6A}" type="parTrans" cxnId="{2ACD3EEF-A3E1-AB4A-A787-B62E309DDEDB}">
      <dgm:prSet/>
      <dgm:spPr/>
      <dgm:t>
        <a:bodyPr/>
        <a:lstStyle/>
        <a:p>
          <a:endParaRPr lang="da-DK" sz="2000" b="1"/>
        </a:p>
      </dgm:t>
    </dgm:pt>
    <dgm:pt modelId="{924E0777-4D64-BC49-92E1-A7653E921A6E}" type="sibTrans" cxnId="{2ACD3EEF-A3E1-AB4A-A787-B62E309DDEDB}">
      <dgm:prSet/>
      <dgm:spPr/>
      <dgm:t>
        <a:bodyPr/>
        <a:lstStyle/>
        <a:p>
          <a:endParaRPr lang="da-DK" sz="2000" b="1"/>
        </a:p>
      </dgm:t>
    </dgm:pt>
    <dgm:pt modelId="{3F631011-35F4-1B4C-A748-2116C7BA4BD4}" type="pres">
      <dgm:prSet presAssocID="{C1918935-CFEB-1A41-BA72-51EF6A560136}" presName="Name0" presStyleCnt="0">
        <dgm:presLayoutVars>
          <dgm:dir/>
          <dgm:resizeHandles val="exact"/>
        </dgm:presLayoutVars>
      </dgm:prSet>
      <dgm:spPr/>
    </dgm:pt>
    <dgm:pt modelId="{2C3BC859-795A-524D-9587-76397F11FE97}" type="pres">
      <dgm:prSet presAssocID="{E1774B8D-D973-2842-9B75-5A8D993B1930}" presName="parTxOnly" presStyleLbl="node1" presStyleIdx="0" presStyleCnt="6" custLinFactNeighborY="5936">
        <dgm:presLayoutVars>
          <dgm:bulletEnabled val="1"/>
        </dgm:presLayoutVars>
      </dgm:prSet>
      <dgm:spPr/>
    </dgm:pt>
    <dgm:pt modelId="{74A59D93-CD7F-384F-A4A5-04EE8837E735}" type="pres">
      <dgm:prSet presAssocID="{B54DB7AD-B5F8-6B44-B60F-A30BD70210E4}" presName="parSpace" presStyleCnt="0"/>
      <dgm:spPr/>
    </dgm:pt>
    <dgm:pt modelId="{A94212DC-D182-D045-9F2B-1CB6C3CD6FB2}" type="pres">
      <dgm:prSet presAssocID="{3042D0C9-37F1-FE4E-BF89-C3A901E9100C}" presName="parTxOnly" presStyleLbl="node1" presStyleIdx="1" presStyleCnt="6" custLinFactNeighborY="5936">
        <dgm:presLayoutVars>
          <dgm:bulletEnabled val="1"/>
        </dgm:presLayoutVars>
      </dgm:prSet>
      <dgm:spPr/>
    </dgm:pt>
    <dgm:pt modelId="{AAA5A8C6-4DEE-794B-8ECA-74D07D7B7BD7}" type="pres">
      <dgm:prSet presAssocID="{2E331512-5759-B341-8516-FEB1F7BCA3C9}" presName="parSpace" presStyleCnt="0"/>
      <dgm:spPr/>
    </dgm:pt>
    <dgm:pt modelId="{E690494A-4C22-EC45-9A21-28C9D77FA8ED}" type="pres">
      <dgm:prSet presAssocID="{B6E96490-645E-ED4C-A23B-A1B11ABC7E13}" presName="parTxOnly" presStyleLbl="node1" presStyleIdx="2" presStyleCnt="6" custLinFactNeighborY="5936">
        <dgm:presLayoutVars>
          <dgm:bulletEnabled val="1"/>
        </dgm:presLayoutVars>
      </dgm:prSet>
      <dgm:spPr/>
    </dgm:pt>
    <dgm:pt modelId="{AF78371B-BE4D-5344-A022-B29484DF8EB6}" type="pres">
      <dgm:prSet presAssocID="{D36F0213-69EF-2B46-962E-5B292B7771E2}" presName="parSpace" presStyleCnt="0"/>
      <dgm:spPr/>
    </dgm:pt>
    <dgm:pt modelId="{C725FFCC-B447-5047-838A-FF80F065E89F}" type="pres">
      <dgm:prSet presAssocID="{69E850C1-B5EF-5F4D-AB7D-6B95BB69AD68}" presName="parTxOnly" presStyleLbl="node1" presStyleIdx="3" presStyleCnt="6" custScaleX="113153" custLinFactNeighborY="5936">
        <dgm:presLayoutVars>
          <dgm:bulletEnabled val="1"/>
        </dgm:presLayoutVars>
      </dgm:prSet>
      <dgm:spPr/>
    </dgm:pt>
    <dgm:pt modelId="{7F973FD4-DB0E-1F4F-A8A7-4B49C336E9CB}" type="pres">
      <dgm:prSet presAssocID="{53BD2E32-3296-BE43-BE51-30450D93222A}" presName="parSpace" presStyleCnt="0"/>
      <dgm:spPr/>
    </dgm:pt>
    <dgm:pt modelId="{83BEC6D4-DF55-B042-8E5D-2BC8857E3BA9}" type="pres">
      <dgm:prSet presAssocID="{A4A83460-2248-5D46-BD5F-31C308C94222}" presName="parTxOnly" presStyleLbl="node1" presStyleIdx="4" presStyleCnt="6" custLinFactNeighborY="5936">
        <dgm:presLayoutVars>
          <dgm:bulletEnabled val="1"/>
        </dgm:presLayoutVars>
      </dgm:prSet>
      <dgm:spPr/>
    </dgm:pt>
    <dgm:pt modelId="{BD7C999C-260A-A04A-AA7A-1AABF346C3CA}" type="pres">
      <dgm:prSet presAssocID="{0559EE96-D002-5F4A-930F-9D29513664EC}" presName="parSpace" presStyleCnt="0"/>
      <dgm:spPr/>
    </dgm:pt>
    <dgm:pt modelId="{405E3148-2D97-4548-836C-D9414EE80E96}" type="pres">
      <dgm:prSet presAssocID="{1C737521-BF4F-8D49-8DA4-C7B170AF5F62}" presName="parTxOnly" presStyleLbl="node1" presStyleIdx="5" presStyleCnt="6" custLinFactNeighborY="5936">
        <dgm:presLayoutVars>
          <dgm:bulletEnabled val="1"/>
        </dgm:presLayoutVars>
      </dgm:prSet>
      <dgm:spPr/>
    </dgm:pt>
  </dgm:ptLst>
  <dgm:cxnLst>
    <dgm:cxn modelId="{B7BBE70B-41A7-4645-8835-59424D1A7DBC}" type="presOf" srcId="{B6E96490-645E-ED4C-A23B-A1B11ABC7E13}" destId="{E690494A-4C22-EC45-9A21-28C9D77FA8ED}" srcOrd="0" destOrd="0" presId="urn:microsoft.com/office/officeart/2005/8/layout/hChevron3"/>
    <dgm:cxn modelId="{61632511-FB3B-0043-8559-BFF3B2F6A0F4}" type="presOf" srcId="{E1774B8D-D973-2842-9B75-5A8D993B1930}" destId="{2C3BC859-795A-524D-9587-76397F11FE97}" srcOrd="0" destOrd="0" presId="urn:microsoft.com/office/officeart/2005/8/layout/hChevron3"/>
    <dgm:cxn modelId="{73C7D217-A8C9-9E42-AE52-EEF2CDC2593A}" srcId="{C1918935-CFEB-1A41-BA72-51EF6A560136}" destId="{3042D0C9-37F1-FE4E-BF89-C3A901E9100C}" srcOrd="1" destOrd="0" parTransId="{24BA76F3-708C-7F4F-B7E5-CFB1528306C4}" sibTransId="{2E331512-5759-B341-8516-FEB1F7BCA3C9}"/>
    <dgm:cxn modelId="{EF225861-B9F8-9149-8CCD-C15D1C7FEA4B}" srcId="{C1918935-CFEB-1A41-BA72-51EF6A560136}" destId="{E1774B8D-D973-2842-9B75-5A8D993B1930}" srcOrd="0" destOrd="0" parTransId="{A280262B-7E75-694D-9955-7E4351B86A96}" sibTransId="{B54DB7AD-B5F8-6B44-B60F-A30BD70210E4}"/>
    <dgm:cxn modelId="{E6C79676-B61D-A549-90E8-9996B35BB0E6}" srcId="{C1918935-CFEB-1A41-BA72-51EF6A560136}" destId="{69E850C1-B5EF-5F4D-AB7D-6B95BB69AD68}" srcOrd="3" destOrd="0" parTransId="{AF84FB62-899B-3242-B65D-5018D201422A}" sibTransId="{53BD2E32-3296-BE43-BE51-30450D93222A}"/>
    <dgm:cxn modelId="{9FE8E08A-C7D1-6743-86D0-DADF6804EDD6}" srcId="{C1918935-CFEB-1A41-BA72-51EF6A560136}" destId="{A4A83460-2248-5D46-BD5F-31C308C94222}" srcOrd="4" destOrd="0" parTransId="{F28668AF-3D78-754B-983E-483069229A28}" sibTransId="{0559EE96-D002-5F4A-930F-9D29513664EC}"/>
    <dgm:cxn modelId="{DA252E9D-C5F7-6D4D-8A44-1991D9C8B5F7}" type="presOf" srcId="{C1918935-CFEB-1A41-BA72-51EF6A560136}" destId="{3F631011-35F4-1B4C-A748-2116C7BA4BD4}" srcOrd="0" destOrd="0" presId="urn:microsoft.com/office/officeart/2005/8/layout/hChevron3"/>
    <dgm:cxn modelId="{4CB831A2-E0BE-7745-A85D-703C1BC4E66F}" type="presOf" srcId="{A4A83460-2248-5D46-BD5F-31C308C94222}" destId="{83BEC6D4-DF55-B042-8E5D-2BC8857E3BA9}" srcOrd="0" destOrd="0" presId="urn:microsoft.com/office/officeart/2005/8/layout/hChevron3"/>
    <dgm:cxn modelId="{49F8CBA8-FA9A-344E-AD9B-CFCAFD1B480D}" type="presOf" srcId="{3042D0C9-37F1-FE4E-BF89-C3A901E9100C}" destId="{A94212DC-D182-D045-9F2B-1CB6C3CD6FB2}" srcOrd="0" destOrd="0" presId="urn:microsoft.com/office/officeart/2005/8/layout/hChevron3"/>
    <dgm:cxn modelId="{B387DEC9-90CA-8B4F-A0BC-1D668BB6316D}" type="presOf" srcId="{69E850C1-B5EF-5F4D-AB7D-6B95BB69AD68}" destId="{C725FFCC-B447-5047-838A-FF80F065E89F}" srcOrd="0" destOrd="0" presId="urn:microsoft.com/office/officeart/2005/8/layout/hChevron3"/>
    <dgm:cxn modelId="{BCB66DD7-F949-2645-8E56-2FF3BE754098}" type="presOf" srcId="{1C737521-BF4F-8D49-8DA4-C7B170AF5F62}" destId="{405E3148-2D97-4548-836C-D9414EE80E96}" srcOrd="0" destOrd="0" presId="urn:microsoft.com/office/officeart/2005/8/layout/hChevron3"/>
    <dgm:cxn modelId="{2ACD3EEF-A3E1-AB4A-A787-B62E309DDEDB}" srcId="{C1918935-CFEB-1A41-BA72-51EF6A560136}" destId="{1C737521-BF4F-8D49-8DA4-C7B170AF5F62}" srcOrd="5" destOrd="0" parTransId="{614556AC-62C4-904C-8FF7-43551F6B2B6A}" sibTransId="{924E0777-4D64-BC49-92E1-A7653E921A6E}"/>
    <dgm:cxn modelId="{5D546BFA-D43E-6F44-814E-AAD23D0ED63F}" srcId="{C1918935-CFEB-1A41-BA72-51EF6A560136}" destId="{B6E96490-645E-ED4C-A23B-A1B11ABC7E13}" srcOrd="2" destOrd="0" parTransId="{A079D49C-A5F5-264C-9FC4-116BFBA0C9A2}" sibTransId="{D36F0213-69EF-2B46-962E-5B292B7771E2}"/>
    <dgm:cxn modelId="{08D58F6C-79FF-B848-BB75-F3A6539CF826}" type="presParOf" srcId="{3F631011-35F4-1B4C-A748-2116C7BA4BD4}" destId="{2C3BC859-795A-524D-9587-76397F11FE97}" srcOrd="0" destOrd="0" presId="urn:microsoft.com/office/officeart/2005/8/layout/hChevron3"/>
    <dgm:cxn modelId="{6C7F6D07-580B-2B4B-B5E0-FBF48CB53907}" type="presParOf" srcId="{3F631011-35F4-1B4C-A748-2116C7BA4BD4}" destId="{74A59D93-CD7F-384F-A4A5-04EE8837E735}" srcOrd="1" destOrd="0" presId="urn:microsoft.com/office/officeart/2005/8/layout/hChevron3"/>
    <dgm:cxn modelId="{98F80577-9543-A340-B8E4-D9630669C84B}" type="presParOf" srcId="{3F631011-35F4-1B4C-A748-2116C7BA4BD4}" destId="{A94212DC-D182-D045-9F2B-1CB6C3CD6FB2}" srcOrd="2" destOrd="0" presId="urn:microsoft.com/office/officeart/2005/8/layout/hChevron3"/>
    <dgm:cxn modelId="{C50C4F75-EC08-E44F-8867-9F45379CCE20}" type="presParOf" srcId="{3F631011-35F4-1B4C-A748-2116C7BA4BD4}" destId="{AAA5A8C6-4DEE-794B-8ECA-74D07D7B7BD7}" srcOrd="3" destOrd="0" presId="urn:microsoft.com/office/officeart/2005/8/layout/hChevron3"/>
    <dgm:cxn modelId="{3CE6935E-A030-3048-8F21-B411F1D451CB}" type="presParOf" srcId="{3F631011-35F4-1B4C-A748-2116C7BA4BD4}" destId="{E690494A-4C22-EC45-9A21-28C9D77FA8ED}" srcOrd="4" destOrd="0" presId="urn:microsoft.com/office/officeart/2005/8/layout/hChevron3"/>
    <dgm:cxn modelId="{9AB2AA8A-A359-A741-8736-843AF313BADF}" type="presParOf" srcId="{3F631011-35F4-1B4C-A748-2116C7BA4BD4}" destId="{AF78371B-BE4D-5344-A022-B29484DF8EB6}" srcOrd="5" destOrd="0" presId="urn:microsoft.com/office/officeart/2005/8/layout/hChevron3"/>
    <dgm:cxn modelId="{2A55BDC1-02BF-384B-8E3E-B21CB09B86C2}" type="presParOf" srcId="{3F631011-35F4-1B4C-A748-2116C7BA4BD4}" destId="{C725FFCC-B447-5047-838A-FF80F065E89F}" srcOrd="6" destOrd="0" presId="urn:microsoft.com/office/officeart/2005/8/layout/hChevron3"/>
    <dgm:cxn modelId="{21B8ADD7-450D-E741-B76A-7E6B66DFA241}" type="presParOf" srcId="{3F631011-35F4-1B4C-A748-2116C7BA4BD4}" destId="{7F973FD4-DB0E-1F4F-A8A7-4B49C336E9CB}" srcOrd="7" destOrd="0" presId="urn:microsoft.com/office/officeart/2005/8/layout/hChevron3"/>
    <dgm:cxn modelId="{5000B84A-AB3B-5349-A537-65D90351A8E1}" type="presParOf" srcId="{3F631011-35F4-1B4C-A748-2116C7BA4BD4}" destId="{83BEC6D4-DF55-B042-8E5D-2BC8857E3BA9}" srcOrd="8" destOrd="0" presId="urn:microsoft.com/office/officeart/2005/8/layout/hChevron3"/>
    <dgm:cxn modelId="{E0FEBBC0-E39A-BA47-99D2-21D97D2C0046}" type="presParOf" srcId="{3F631011-35F4-1B4C-A748-2116C7BA4BD4}" destId="{BD7C999C-260A-A04A-AA7A-1AABF346C3CA}" srcOrd="9" destOrd="0" presId="urn:microsoft.com/office/officeart/2005/8/layout/hChevron3"/>
    <dgm:cxn modelId="{6C0A257B-78FC-804C-97CF-1BCE70EE359D}" type="presParOf" srcId="{3F631011-35F4-1B4C-A748-2116C7BA4BD4}" destId="{405E3148-2D97-4548-836C-D9414EE80E96}" srcOrd="10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3BC859-795A-524D-9587-76397F11FE97}">
      <dsp:nvSpPr>
        <dsp:cNvPr id="0" name=""/>
        <dsp:cNvSpPr/>
      </dsp:nvSpPr>
      <dsp:spPr>
        <a:xfrm>
          <a:off x="1020" y="1850054"/>
          <a:ext cx="1566996" cy="626798"/>
        </a:xfrm>
        <a:prstGeom prst="homePlate">
          <a:avLst/>
        </a:prstGeom>
        <a:solidFill>
          <a:schemeClr val="accent5"/>
        </a:solidFill>
        <a:ln w="12700" cap="flat" cmpd="sng" algn="ctr">
          <a:solidFill>
            <a:schemeClr val="accent5">
              <a:shade val="1500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/>
      </dsp:spPr>
      <dsp:style>
        <a:lnRef idx="2">
          <a:schemeClr val="accent5">
            <a:shade val="15000"/>
          </a:schemeClr>
        </a:lnRef>
        <a:fillRef idx="1">
          <a:schemeClr val="accent5"/>
        </a:fillRef>
        <a:effectRef idx="0">
          <a:schemeClr val="accent5"/>
        </a:effectRef>
        <a:fontRef idx="minor">
          <a:schemeClr val="lt1"/>
        </a:fontRef>
      </dsp:style>
      <dsp:txBody>
        <a:bodyPr spcFirstLastPara="0" vert="horz" wrap="square" lIns="48006" tIns="24003" rIns="12002" bIns="24003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900" b="1" kern="1200" dirty="0" err="1">
              <a:solidFill>
                <a:srgbClr val="000000"/>
              </a:solidFill>
              <a:latin typeface="Century Gothic" panose="020F0302020204030204"/>
              <a:ea typeface="+mn-ea"/>
              <a:cs typeface="+mn-cs"/>
            </a:rPr>
            <a:t>ProductAdded</a:t>
          </a:r>
          <a:endParaRPr lang="da-DK" sz="900" b="1" kern="1200" dirty="0">
            <a:solidFill>
              <a:srgbClr val="000000"/>
            </a:solidFill>
            <a:latin typeface="Century Gothic" panose="020F0302020204030204"/>
            <a:ea typeface="+mn-ea"/>
            <a:cs typeface="+mn-cs"/>
          </a:endParaRPr>
        </a:p>
      </dsp:txBody>
      <dsp:txXfrm>
        <a:off x="1020" y="1850054"/>
        <a:ext cx="1410297" cy="626798"/>
      </dsp:txXfrm>
    </dsp:sp>
    <dsp:sp modelId="{A94212DC-D182-D045-9F2B-1CB6C3CD6FB2}">
      <dsp:nvSpPr>
        <dsp:cNvPr id="0" name=""/>
        <dsp:cNvSpPr/>
      </dsp:nvSpPr>
      <dsp:spPr>
        <a:xfrm>
          <a:off x="1254617" y="1850054"/>
          <a:ext cx="1566996" cy="626798"/>
        </a:xfrm>
        <a:prstGeom prst="chevron">
          <a:avLst/>
        </a:prstGeom>
        <a:solidFill>
          <a:schemeClr val="accent5"/>
        </a:solidFill>
        <a:ln w="12700" cap="flat" cmpd="sng" algn="ctr">
          <a:solidFill>
            <a:schemeClr val="accent5">
              <a:shade val="1500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/>
      </dsp:spPr>
      <dsp:style>
        <a:lnRef idx="2">
          <a:schemeClr val="accent5">
            <a:shade val="15000"/>
          </a:schemeClr>
        </a:lnRef>
        <a:fillRef idx="1">
          <a:schemeClr val="accent5"/>
        </a:fillRef>
        <a:effectRef idx="0">
          <a:schemeClr val="accent5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900" b="1" kern="1200" dirty="0" err="1">
              <a:solidFill>
                <a:srgbClr val="000000"/>
              </a:solidFill>
              <a:latin typeface="Century Gothic" panose="020F0302020204030204"/>
              <a:ea typeface="+mn-ea"/>
              <a:cs typeface="+mn-cs"/>
            </a:rPr>
            <a:t>ProductPrice</a:t>
          </a:r>
          <a:br>
            <a:rPr lang="da-DK" sz="900" b="1" kern="1200" dirty="0">
              <a:solidFill>
                <a:srgbClr val="000000"/>
              </a:solidFill>
              <a:latin typeface="Century Gothic" panose="020F0302020204030204"/>
              <a:ea typeface="+mn-ea"/>
              <a:cs typeface="+mn-cs"/>
            </a:rPr>
          </a:br>
          <a:r>
            <a:rPr lang="da-DK" sz="900" b="1" kern="1200" dirty="0" err="1">
              <a:solidFill>
                <a:srgbClr val="000000"/>
              </a:solidFill>
              <a:latin typeface="Century Gothic" panose="020F0302020204030204"/>
              <a:ea typeface="+mn-ea"/>
              <a:cs typeface="+mn-cs"/>
            </a:rPr>
            <a:t>Changed</a:t>
          </a:r>
          <a:endParaRPr lang="da-DK" sz="900" b="1" kern="1200" dirty="0">
            <a:solidFill>
              <a:srgbClr val="000000"/>
            </a:solidFill>
            <a:latin typeface="Century Gothic" panose="020F0302020204030204"/>
            <a:ea typeface="+mn-ea"/>
            <a:cs typeface="+mn-cs"/>
          </a:endParaRPr>
        </a:p>
      </dsp:txBody>
      <dsp:txXfrm>
        <a:off x="1568016" y="1850054"/>
        <a:ext cx="940198" cy="626798"/>
      </dsp:txXfrm>
    </dsp:sp>
    <dsp:sp modelId="{E690494A-4C22-EC45-9A21-28C9D77FA8ED}">
      <dsp:nvSpPr>
        <dsp:cNvPr id="0" name=""/>
        <dsp:cNvSpPr/>
      </dsp:nvSpPr>
      <dsp:spPr>
        <a:xfrm>
          <a:off x="2508215" y="1850054"/>
          <a:ext cx="1566996" cy="626798"/>
        </a:xfrm>
        <a:prstGeom prst="chevron">
          <a:avLst/>
        </a:prstGeom>
        <a:solidFill>
          <a:schemeClr val="accent5"/>
        </a:solidFill>
        <a:ln w="12700" cap="flat" cmpd="sng" algn="ctr">
          <a:solidFill>
            <a:schemeClr val="accent5">
              <a:shade val="1500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/>
      </dsp:spPr>
      <dsp:style>
        <a:lnRef idx="2">
          <a:schemeClr val="accent5">
            <a:shade val="15000"/>
          </a:schemeClr>
        </a:lnRef>
        <a:fillRef idx="1">
          <a:schemeClr val="accent5"/>
        </a:fillRef>
        <a:effectRef idx="0">
          <a:schemeClr val="accent5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900" b="1" kern="1200" dirty="0" err="1">
              <a:solidFill>
                <a:srgbClr val="000000"/>
              </a:solidFill>
              <a:latin typeface="Century Gothic" panose="020F0302020204030204"/>
              <a:ea typeface="+mn-ea"/>
              <a:cs typeface="+mn-cs"/>
            </a:rPr>
            <a:t>ProductPrice</a:t>
          </a:r>
          <a:br>
            <a:rPr lang="da-DK" sz="900" b="1" kern="1200" dirty="0">
              <a:solidFill>
                <a:srgbClr val="000000"/>
              </a:solidFill>
              <a:latin typeface="Century Gothic" panose="020F0302020204030204"/>
              <a:ea typeface="+mn-ea"/>
              <a:cs typeface="+mn-cs"/>
            </a:rPr>
          </a:br>
          <a:r>
            <a:rPr lang="da-DK" sz="900" b="1" kern="1200" dirty="0" err="1">
              <a:solidFill>
                <a:srgbClr val="000000"/>
              </a:solidFill>
              <a:latin typeface="Century Gothic" panose="020F0302020204030204"/>
              <a:ea typeface="+mn-ea"/>
              <a:cs typeface="+mn-cs"/>
            </a:rPr>
            <a:t>Changed</a:t>
          </a:r>
          <a:endParaRPr lang="da-DK" sz="900" b="1" kern="1200" dirty="0">
            <a:solidFill>
              <a:srgbClr val="000000"/>
            </a:solidFill>
            <a:latin typeface="Century Gothic" panose="020F0302020204030204"/>
            <a:ea typeface="+mn-ea"/>
            <a:cs typeface="+mn-cs"/>
          </a:endParaRPr>
        </a:p>
      </dsp:txBody>
      <dsp:txXfrm>
        <a:off x="2821614" y="1850054"/>
        <a:ext cx="940198" cy="626798"/>
      </dsp:txXfrm>
    </dsp:sp>
    <dsp:sp modelId="{C725FFCC-B447-5047-838A-FF80F065E89F}">
      <dsp:nvSpPr>
        <dsp:cNvPr id="0" name=""/>
        <dsp:cNvSpPr/>
      </dsp:nvSpPr>
      <dsp:spPr>
        <a:xfrm>
          <a:off x="3761812" y="1850054"/>
          <a:ext cx="1773104" cy="626798"/>
        </a:xfrm>
        <a:prstGeom prst="chevron">
          <a:avLst/>
        </a:prstGeom>
        <a:solidFill>
          <a:schemeClr val="accent5"/>
        </a:solidFill>
        <a:ln w="12700" cap="flat" cmpd="sng" algn="ctr">
          <a:solidFill>
            <a:schemeClr val="accent5">
              <a:shade val="1500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/>
      </dsp:spPr>
      <dsp:style>
        <a:lnRef idx="2">
          <a:schemeClr val="accent5">
            <a:shade val="15000"/>
          </a:schemeClr>
        </a:lnRef>
        <a:fillRef idx="1">
          <a:schemeClr val="accent5"/>
        </a:fillRef>
        <a:effectRef idx="0">
          <a:schemeClr val="accent5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900" b="1" kern="1200" dirty="0" err="1">
              <a:solidFill>
                <a:srgbClr val="000000"/>
              </a:solidFill>
              <a:latin typeface="Century Gothic" panose="020F0302020204030204"/>
              <a:ea typeface="+mn-ea"/>
              <a:cs typeface="+mn-cs"/>
            </a:rPr>
            <a:t>ProductPrice</a:t>
          </a:r>
          <a:br>
            <a:rPr lang="da-DK" sz="900" b="1" kern="1200" dirty="0">
              <a:solidFill>
                <a:srgbClr val="000000"/>
              </a:solidFill>
              <a:latin typeface="Century Gothic" panose="020F0302020204030204"/>
              <a:ea typeface="+mn-ea"/>
              <a:cs typeface="+mn-cs"/>
            </a:rPr>
          </a:br>
          <a:r>
            <a:rPr lang="da-DK" sz="900" b="1" kern="1200" dirty="0" err="1">
              <a:solidFill>
                <a:srgbClr val="000000"/>
              </a:solidFill>
              <a:latin typeface="Century Gothic" panose="020F0302020204030204"/>
              <a:ea typeface="+mn-ea"/>
              <a:cs typeface="+mn-cs"/>
            </a:rPr>
            <a:t>Changed</a:t>
          </a:r>
          <a:endParaRPr lang="da-DK" sz="900" b="1" u="sng" kern="1200" dirty="0">
            <a:solidFill>
              <a:srgbClr val="000000"/>
            </a:solidFill>
            <a:latin typeface="Century Gothic" panose="020F0302020204030204"/>
            <a:ea typeface="+mn-ea"/>
            <a:cs typeface="+mn-cs"/>
          </a:endParaRPr>
        </a:p>
      </dsp:txBody>
      <dsp:txXfrm>
        <a:off x="4075211" y="1850054"/>
        <a:ext cx="1146306" cy="626798"/>
      </dsp:txXfrm>
    </dsp:sp>
    <dsp:sp modelId="{83BEC6D4-DF55-B042-8E5D-2BC8857E3BA9}">
      <dsp:nvSpPr>
        <dsp:cNvPr id="0" name=""/>
        <dsp:cNvSpPr/>
      </dsp:nvSpPr>
      <dsp:spPr>
        <a:xfrm>
          <a:off x="5221517" y="1850054"/>
          <a:ext cx="1566996" cy="626798"/>
        </a:xfrm>
        <a:prstGeom prst="chevron">
          <a:avLst/>
        </a:prstGeom>
        <a:solidFill>
          <a:schemeClr val="accent5"/>
        </a:solidFill>
        <a:ln w="12700" cap="flat" cmpd="sng" algn="ctr">
          <a:solidFill>
            <a:schemeClr val="accent5">
              <a:shade val="1500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/>
      </dsp:spPr>
      <dsp:style>
        <a:lnRef idx="2">
          <a:schemeClr val="accent5">
            <a:shade val="15000"/>
          </a:schemeClr>
        </a:lnRef>
        <a:fillRef idx="1">
          <a:schemeClr val="accent5"/>
        </a:fillRef>
        <a:effectRef idx="0">
          <a:schemeClr val="accent5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900" b="1" kern="1200" dirty="0" err="1">
              <a:solidFill>
                <a:srgbClr val="000000"/>
              </a:solidFill>
              <a:latin typeface="Century Gothic" panose="020F0302020204030204"/>
              <a:ea typeface="+mn-ea"/>
              <a:cs typeface="+mn-cs"/>
            </a:rPr>
            <a:t>ProductPrice</a:t>
          </a:r>
          <a:br>
            <a:rPr lang="da-DK" sz="900" b="1" kern="1200" dirty="0">
              <a:solidFill>
                <a:srgbClr val="000000"/>
              </a:solidFill>
              <a:latin typeface="Century Gothic" panose="020F0302020204030204"/>
              <a:ea typeface="+mn-ea"/>
              <a:cs typeface="+mn-cs"/>
            </a:rPr>
          </a:br>
          <a:r>
            <a:rPr lang="da-DK" sz="900" b="1" kern="1200" dirty="0" err="1">
              <a:solidFill>
                <a:srgbClr val="000000"/>
              </a:solidFill>
              <a:latin typeface="Century Gothic" panose="020F0302020204030204"/>
              <a:ea typeface="+mn-ea"/>
              <a:cs typeface="+mn-cs"/>
            </a:rPr>
            <a:t>Changed</a:t>
          </a:r>
          <a:endParaRPr lang="da-DK" sz="900" b="1" kern="1200" dirty="0">
            <a:solidFill>
              <a:srgbClr val="000000"/>
            </a:solidFill>
            <a:latin typeface="Century Gothic" panose="020F0302020204030204"/>
            <a:ea typeface="+mn-ea"/>
            <a:cs typeface="+mn-cs"/>
          </a:endParaRPr>
        </a:p>
      </dsp:txBody>
      <dsp:txXfrm>
        <a:off x="5534916" y="1850054"/>
        <a:ext cx="940198" cy="626798"/>
      </dsp:txXfrm>
    </dsp:sp>
    <dsp:sp modelId="{405E3148-2D97-4548-836C-D9414EE80E96}">
      <dsp:nvSpPr>
        <dsp:cNvPr id="0" name=""/>
        <dsp:cNvSpPr/>
      </dsp:nvSpPr>
      <dsp:spPr>
        <a:xfrm>
          <a:off x="6475114" y="1850054"/>
          <a:ext cx="1566996" cy="626798"/>
        </a:xfrm>
        <a:prstGeom prst="chevron">
          <a:avLst/>
        </a:prstGeom>
        <a:solidFill>
          <a:schemeClr val="accent5"/>
        </a:solidFill>
        <a:ln w="12700" cap="flat" cmpd="sng" algn="ctr">
          <a:solidFill>
            <a:schemeClr val="accent5">
              <a:shade val="1500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/>
      </dsp:spPr>
      <dsp:style>
        <a:lnRef idx="2">
          <a:schemeClr val="accent5">
            <a:shade val="15000"/>
          </a:schemeClr>
        </a:lnRef>
        <a:fillRef idx="1">
          <a:schemeClr val="accent5"/>
        </a:fillRef>
        <a:effectRef idx="0">
          <a:schemeClr val="accent5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900" b="1" kern="1200" dirty="0" err="1">
              <a:solidFill>
                <a:srgbClr val="000000"/>
              </a:solidFill>
              <a:latin typeface="Century Gothic" panose="020F0302020204030204"/>
              <a:ea typeface="+mn-ea"/>
              <a:cs typeface="+mn-cs"/>
            </a:rPr>
            <a:t>ProductPrice</a:t>
          </a:r>
          <a:br>
            <a:rPr lang="da-DK" sz="900" b="1" kern="1200" dirty="0">
              <a:solidFill>
                <a:srgbClr val="000000"/>
              </a:solidFill>
              <a:latin typeface="Century Gothic" panose="020F0302020204030204"/>
              <a:ea typeface="+mn-ea"/>
              <a:cs typeface="+mn-cs"/>
            </a:rPr>
          </a:br>
          <a:r>
            <a:rPr lang="da-DK" sz="900" b="1" kern="1200" dirty="0" err="1">
              <a:solidFill>
                <a:srgbClr val="000000"/>
              </a:solidFill>
              <a:latin typeface="Century Gothic" panose="020F0302020204030204"/>
              <a:ea typeface="+mn-ea"/>
              <a:cs typeface="+mn-cs"/>
            </a:rPr>
            <a:t>Changed</a:t>
          </a:r>
          <a:endParaRPr lang="da-DK" sz="900" b="1" kern="1200" dirty="0">
            <a:solidFill>
              <a:srgbClr val="000000"/>
            </a:solidFill>
            <a:latin typeface="Century Gothic" panose="020F0302020204030204"/>
            <a:ea typeface="+mn-ea"/>
            <a:cs typeface="+mn-cs"/>
          </a:endParaRPr>
        </a:p>
      </dsp:txBody>
      <dsp:txXfrm>
        <a:off x="6788513" y="1850054"/>
        <a:ext cx="940198" cy="6267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6CA915-431A-1742-8A02-5329A0258D9E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C8B045-CE7C-DB4B-9050-F8A4FE91701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293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C8B045-CE7C-DB4B-9050-F8A4FE91701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6383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69660-4F06-0354-8371-2197F85AA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6F63E7-307F-00C4-4B8E-8EBC443707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EE7B97-101E-CE78-08A6-5597314515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7785D4-7828-A5D8-C9E9-5C6808CC80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C8B045-CE7C-DB4B-9050-F8A4FE91701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6350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C8B045-CE7C-DB4B-9050-F8A4FE917016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2582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6F4CA-5DC0-5311-30B8-88D0F68D4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9CA7A1-8F59-7EB8-5D3B-A553F44D52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0C15BE-C9C8-C65B-4D9A-6835D3E83F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sz="1600"/>
              <a:t>Are </a:t>
            </a:r>
            <a:r>
              <a:rPr lang="da-DK" sz="1600" err="1"/>
              <a:t>you</a:t>
            </a:r>
            <a:r>
              <a:rPr lang="da-DK" sz="1600"/>
              <a:t> open to new </a:t>
            </a:r>
            <a:r>
              <a:rPr lang="da-DK" sz="1600" err="1"/>
              <a:t>ideas</a:t>
            </a:r>
            <a:r>
              <a:rPr lang="da-DK" sz="1600"/>
              <a:t>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AC7B49-DE8A-FA31-BEB1-71591F0F13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B597BF-173A-5146-9448-A9BED1DF077B}" type="slidenum">
              <a:rPr lang="da-DK" smtClean="0"/>
              <a:t>41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997513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02E7D-5EF0-3E12-46C9-434C36617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FE3243-73F9-C17F-183C-565771B1B2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6C683B-A9BB-44FC-7373-20B0CFDCB8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   </a:t>
            </a:r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A0CA52-581C-B5AC-53DD-536DFD45A2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C8B045-CE7C-DB4B-9050-F8A4FE917016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7109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193A8-7340-33FA-A272-6282046C5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59E3CF-9AE3-89B8-07D5-26618F9793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A51215-A717-DB2A-C781-307A3DCC02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EDB762-2ED2-0F08-BD96-BD1CA8CAFA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C8B045-CE7C-DB4B-9050-F8A4FE917016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2573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0DE20-01B2-A503-D675-AAA5ABBDA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5F6872-46DB-E154-0C83-BE81F3153C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BA2428-5884-3B03-32BD-A922EF9BC4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D362FA-0363-583B-9066-4FD19D66E5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C8B045-CE7C-DB4B-9050-F8A4FE917016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7341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DFAA6-2D72-D259-C8DF-A235FDE1D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3E01AC-838D-3040-2795-3D7E54DC0A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93D3A8-96F7-6897-25FB-3F550F82A3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14DB3D-6438-A69C-7D84-4C005297B8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C8B045-CE7C-DB4B-9050-F8A4FE917016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6744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A3126-FCBA-EB88-27A2-641D4C612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B1DAD4-D827-15F9-30A8-F22F1C6BB0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527752-DDB6-E936-A2C9-D8EF2A391E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8B888-565B-8678-7FA3-96A50536EC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C8B045-CE7C-DB4B-9050-F8A4FE917016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8212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F7A4F-5FD7-E6BC-D779-DBE90B67C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075149-97C1-6D86-9F04-0DF8930AA6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52C0E7-164F-8CD8-786D-3D04FCDBFC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46C3F4-423B-16F5-D066-3D480DE2EC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C8B045-CE7C-DB4B-9050-F8A4FE917016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843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D2221-BC61-0FC5-8677-D548FA5DE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A27794-43FF-9FB1-94D0-6C267457DA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35FBAD-5ACB-E2C8-10FF-BFEF5DD9F5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109BB-B8A0-9374-77F7-42D5749A30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C8B045-CE7C-DB4B-9050-F8A4FE917016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0790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F0F55-7D4B-8278-14B1-5CE886A8A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173536-7418-7F05-3D7A-D3D73DB5CC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3FED1E-DFBF-D01A-4159-CD3FA89561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0DD064-6816-92F1-66C6-49C9930B36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C8B045-CE7C-DB4B-9050-F8A4FE917016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3525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B27C3-4AFB-7A02-82B3-2BA76C036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1802DC-9CEB-A372-BC48-3827B7F204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59819F-16D1-70B4-6A6B-439D6FC247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533FA0-0530-C852-6FD5-172F676861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C8B045-CE7C-DB4B-9050-F8A4FE917016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1591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36FD7-A421-0CA6-A66F-A737828A2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00DBE4-8C08-515F-D9C7-5959A1FC8C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135D44-4047-E393-1FC5-DF8BF4B8D8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F82C1A-5653-0F49-CCB5-A9956D310B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C8B045-CE7C-DB4B-9050-F8A4FE917016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2992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C8B045-CE7C-DB4B-9050-F8A4FE917016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1984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00CD5-27F1-1CE7-FCDA-A33972EDA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30276B-2720-48E2-36D9-D32797CE13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DE3D73-22BD-FC46-675A-2272A5F659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E4FB2C-F414-4B09-A2DA-A57A23DC35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C8B045-CE7C-DB4B-9050-F8A4FE917016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452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err="1"/>
              <a:t>Why</a:t>
            </a:r>
            <a:r>
              <a:rPr lang="da-DK"/>
              <a:t> is </a:t>
            </a:r>
            <a:r>
              <a:rPr lang="da-DK" err="1"/>
              <a:t>this</a:t>
            </a:r>
            <a:r>
              <a:rPr lang="da-DK"/>
              <a:t> the </a:t>
            </a:r>
            <a:r>
              <a:rPr lang="da-DK" err="1"/>
              <a:t>best</a:t>
            </a:r>
            <a:r>
              <a:rPr lang="da-DK"/>
              <a:t> </a:t>
            </a:r>
            <a:r>
              <a:rPr lang="da-DK" err="1"/>
              <a:t>we</a:t>
            </a:r>
            <a:r>
              <a:rPr lang="da-DK"/>
              <a:t> </a:t>
            </a:r>
            <a:r>
              <a:rPr lang="da-DK" err="1"/>
              <a:t>can</a:t>
            </a:r>
            <a:r>
              <a:rPr lang="da-DK"/>
              <a:t> offer – </a:t>
            </a:r>
            <a:r>
              <a:rPr lang="da-DK" err="1"/>
              <a:t>Why</a:t>
            </a:r>
            <a:r>
              <a:rPr lang="da-DK"/>
              <a:t> </a:t>
            </a:r>
            <a:r>
              <a:rPr lang="da-DK" err="1"/>
              <a:t>should</a:t>
            </a:r>
            <a:r>
              <a:rPr lang="da-DK"/>
              <a:t> the</a:t>
            </a:r>
            <a:r>
              <a:rPr lang="da-DK" baseline="0"/>
              <a:t> </a:t>
            </a:r>
            <a:r>
              <a:rPr lang="da-DK" baseline="0" err="1"/>
              <a:t>user</a:t>
            </a:r>
            <a:r>
              <a:rPr lang="da-DK" baseline="0"/>
              <a:t> </a:t>
            </a:r>
            <a:r>
              <a:rPr lang="da-DK" baseline="0" err="1"/>
              <a:t>be</a:t>
            </a:r>
            <a:r>
              <a:rPr lang="da-DK" baseline="0"/>
              <a:t> </a:t>
            </a:r>
            <a:r>
              <a:rPr lang="da-DK" baseline="0" err="1"/>
              <a:t>interrupted</a:t>
            </a:r>
            <a:r>
              <a:rPr lang="da-DK" baseline="0"/>
              <a:t> by a </a:t>
            </a:r>
            <a:r>
              <a:rPr lang="da-DK" baseline="0" err="1"/>
              <a:t>technical</a:t>
            </a:r>
            <a:r>
              <a:rPr lang="da-DK" baseline="0"/>
              <a:t> </a:t>
            </a:r>
            <a:r>
              <a:rPr lang="da-DK" baseline="0" err="1"/>
              <a:t>constraint</a:t>
            </a:r>
            <a:r>
              <a:rPr lang="da-DK" baseline="0"/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6DC027-8178-134F-A35C-9221C0677557}" type="slidenum">
              <a:rPr lang="da-DK" smtClean="0"/>
              <a:t>55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335093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577E5-7F70-1E76-8541-F77957B03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FDB420-6656-FA76-39FC-410BDAA8E2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481CD9-F03D-EE16-44EB-A45BDAB8E5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BAB93B-D3DF-6AC2-3018-CCEF7A0545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C8B045-CE7C-DB4B-9050-F8A4FE917016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0122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02795-355F-7000-28D2-0DB254F7B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02F185-8615-E9A5-DD4B-96F2EE86E6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F8E197-AC2B-99A1-1158-F240ADFE40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C506FC-0A07-BE6E-B65C-40D5CD291E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C8B045-CE7C-DB4B-9050-F8A4FE917016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9408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3783F-8DD2-CAC8-F5B2-EB535CDE9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EE092C-49FA-A94A-75F7-04BA0B21EA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82310A-3433-575A-861F-FB78C41E22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C5F8A1-3D7D-8276-F313-5C78E0D61E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82AECD-6034-B74B-8B35-8639BA0E0677}" type="slidenum">
              <a:rPr lang="da-DK" smtClean="0"/>
              <a:t>58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680478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24088-E4FA-2157-9BC8-0B953378C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4AB3AC-0F5C-1ED8-995F-9744CB554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CA2A20-DF88-1901-6BCD-1114434262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640936-B11A-B576-AE33-4C5DBFD054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C8B045-CE7C-DB4B-9050-F8A4FE917016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484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7C91C-9940-CAE0-B1CA-98569BC9C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E7F8EA-9297-FF53-29F4-B29FAA61C6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E5B6E8-1A38-CF12-205D-A21EE41B3B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A6FD49-5F04-8D4A-0B25-510A54BA99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C8B045-CE7C-DB4B-9050-F8A4FE917016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20199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F875EE-9963-2041-A20C-40E8FAA27779}" type="slidenum">
              <a:rPr lang="da-DK" smtClean="0"/>
              <a:t>66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2476180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C5F38-BA9C-8778-A9C0-BA6637DCF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7D0CC4-380E-FAE5-F375-7A9B5FB152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080AA2-E6BE-C7F3-A751-4B5DDAF426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62A064-3239-F91A-92F4-E7BE9C7730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F875EE-9963-2041-A20C-40E8FAA27779}" type="slidenum">
              <a:rPr lang="da-DK" smtClean="0"/>
              <a:t>67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964396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5082E-E1FF-B117-008E-2919A7591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9637BC-8CEA-0995-0374-C9AFC1BFC7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6676C6-62AA-AD2C-AE28-986015B9D7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1C2D16-D5D8-D0B1-38AD-C669C26EC9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F875EE-9963-2041-A20C-40E8FAA27779}" type="slidenum">
              <a:rPr lang="da-DK" smtClean="0"/>
              <a:t>68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3341888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4EAE2-6384-30F0-4C91-0FFDE4EB7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1D3DCD-25F1-B763-59AC-CD6867256E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302863-FB0B-9A0E-95A0-3FCD4209D2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9A36FE-3BB7-EF8D-0249-9CB6DDE546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F875EE-9963-2041-A20C-40E8FAA27779}" type="slidenum">
              <a:rPr lang="da-DK" smtClean="0"/>
              <a:t>69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8552688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C0A9D-9D97-0B8F-B8F9-3A29EDBA3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DC2B2F-CA9E-79AB-05AA-96BB479E08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309CD2-7C68-552B-450B-11DBCE8D62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A8505E-E972-DEE8-B4B3-2DA2FE28DB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F875EE-9963-2041-A20C-40E8FAA27779}" type="slidenum">
              <a:rPr lang="da-DK" smtClean="0"/>
              <a:t>70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3534378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CCB51-B42E-C132-08D5-24715B2FC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1C8B6F-5402-4115-8760-F3DA767DAA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ADF37E-007C-14A2-895C-E8E2F4E9FD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BF556-3B26-AF25-C228-0AE7601B4C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F875EE-9963-2041-A20C-40E8FAA27779}" type="slidenum">
              <a:rPr lang="da-DK" smtClean="0"/>
              <a:t>71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316103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F875EE-9963-2041-A20C-40E8FAA27779}" type="slidenum">
              <a:rPr lang="da-DK" smtClean="0"/>
              <a:t>72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2965655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5AE9A-2475-EB31-4FE4-6F59078C0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F0D494-F4CA-B767-1C75-3735B578BC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04A792-6DD7-3367-20D1-787C2B801C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A085BE-CB72-ED46-F6DE-B5BC8ED38B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C8B045-CE7C-DB4B-9050-F8A4FE917016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41642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98B31-1617-5783-83AE-12A3DA0B9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34D674-7BA7-C462-1B35-4CD6A8E97C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6FC2CA-BE24-9290-1419-678E58623A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949518-11D2-00CF-CA7D-C5B0900E6A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C8B045-CE7C-DB4B-9050-F8A4FE917016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717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7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9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æsentationsslide_1">
    <p:bg>
      <p:bgPr>
        <a:solidFill>
          <a:srgbClr val="E3DD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 descr="Et billede, der indeholder nattehimmel&#10;&#10;Automatisk genereret beskrivelse">
            <a:extLst>
              <a:ext uri="{FF2B5EF4-FFF2-40B4-BE49-F238E27FC236}">
                <a16:creationId xmlns:a16="http://schemas.microsoft.com/office/drawing/2014/main" id="{281F8876-82D2-5BFC-A6EE-FAD702F7A1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0"/>
          </a:blip>
          <a:srcRect t="22213" r="18390" b="37175"/>
          <a:stretch/>
        </p:blipFill>
        <p:spPr>
          <a:xfrm>
            <a:off x="2461895" y="0"/>
            <a:ext cx="973836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F73290F-708A-F8AD-32E9-2CEDB982EC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909824"/>
            <a:ext cx="9144000" cy="103835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Titel på præsentation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37B71491-F897-F318-336C-100DB75FB7B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948176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Evt. underoverskrift til din præsentation</a:t>
            </a:r>
          </a:p>
        </p:txBody>
      </p:sp>
      <p:cxnSp>
        <p:nvCxnSpPr>
          <p:cNvPr id="5" name="Lige forbindelse 4">
            <a:extLst>
              <a:ext uri="{FF2B5EF4-FFF2-40B4-BE49-F238E27FC236}">
                <a16:creationId xmlns:a16="http://schemas.microsoft.com/office/drawing/2014/main" id="{73D7124C-4BB6-72A0-C520-8630DED7BDC3}"/>
              </a:ext>
            </a:extLst>
          </p:cNvPr>
          <p:cNvCxnSpPr>
            <a:cxnSpLocks/>
          </p:cNvCxnSpPr>
          <p:nvPr userDrawn="1"/>
        </p:nvCxnSpPr>
        <p:spPr>
          <a:xfrm>
            <a:off x="2563207" y="3795776"/>
            <a:ext cx="7065586" cy="11132"/>
          </a:xfrm>
          <a:prstGeom prst="line">
            <a:avLst/>
          </a:prstGeom>
          <a:ln w="57150">
            <a:solidFill>
              <a:srgbClr val="FF7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Billede 7">
            <a:extLst>
              <a:ext uri="{FF2B5EF4-FFF2-40B4-BE49-F238E27FC236}">
                <a16:creationId xmlns:a16="http://schemas.microsoft.com/office/drawing/2014/main" id="{79AB2E32-A377-0613-B9F0-00A4D492115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14205" y="6355506"/>
            <a:ext cx="350796" cy="370937"/>
          </a:xfrm>
          <a:prstGeom prst="rect">
            <a:avLst/>
          </a:prstGeom>
        </p:spPr>
      </p:pic>
      <p:sp>
        <p:nvSpPr>
          <p:cNvPr id="7" name="Pladsholder til indhold 6">
            <a:extLst>
              <a:ext uri="{FF2B5EF4-FFF2-40B4-BE49-F238E27FC236}">
                <a16:creationId xmlns:a16="http://schemas.microsoft.com/office/drawing/2014/main" id="{9ADE3E4D-1212-5AA3-2B82-3159404F751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0050083" y="226354"/>
            <a:ext cx="2322512" cy="293687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rgbClr val="FF7100"/>
                </a:solidFill>
              </a:defRPr>
            </a:lvl1pPr>
          </a:lstStyle>
          <a:p>
            <a:pPr lvl="0"/>
            <a:r>
              <a:rPr lang="da-DK"/>
              <a:t>Indsæt evt. dato</a:t>
            </a:r>
          </a:p>
        </p:txBody>
      </p:sp>
    </p:spTree>
    <p:extLst>
      <p:ext uri="{BB962C8B-B14F-4D97-AF65-F5344CB8AC3E}">
        <p14:creationId xmlns:p14="http://schemas.microsoft.com/office/powerpoint/2010/main" val="2320170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æsentationsslide_2">
    <p:bg>
      <p:bgPr>
        <a:solidFill>
          <a:srgbClr val="4559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lede 7">
            <a:extLst>
              <a:ext uri="{FF2B5EF4-FFF2-40B4-BE49-F238E27FC236}">
                <a16:creationId xmlns:a16="http://schemas.microsoft.com/office/drawing/2014/main" id="{7037A58C-B0CD-8807-885A-92F68DA1F98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76500" y="-4787197"/>
            <a:ext cx="14973300" cy="2118910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F73290F-708A-F8AD-32E9-2CEDB982EC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909824"/>
            <a:ext cx="9144000" cy="1038352"/>
          </a:xfrm>
        </p:spPr>
        <p:txBody>
          <a:bodyPr anchor="b"/>
          <a:lstStyle>
            <a:lvl1pPr algn="ctr">
              <a:defRPr sz="6000">
                <a:solidFill>
                  <a:srgbClr val="E3DDD5"/>
                </a:solidFill>
              </a:defRPr>
            </a:lvl1pPr>
          </a:lstStyle>
          <a:p>
            <a:r>
              <a:rPr lang="da-DK"/>
              <a:t>Titel på præsentation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37B71491-F897-F318-336C-100DB75FB7B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948176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E3DDD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Evt. underoverskrift til din præsentation</a:t>
            </a:r>
          </a:p>
        </p:txBody>
      </p:sp>
      <p:cxnSp>
        <p:nvCxnSpPr>
          <p:cNvPr id="5" name="Lige forbindelse 4">
            <a:extLst>
              <a:ext uri="{FF2B5EF4-FFF2-40B4-BE49-F238E27FC236}">
                <a16:creationId xmlns:a16="http://schemas.microsoft.com/office/drawing/2014/main" id="{73D7124C-4BB6-72A0-C520-8630DED7BDC3}"/>
              </a:ext>
            </a:extLst>
          </p:cNvPr>
          <p:cNvCxnSpPr>
            <a:cxnSpLocks/>
          </p:cNvCxnSpPr>
          <p:nvPr userDrawn="1"/>
        </p:nvCxnSpPr>
        <p:spPr>
          <a:xfrm>
            <a:off x="2563207" y="3795776"/>
            <a:ext cx="7065586" cy="11132"/>
          </a:xfrm>
          <a:prstGeom prst="line">
            <a:avLst/>
          </a:prstGeom>
          <a:ln w="57150">
            <a:solidFill>
              <a:srgbClr val="FF7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Billede 5">
            <a:extLst>
              <a:ext uri="{FF2B5EF4-FFF2-40B4-BE49-F238E27FC236}">
                <a16:creationId xmlns:a16="http://schemas.microsoft.com/office/drawing/2014/main" id="{8CB3F3CE-546D-4F1E-27EE-A1EA70FF5C4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13356" y="6352924"/>
            <a:ext cx="350796" cy="370938"/>
          </a:xfrm>
          <a:prstGeom prst="rect">
            <a:avLst/>
          </a:prstGeom>
        </p:spPr>
      </p:pic>
      <p:sp>
        <p:nvSpPr>
          <p:cNvPr id="7" name="Pladsholder til indhold 6">
            <a:extLst>
              <a:ext uri="{FF2B5EF4-FFF2-40B4-BE49-F238E27FC236}">
                <a16:creationId xmlns:a16="http://schemas.microsoft.com/office/drawing/2014/main" id="{D7AE8D42-BACD-F6A8-5328-4A18C048464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0050083" y="226354"/>
            <a:ext cx="2322512" cy="293687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rgbClr val="FF7100"/>
                </a:solidFill>
              </a:defRPr>
            </a:lvl1pPr>
          </a:lstStyle>
          <a:p>
            <a:pPr lvl="0"/>
            <a:r>
              <a:rPr lang="da-DK"/>
              <a:t>Indsæt evt. dato</a:t>
            </a:r>
          </a:p>
        </p:txBody>
      </p:sp>
    </p:spTree>
    <p:extLst>
      <p:ext uri="{BB962C8B-B14F-4D97-AF65-F5344CB8AC3E}">
        <p14:creationId xmlns:p14="http://schemas.microsoft.com/office/powerpoint/2010/main" val="3813415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slide_1">
    <p:bg>
      <p:bgPr>
        <a:solidFill>
          <a:srgbClr val="E3DD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9CFC3DE9-BA54-35D4-C3ED-7AB4F82447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a-DK"/>
              <a:t>agenda</a:t>
            </a:r>
          </a:p>
        </p:txBody>
      </p:sp>
      <p:cxnSp>
        <p:nvCxnSpPr>
          <p:cNvPr id="8" name="Lige forbindelse 7">
            <a:extLst>
              <a:ext uri="{FF2B5EF4-FFF2-40B4-BE49-F238E27FC236}">
                <a16:creationId xmlns:a16="http://schemas.microsoft.com/office/drawing/2014/main" id="{63DF95DB-B196-7929-8642-4E49DCFEBF7D}"/>
              </a:ext>
            </a:extLst>
          </p:cNvPr>
          <p:cNvCxnSpPr/>
          <p:nvPr userDrawn="1"/>
        </p:nvCxnSpPr>
        <p:spPr>
          <a:xfrm>
            <a:off x="912836" y="1347768"/>
            <a:ext cx="1968284" cy="0"/>
          </a:xfrm>
          <a:prstGeom prst="line">
            <a:avLst/>
          </a:prstGeom>
          <a:ln w="57150">
            <a:solidFill>
              <a:srgbClr val="FF7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Billede 1" descr="Et billede, der indeholder nattehimmel&#10;&#10;Automatisk genereret beskrivelse">
            <a:extLst>
              <a:ext uri="{FF2B5EF4-FFF2-40B4-BE49-F238E27FC236}">
                <a16:creationId xmlns:a16="http://schemas.microsoft.com/office/drawing/2014/main" id="{663ECF07-13DD-E845-1E1A-B1850B0924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0"/>
          </a:blip>
          <a:srcRect t="22213" r="18390" b="37175"/>
          <a:stretch/>
        </p:blipFill>
        <p:spPr>
          <a:xfrm>
            <a:off x="2453640" y="12701"/>
            <a:ext cx="9738360" cy="6858000"/>
          </a:xfrm>
          <a:prstGeom prst="rect">
            <a:avLst/>
          </a:prstGeom>
        </p:spPr>
      </p:pic>
      <p:pic>
        <p:nvPicPr>
          <p:cNvPr id="4" name="Billede 3">
            <a:extLst>
              <a:ext uri="{FF2B5EF4-FFF2-40B4-BE49-F238E27FC236}">
                <a16:creationId xmlns:a16="http://schemas.microsoft.com/office/drawing/2014/main" id="{788EEC95-17FE-6021-99CC-A54EDB05AC7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14205" y="6355506"/>
            <a:ext cx="350796" cy="370937"/>
          </a:xfrm>
          <a:prstGeom prst="rect">
            <a:avLst/>
          </a:prstGeom>
        </p:spPr>
      </p:pic>
      <p:sp>
        <p:nvSpPr>
          <p:cNvPr id="3" name="Rektangel 2">
            <a:extLst>
              <a:ext uri="{FF2B5EF4-FFF2-40B4-BE49-F238E27FC236}">
                <a16:creationId xmlns:a16="http://schemas.microsoft.com/office/drawing/2014/main" id="{22951347-09DC-0DD3-1E1A-E751DD65F944}"/>
              </a:ext>
            </a:extLst>
          </p:cNvPr>
          <p:cNvSpPr/>
          <p:nvPr userDrawn="1"/>
        </p:nvSpPr>
        <p:spPr>
          <a:xfrm>
            <a:off x="1891553" y="2366682"/>
            <a:ext cx="1963271" cy="2061883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85315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slide_2">
    <p:bg>
      <p:bgPr>
        <a:solidFill>
          <a:srgbClr val="4559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lede 7">
            <a:extLst>
              <a:ext uri="{FF2B5EF4-FFF2-40B4-BE49-F238E27FC236}">
                <a16:creationId xmlns:a16="http://schemas.microsoft.com/office/drawing/2014/main" id="{7037A58C-B0CD-8807-885A-92F68DA1F98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76500" y="-4787197"/>
            <a:ext cx="14973300" cy="21189109"/>
          </a:xfrm>
          <a:prstGeom prst="rect">
            <a:avLst/>
          </a:prstGeom>
        </p:spPr>
      </p:pic>
      <p:sp>
        <p:nvSpPr>
          <p:cNvPr id="4" name="Titel 1">
            <a:extLst>
              <a:ext uri="{FF2B5EF4-FFF2-40B4-BE49-F238E27FC236}">
                <a16:creationId xmlns:a16="http://schemas.microsoft.com/office/drawing/2014/main" id="{4230FCEB-BCEA-7600-784A-30E351A66E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>
                <a:solidFill>
                  <a:srgbClr val="E3DDD5"/>
                </a:solidFill>
              </a:defRPr>
            </a:lvl1pPr>
          </a:lstStyle>
          <a:p>
            <a:r>
              <a:rPr lang="da-DK"/>
              <a:t>agenda</a:t>
            </a:r>
          </a:p>
        </p:txBody>
      </p:sp>
      <p:cxnSp>
        <p:nvCxnSpPr>
          <p:cNvPr id="7" name="Lige forbindelse 6">
            <a:extLst>
              <a:ext uri="{FF2B5EF4-FFF2-40B4-BE49-F238E27FC236}">
                <a16:creationId xmlns:a16="http://schemas.microsoft.com/office/drawing/2014/main" id="{69609D1A-691A-8CFC-0E13-CC1C6B913275}"/>
              </a:ext>
            </a:extLst>
          </p:cNvPr>
          <p:cNvCxnSpPr/>
          <p:nvPr userDrawn="1"/>
        </p:nvCxnSpPr>
        <p:spPr>
          <a:xfrm>
            <a:off x="912836" y="1347768"/>
            <a:ext cx="1968284" cy="0"/>
          </a:xfrm>
          <a:prstGeom prst="line">
            <a:avLst/>
          </a:prstGeom>
          <a:ln w="57150">
            <a:solidFill>
              <a:srgbClr val="FF7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Billede 1">
            <a:extLst>
              <a:ext uri="{FF2B5EF4-FFF2-40B4-BE49-F238E27FC236}">
                <a16:creationId xmlns:a16="http://schemas.microsoft.com/office/drawing/2014/main" id="{29B852D8-2306-1C6C-7F81-CC9493994B1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13356" y="6352924"/>
            <a:ext cx="350796" cy="37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214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_1">
    <p:bg>
      <p:bgPr>
        <a:solidFill>
          <a:srgbClr val="E3DD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2E25F9-FD7E-6171-75C0-C8A5A43D9D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Titel på </a:t>
            </a:r>
            <a:r>
              <a:rPr lang="da-DK" err="1"/>
              <a:t>breaker</a:t>
            </a:r>
            <a:r>
              <a:rPr lang="da-DK"/>
              <a:t>-slide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A99A3B2B-AC49-DBA0-4A19-9654B480F1F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455976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Evt. </a:t>
            </a:r>
            <a:r>
              <a:rPr lang="da-DK" err="1"/>
              <a:t>undeRoverskrift</a:t>
            </a:r>
            <a:endParaRPr lang="da-DK"/>
          </a:p>
        </p:txBody>
      </p:sp>
      <p:cxnSp>
        <p:nvCxnSpPr>
          <p:cNvPr id="4" name="Lige forbindelse 3">
            <a:extLst>
              <a:ext uri="{FF2B5EF4-FFF2-40B4-BE49-F238E27FC236}">
                <a16:creationId xmlns:a16="http://schemas.microsoft.com/office/drawing/2014/main" id="{EBE8D305-FE97-8E52-D32D-A7845E5027CB}"/>
              </a:ext>
            </a:extLst>
          </p:cNvPr>
          <p:cNvCxnSpPr/>
          <p:nvPr userDrawn="1"/>
        </p:nvCxnSpPr>
        <p:spPr>
          <a:xfrm>
            <a:off x="945463" y="4462757"/>
            <a:ext cx="1968284" cy="0"/>
          </a:xfrm>
          <a:prstGeom prst="line">
            <a:avLst/>
          </a:prstGeom>
          <a:ln w="57150">
            <a:solidFill>
              <a:srgbClr val="FF7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Billede 4" descr="Et billede, der indeholder nattehimmel&#10;&#10;Automatisk genereret beskrivelse">
            <a:extLst>
              <a:ext uri="{FF2B5EF4-FFF2-40B4-BE49-F238E27FC236}">
                <a16:creationId xmlns:a16="http://schemas.microsoft.com/office/drawing/2014/main" id="{2FA9BF59-924B-5E07-036C-2B7341BD25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0"/>
          </a:blip>
          <a:srcRect t="22213" r="18390" b="37175"/>
          <a:stretch/>
        </p:blipFill>
        <p:spPr>
          <a:xfrm>
            <a:off x="2453640" y="1"/>
            <a:ext cx="9738360" cy="6858000"/>
          </a:xfrm>
          <a:prstGeom prst="rect">
            <a:avLst/>
          </a:prstGeom>
        </p:spPr>
      </p:pic>
      <p:pic>
        <p:nvPicPr>
          <p:cNvPr id="7" name="Billede 6">
            <a:extLst>
              <a:ext uri="{FF2B5EF4-FFF2-40B4-BE49-F238E27FC236}">
                <a16:creationId xmlns:a16="http://schemas.microsoft.com/office/drawing/2014/main" id="{26E41B40-A00D-CC09-3283-46BB1B12023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14205" y="6355506"/>
            <a:ext cx="350796" cy="370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438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_2">
    <p:bg>
      <p:bgPr>
        <a:solidFill>
          <a:srgbClr val="4559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lede 7">
            <a:extLst>
              <a:ext uri="{FF2B5EF4-FFF2-40B4-BE49-F238E27FC236}">
                <a16:creationId xmlns:a16="http://schemas.microsoft.com/office/drawing/2014/main" id="{2E6BF17B-2372-F0DF-FCF2-3123610076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76500" y="-4787197"/>
            <a:ext cx="14973300" cy="2118910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242E25F9-FD7E-6171-75C0-C8A5A43D9D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rgbClr val="E3DDD5"/>
                </a:solidFill>
              </a:defRPr>
            </a:lvl1pPr>
          </a:lstStyle>
          <a:p>
            <a:r>
              <a:rPr lang="da-DK"/>
              <a:t>Titel på </a:t>
            </a:r>
            <a:r>
              <a:rPr lang="da-DK" err="1"/>
              <a:t>breaker</a:t>
            </a:r>
            <a:r>
              <a:rPr lang="da-DK"/>
              <a:t>-slide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A99A3B2B-AC49-DBA0-4A19-9654B480F1F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E3DDD5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Evt. </a:t>
            </a:r>
            <a:r>
              <a:rPr lang="da-DK" err="1"/>
              <a:t>undeRoverskrift</a:t>
            </a:r>
            <a:endParaRPr lang="da-DK"/>
          </a:p>
        </p:txBody>
      </p:sp>
      <p:cxnSp>
        <p:nvCxnSpPr>
          <p:cNvPr id="4" name="Lige forbindelse 3">
            <a:extLst>
              <a:ext uri="{FF2B5EF4-FFF2-40B4-BE49-F238E27FC236}">
                <a16:creationId xmlns:a16="http://schemas.microsoft.com/office/drawing/2014/main" id="{EBE8D305-FE97-8E52-D32D-A7845E5027CB}"/>
              </a:ext>
            </a:extLst>
          </p:cNvPr>
          <p:cNvCxnSpPr/>
          <p:nvPr userDrawn="1"/>
        </p:nvCxnSpPr>
        <p:spPr>
          <a:xfrm>
            <a:off x="945463" y="4462757"/>
            <a:ext cx="1968284" cy="0"/>
          </a:xfrm>
          <a:prstGeom prst="line">
            <a:avLst/>
          </a:prstGeom>
          <a:ln w="57150">
            <a:solidFill>
              <a:srgbClr val="FF7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Billede 5">
            <a:extLst>
              <a:ext uri="{FF2B5EF4-FFF2-40B4-BE49-F238E27FC236}">
                <a16:creationId xmlns:a16="http://schemas.microsoft.com/office/drawing/2014/main" id="{D037BB52-AE10-F053-7587-C4B9E1D0523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13356" y="6352924"/>
            <a:ext cx="350796" cy="37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367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_3_surfer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lede 7" descr="Et billede, der indeholder vand, udendørs, sky, strand&#10;&#10;Automatisk genereret beskrivelse">
            <a:extLst>
              <a:ext uri="{FF2B5EF4-FFF2-40B4-BE49-F238E27FC236}">
                <a16:creationId xmlns:a16="http://schemas.microsoft.com/office/drawing/2014/main" id="{74BDDCF4-779A-BE99-3048-5B2AD6DB77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14711"/>
          <a:stretch/>
        </p:blipFill>
        <p:spPr>
          <a:xfrm>
            <a:off x="0" y="-74246"/>
            <a:ext cx="12192000" cy="693224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242E25F9-FD7E-6171-75C0-C8A5A43D9D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0061" y="956112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Titel på </a:t>
            </a:r>
            <a:r>
              <a:rPr lang="da-DK" err="1"/>
              <a:t>breaker</a:t>
            </a:r>
            <a:r>
              <a:rPr lang="da-DK"/>
              <a:t>-slide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A99A3B2B-AC49-DBA0-4A19-9654B480F1F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60061" y="3835837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E3DDD5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Evt. </a:t>
            </a:r>
            <a:r>
              <a:rPr lang="da-DK" err="1"/>
              <a:t>undeRoverskrift</a:t>
            </a:r>
            <a:endParaRPr lang="da-DK"/>
          </a:p>
        </p:txBody>
      </p:sp>
      <p:cxnSp>
        <p:nvCxnSpPr>
          <p:cNvPr id="4" name="Lige forbindelse 3">
            <a:extLst>
              <a:ext uri="{FF2B5EF4-FFF2-40B4-BE49-F238E27FC236}">
                <a16:creationId xmlns:a16="http://schemas.microsoft.com/office/drawing/2014/main" id="{EBE8D305-FE97-8E52-D32D-A7845E5027CB}"/>
              </a:ext>
            </a:extLst>
          </p:cNvPr>
          <p:cNvCxnSpPr>
            <a:cxnSpLocks/>
          </p:cNvCxnSpPr>
          <p:nvPr userDrawn="1"/>
        </p:nvCxnSpPr>
        <p:spPr>
          <a:xfrm>
            <a:off x="573674" y="3709131"/>
            <a:ext cx="1968284" cy="0"/>
          </a:xfrm>
          <a:prstGeom prst="line">
            <a:avLst/>
          </a:prstGeom>
          <a:ln w="57150">
            <a:solidFill>
              <a:srgbClr val="FF7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Billede 4">
            <a:extLst>
              <a:ext uri="{FF2B5EF4-FFF2-40B4-BE49-F238E27FC236}">
                <a16:creationId xmlns:a16="http://schemas.microsoft.com/office/drawing/2014/main" id="{2FE40B24-1886-3777-4CA2-1D06F8CEA6C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13356" y="6352924"/>
            <a:ext cx="350796" cy="37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239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skrift_1">
    <p:bg>
      <p:bgPr>
        <a:solidFill>
          <a:srgbClr val="E3DD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 descr="Et billede, der indeholder nattehimmel&#10;&#10;Automatisk genereret beskrivelse">
            <a:extLst>
              <a:ext uri="{FF2B5EF4-FFF2-40B4-BE49-F238E27FC236}">
                <a16:creationId xmlns:a16="http://schemas.microsoft.com/office/drawing/2014/main" id="{1AB010B7-86C5-5744-1DEF-1E8C6E361D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0"/>
          </a:blip>
          <a:srcRect t="22213" r="18390" b="37175"/>
          <a:stretch/>
        </p:blipFill>
        <p:spPr>
          <a:xfrm>
            <a:off x="2453640" y="1"/>
            <a:ext cx="9738360" cy="6858000"/>
          </a:xfrm>
          <a:prstGeom prst="rect">
            <a:avLst/>
          </a:prstGeom>
        </p:spPr>
      </p:pic>
      <p:sp>
        <p:nvSpPr>
          <p:cNvPr id="6" name="Pladsholder til tekst 5">
            <a:extLst>
              <a:ext uri="{FF2B5EF4-FFF2-40B4-BE49-F238E27FC236}">
                <a16:creationId xmlns:a16="http://schemas.microsoft.com/office/drawing/2014/main" id="{AA8B278D-FD50-BE94-9C68-A418A4A4397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4713" y="534988"/>
            <a:ext cx="9786937" cy="700425"/>
          </a:xfrm>
        </p:spPr>
        <p:txBody>
          <a:bodyPr>
            <a:normAutofit/>
          </a:bodyPr>
          <a:lstStyle>
            <a:lvl1pPr marL="0" indent="0">
              <a:buNone/>
              <a:defRPr sz="5000">
                <a:solidFill>
                  <a:srgbClr val="374A05"/>
                </a:solidFill>
              </a:defRPr>
            </a:lvl1pPr>
          </a:lstStyle>
          <a:p>
            <a:pPr lvl="0"/>
            <a:r>
              <a:rPr lang="da-DK"/>
              <a:t>Indsæt overskrift</a:t>
            </a:r>
          </a:p>
        </p:txBody>
      </p:sp>
      <p:cxnSp>
        <p:nvCxnSpPr>
          <p:cNvPr id="8" name="Lige forbindelse 7">
            <a:extLst>
              <a:ext uri="{FF2B5EF4-FFF2-40B4-BE49-F238E27FC236}">
                <a16:creationId xmlns:a16="http://schemas.microsoft.com/office/drawing/2014/main" id="{79353245-B59C-9376-06EE-FFBB54FB1C62}"/>
              </a:ext>
            </a:extLst>
          </p:cNvPr>
          <p:cNvCxnSpPr/>
          <p:nvPr userDrawn="1"/>
        </p:nvCxnSpPr>
        <p:spPr>
          <a:xfrm>
            <a:off x="994927" y="1235413"/>
            <a:ext cx="1968284" cy="0"/>
          </a:xfrm>
          <a:prstGeom prst="line">
            <a:avLst/>
          </a:prstGeom>
          <a:ln w="57150">
            <a:solidFill>
              <a:srgbClr val="FF7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Billede 1">
            <a:extLst>
              <a:ext uri="{FF2B5EF4-FFF2-40B4-BE49-F238E27FC236}">
                <a16:creationId xmlns:a16="http://schemas.microsoft.com/office/drawing/2014/main" id="{7513A8DA-BE9B-4F6D-BA53-F856529851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14205" y="6355506"/>
            <a:ext cx="350796" cy="370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866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skrift_2">
    <p:bg>
      <p:bgPr>
        <a:solidFill>
          <a:srgbClr val="4559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lede 7">
            <a:extLst>
              <a:ext uri="{FF2B5EF4-FFF2-40B4-BE49-F238E27FC236}">
                <a16:creationId xmlns:a16="http://schemas.microsoft.com/office/drawing/2014/main" id="{7037A58C-B0CD-8807-885A-92F68DA1F98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76500" y="-4787197"/>
            <a:ext cx="14973300" cy="21189109"/>
          </a:xfrm>
          <a:prstGeom prst="rect">
            <a:avLst/>
          </a:prstGeom>
        </p:spPr>
      </p:pic>
      <p:sp>
        <p:nvSpPr>
          <p:cNvPr id="2" name="Pladsholder til tekst 5">
            <a:extLst>
              <a:ext uri="{FF2B5EF4-FFF2-40B4-BE49-F238E27FC236}">
                <a16:creationId xmlns:a16="http://schemas.microsoft.com/office/drawing/2014/main" id="{B0E19F8F-7D61-E123-F5AC-78338B8C2F0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4713" y="534988"/>
            <a:ext cx="9786937" cy="700425"/>
          </a:xfrm>
        </p:spPr>
        <p:txBody>
          <a:bodyPr>
            <a:normAutofit/>
          </a:bodyPr>
          <a:lstStyle>
            <a:lvl1pPr marL="0" indent="0">
              <a:buNone/>
              <a:defRPr sz="5000">
                <a:solidFill>
                  <a:srgbClr val="E3DDD5"/>
                </a:solidFill>
              </a:defRPr>
            </a:lvl1pPr>
          </a:lstStyle>
          <a:p>
            <a:pPr lvl="0"/>
            <a:r>
              <a:rPr lang="da-DK"/>
              <a:t>Indsæt overskrift</a:t>
            </a:r>
          </a:p>
        </p:txBody>
      </p:sp>
      <p:pic>
        <p:nvPicPr>
          <p:cNvPr id="3" name="Billede 2">
            <a:extLst>
              <a:ext uri="{FF2B5EF4-FFF2-40B4-BE49-F238E27FC236}">
                <a16:creationId xmlns:a16="http://schemas.microsoft.com/office/drawing/2014/main" id="{470F6CBC-BE8B-BE97-8714-1D12F678A7B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13356" y="6352924"/>
            <a:ext cx="350796" cy="370938"/>
          </a:xfrm>
          <a:prstGeom prst="rect">
            <a:avLst/>
          </a:prstGeom>
        </p:spPr>
      </p:pic>
      <p:cxnSp>
        <p:nvCxnSpPr>
          <p:cNvPr id="4" name="Lige forbindelse 3">
            <a:extLst>
              <a:ext uri="{FF2B5EF4-FFF2-40B4-BE49-F238E27FC236}">
                <a16:creationId xmlns:a16="http://schemas.microsoft.com/office/drawing/2014/main" id="{74C7460C-80BD-0F39-A952-9926153495A1}"/>
              </a:ext>
            </a:extLst>
          </p:cNvPr>
          <p:cNvCxnSpPr/>
          <p:nvPr userDrawn="1"/>
        </p:nvCxnSpPr>
        <p:spPr>
          <a:xfrm>
            <a:off x="994927" y="1235413"/>
            <a:ext cx="1968284" cy="0"/>
          </a:xfrm>
          <a:prstGeom prst="line">
            <a:avLst/>
          </a:prstGeom>
          <a:ln w="57150">
            <a:solidFill>
              <a:srgbClr val="FF7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6426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skrift + underoverskrift_1">
    <p:bg>
      <p:bgPr>
        <a:solidFill>
          <a:srgbClr val="E3DD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0342A98-55DA-6D69-0B07-0AB52860524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74713" y="1442455"/>
            <a:ext cx="10515600" cy="42061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a-DK"/>
              <a:t>underoverskrift</a:t>
            </a:r>
          </a:p>
        </p:txBody>
      </p:sp>
      <p:pic>
        <p:nvPicPr>
          <p:cNvPr id="5" name="Billede 4" descr="Et billede, der indeholder nattehimmel&#10;&#10;Automatisk genereret beskrivelse">
            <a:extLst>
              <a:ext uri="{FF2B5EF4-FFF2-40B4-BE49-F238E27FC236}">
                <a16:creationId xmlns:a16="http://schemas.microsoft.com/office/drawing/2014/main" id="{CC5ED916-4F0B-9154-B18D-9B3F2FA482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0"/>
          </a:blip>
          <a:srcRect t="22213" r="18390" b="37175"/>
          <a:stretch/>
        </p:blipFill>
        <p:spPr>
          <a:xfrm>
            <a:off x="2453640" y="1"/>
            <a:ext cx="9738360" cy="6858000"/>
          </a:xfrm>
          <a:prstGeom prst="rect">
            <a:avLst/>
          </a:prstGeom>
        </p:spPr>
      </p:pic>
      <p:pic>
        <p:nvPicPr>
          <p:cNvPr id="7" name="Billede 6">
            <a:extLst>
              <a:ext uri="{FF2B5EF4-FFF2-40B4-BE49-F238E27FC236}">
                <a16:creationId xmlns:a16="http://schemas.microsoft.com/office/drawing/2014/main" id="{56D87D89-D9A7-A8AA-F601-55A6F16E67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14205" y="6355506"/>
            <a:ext cx="350796" cy="370937"/>
          </a:xfrm>
          <a:prstGeom prst="rect">
            <a:avLst/>
          </a:prstGeom>
        </p:spPr>
      </p:pic>
      <p:sp>
        <p:nvSpPr>
          <p:cNvPr id="9" name="Pladsholder til indhold 3">
            <a:extLst>
              <a:ext uri="{FF2B5EF4-FFF2-40B4-BE49-F238E27FC236}">
                <a16:creationId xmlns:a16="http://schemas.microsoft.com/office/drawing/2014/main" id="{2727A823-FC43-8F19-4DBA-7B2B7A49E99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74713" y="1873247"/>
            <a:ext cx="5157787" cy="3684588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a-DK"/>
              <a:t>Evt. punkter</a:t>
            </a:r>
          </a:p>
        </p:txBody>
      </p:sp>
      <p:sp>
        <p:nvSpPr>
          <p:cNvPr id="10" name="Pladsholder til tekst 5">
            <a:extLst>
              <a:ext uri="{FF2B5EF4-FFF2-40B4-BE49-F238E27FC236}">
                <a16:creationId xmlns:a16="http://schemas.microsoft.com/office/drawing/2014/main" id="{430CCEC3-5535-0D2C-424C-C2F8E16DB4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4713" y="534988"/>
            <a:ext cx="9786937" cy="700425"/>
          </a:xfrm>
        </p:spPr>
        <p:txBody>
          <a:bodyPr>
            <a:normAutofit/>
          </a:bodyPr>
          <a:lstStyle>
            <a:lvl1pPr marL="0" indent="0">
              <a:buNone/>
              <a:defRPr sz="5000">
                <a:solidFill>
                  <a:srgbClr val="374A05"/>
                </a:solidFill>
              </a:defRPr>
            </a:lvl1pPr>
          </a:lstStyle>
          <a:p>
            <a:pPr lvl="0"/>
            <a:r>
              <a:rPr lang="da-DK"/>
              <a:t>Indsæt overskrift</a:t>
            </a:r>
          </a:p>
        </p:txBody>
      </p:sp>
      <p:cxnSp>
        <p:nvCxnSpPr>
          <p:cNvPr id="11" name="Lige forbindelse 10">
            <a:extLst>
              <a:ext uri="{FF2B5EF4-FFF2-40B4-BE49-F238E27FC236}">
                <a16:creationId xmlns:a16="http://schemas.microsoft.com/office/drawing/2014/main" id="{B9E90D8F-5600-CF7F-C822-63CF9A81FB11}"/>
              </a:ext>
            </a:extLst>
          </p:cNvPr>
          <p:cNvCxnSpPr/>
          <p:nvPr userDrawn="1"/>
        </p:nvCxnSpPr>
        <p:spPr>
          <a:xfrm>
            <a:off x="994927" y="1235413"/>
            <a:ext cx="1968284" cy="0"/>
          </a:xfrm>
          <a:prstGeom prst="line">
            <a:avLst/>
          </a:prstGeom>
          <a:ln w="57150">
            <a:solidFill>
              <a:srgbClr val="FF7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2936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skrift + underoverskrift_2">
    <p:bg>
      <p:bgPr>
        <a:solidFill>
          <a:srgbClr val="4559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lede 7">
            <a:extLst>
              <a:ext uri="{FF2B5EF4-FFF2-40B4-BE49-F238E27FC236}">
                <a16:creationId xmlns:a16="http://schemas.microsoft.com/office/drawing/2014/main" id="{7037A58C-B0CD-8807-885A-92F68DA1F98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76500" y="-4787197"/>
            <a:ext cx="14973300" cy="21189109"/>
          </a:xfrm>
          <a:prstGeom prst="rect">
            <a:avLst/>
          </a:prstGeom>
        </p:spPr>
      </p:pic>
      <p:pic>
        <p:nvPicPr>
          <p:cNvPr id="2" name="Billede 1">
            <a:extLst>
              <a:ext uri="{FF2B5EF4-FFF2-40B4-BE49-F238E27FC236}">
                <a16:creationId xmlns:a16="http://schemas.microsoft.com/office/drawing/2014/main" id="{7440B68F-8B98-D33B-7D16-055DB5733C2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13356" y="6352924"/>
            <a:ext cx="350796" cy="370938"/>
          </a:xfrm>
          <a:prstGeom prst="rect">
            <a:avLst/>
          </a:prstGeom>
        </p:spPr>
      </p:pic>
      <p:sp>
        <p:nvSpPr>
          <p:cNvPr id="4" name="Pladsholder til tekst 5">
            <a:extLst>
              <a:ext uri="{FF2B5EF4-FFF2-40B4-BE49-F238E27FC236}">
                <a16:creationId xmlns:a16="http://schemas.microsoft.com/office/drawing/2014/main" id="{1AD873FD-AC3A-AC3A-2517-29B90DE840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4713" y="534988"/>
            <a:ext cx="9786937" cy="700425"/>
          </a:xfrm>
        </p:spPr>
        <p:txBody>
          <a:bodyPr>
            <a:normAutofit/>
          </a:bodyPr>
          <a:lstStyle>
            <a:lvl1pPr marL="0" indent="0">
              <a:buNone/>
              <a:defRPr sz="5000">
                <a:solidFill>
                  <a:srgbClr val="E3DDD5"/>
                </a:solidFill>
              </a:defRPr>
            </a:lvl1pPr>
          </a:lstStyle>
          <a:p>
            <a:pPr lvl="0"/>
            <a:r>
              <a:rPr lang="da-DK"/>
              <a:t>Indsæt overskrift</a:t>
            </a:r>
          </a:p>
        </p:txBody>
      </p:sp>
      <p:cxnSp>
        <p:nvCxnSpPr>
          <p:cNvPr id="6" name="Lige forbindelse 5">
            <a:extLst>
              <a:ext uri="{FF2B5EF4-FFF2-40B4-BE49-F238E27FC236}">
                <a16:creationId xmlns:a16="http://schemas.microsoft.com/office/drawing/2014/main" id="{8ED3F7DB-6B95-0FFA-0C0D-51BBC733A952}"/>
              </a:ext>
            </a:extLst>
          </p:cNvPr>
          <p:cNvCxnSpPr/>
          <p:nvPr userDrawn="1"/>
        </p:nvCxnSpPr>
        <p:spPr>
          <a:xfrm>
            <a:off x="994927" y="1235413"/>
            <a:ext cx="1968284" cy="0"/>
          </a:xfrm>
          <a:prstGeom prst="line">
            <a:avLst/>
          </a:prstGeom>
          <a:ln w="57150">
            <a:solidFill>
              <a:srgbClr val="FF7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ladsholder til indhold 2">
            <a:extLst>
              <a:ext uri="{FF2B5EF4-FFF2-40B4-BE49-F238E27FC236}">
                <a16:creationId xmlns:a16="http://schemas.microsoft.com/office/drawing/2014/main" id="{92E10D1C-6698-440D-552C-F5ACABD21F4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74713" y="1442455"/>
            <a:ext cx="10515600" cy="420618"/>
          </a:xfrm>
        </p:spPr>
        <p:txBody>
          <a:bodyPr/>
          <a:lstStyle>
            <a:lvl1pPr marL="0" indent="0">
              <a:buNone/>
              <a:defRPr>
                <a:solidFill>
                  <a:srgbClr val="E3DDD5"/>
                </a:solidFill>
              </a:defRPr>
            </a:lvl1pPr>
          </a:lstStyle>
          <a:p>
            <a:pPr lvl="0"/>
            <a:r>
              <a:rPr lang="da-DK"/>
              <a:t>underoverskrift</a:t>
            </a:r>
          </a:p>
        </p:txBody>
      </p:sp>
      <p:sp>
        <p:nvSpPr>
          <p:cNvPr id="11" name="Pladsholder til indhold 3">
            <a:extLst>
              <a:ext uri="{FF2B5EF4-FFF2-40B4-BE49-F238E27FC236}">
                <a16:creationId xmlns:a16="http://schemas.microsoft.com/office/drawing/2014/main" id="{3FC85E46-62CB-1E21-240F-C6012530FF9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74713" y="1873247"/>
            <a:ext cx="5157787" cy="3684588"/>
          </a:xfrm>
        </p:spPr>
        <p:txBody>
          <a:bodyPr>
            <a:normAutofit/>
          </a:bodyPr>
          <a:lstStyle>
            <a:lvl1pPr>
              <a:defRPr sz="1400">
                <a:solidFill>
                  <a:srgbClr val="E3DDD5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a-DK"/>
              <a:t>Evt. punkter</a:t>
            </a:r>
          </a:p>
        </p:txBody>
      </p:sp>
    </p:spTree>
    <p:extLst>
      <p:ext uri="{BB962C8B-B14F-4D97-AF65-F5344CB8AC3E}">
        <p14:creationId xmlns:p14="http://schemas.microsoft.com/office/powerpoint/2010/main" val="23412122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skrift + 2 kasser_1">
    <p:bg>
      <p:bgPr>
        <a:solidFill>
          <a:srgbClr val="E3DD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lede 5" descr="Et billede, der indeholder nattehimmel&#10;&#10;Automatisk genereret beskrivelse">
            <a:extLst>
              <a:ext uri="{FF2B5EF4-FFF2-40B4-BE49-F238E27FC236}">
                <a16:creationId xmlns:a16="http://schemas.microsoft.com/office/drawing/2014/main" id="{5A1D3529-82F0-9180-0A3E-BA8499937D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0"/>
          </a:blip>
          <a:srcRect t="22213" r="18390" b="37175"/>
          <a:stretch/>
        </p:blipFill>
        <p:spPr>
          <a:xfrm>
            <a:off x="2453640" y="1"/>
            <a:ext cx="9738360" cy="6858000"/>
          </a:xfrm>
          <a:prstGeom prst="rect">
            <a:avLst/>
          </a:prstGeom>
        </p:spPr>
      </p:pic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29A498B-AF1E-6D3C-A1DD-9865C61DEF1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74713" y="1405741"/>
            <a:ext cx="5181600" cy="42061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a-DK"/>
              <a:t>underoverskrift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4DE8F85F-76C8-BDE9-E175-7C3557230C3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08713" y="1405741"/>
            <a:ext cx="5181600" cy="42061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a-DK"/>
              <a:t>underoverskrift</a:t>
            </a:r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DDF49B03-E8EB-21F2-170C-AFBFA7A3BCE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14205" y="6355506"/>
            <a:ext cx="350796" cy="370937"/>
          </a:xfrm>
          <a:prstGeom prst="rect">
            <a:avLst/>
          </a:prstGeom>
        </p:spPr>
      </p:pic>
      <p:sp>
        <p:nvSpPr>
          <p:cNvPr id="15" name="Pladsholder til indhold 3">
            <a:extLst>
              <a:ext uri="{FF2B5EF4-FFF2-40B4-BE49-F238E27FC236}">
                <a16:creationId xmlns:a16="http://schemas.microsoft.com/office/drawing/2014/main" id="{37C10281-84C6-87FB-B269-27EB42C78D00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874713" y="1937999"/>
            <a:ext cx="5157787" cy="3684588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a-DK"/>
              <a:t>Evt. punkter</a:t>
            </a:r>
          </a:p>
        </p:txBody>
      </p:sp>
      <p:sp>
        <p:nvSpPr>
          <p:cNvPr id="16" name="Pladsholder til indhold 3">
            <a:extLst>
              <a:ext uri="{FF2B5EF4-FFF2-40B4-BE49-F238E27FC236}">
                <a16:creationId xmlns:a16="http://schemas.microsoft.com/office/drawing/2014/main" id="{B4EA499C-AA7B-47FD-D65A-7692BFF830FB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208713" y="1937999"/>
            <a:ext cx="5157787" cy="3684588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a-DK"/>
              <a:t>Evt. punkter</a:t>
            </a:r>
          </a:p>
        </p:txBody>
      </p:sp>
      <p:sp>
        <p:nvSpPr>
          <p:cNvPr id="7" name="Pladsholder til tekst 5">
            <a:extLst>
              <a:ext uri="{FF2B5EF4-FFF2-40B4-BE49-F238E27FC236}">
                <a16:creationId xmlns:a16="http://schemas.microsoft.com/office/drawing/2014/main" id="{BB9BF86E-6236-323B-0984-01269CD14C0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4713" y="534988"/>
            <a:ext cx="9786937" cy="700425"/>
          </a:xfrm>
        </p:spPr>
        <p:txBody>
          <a:bodyPr>
            <a:normAutofit/>
          </a:bodyPr>
          <a:lstStyle>
            <a:lvl1pPr marL="0" indent="0">
              <a:buNone/>
              <a:defRPr sz="5000">
                <a:solidFill>
                  <a:srgbClr val="374A05"/>
                </a:solidFill>
              </a:defRPr>
            </a:lvl1pPr>
          </a:lstStyle>
          <a:p>
            <a:pPr lvl="0"/>
            <a:r>
              <a:rPr lang="da-DK"/>
              <a:t>Indsæt overskrift</a:t>
            </a:r>
          </a:p>
        </p:txBody>
      </p:sp>
      <p:cxnSp>
        <p:nvCxnSpPr>
          <p:cNvPr id="9" name="Lige forbindelse 8">
            <a:extLst>
              <a:ext uri="{FF2B5EF4-FFF2-40B4-BE49-F238E27FC236}">
                <a16:creationId xmlns:a16="http://schemas.microsoft.com/office/drawing/2014/main" id="{2338F80B-3534-CB25-BA1D-4C22911149F2}"/>
              </a:ext>
            </a:extLst>
          </p:cNvPr>
          <p:cNvCxnSpPr/>
          <p:nvPr userDrawn="1"/>
        </p:nvCxnSpPr>
        <p:spPr>
          <a:xfrm>
            <a:off x="994927" y="1235413"/>
            <a:ext cx="1968284" cy="0"/>
          </a:xfrm>
          <a:prstGeom prst="line">
            <a:avLst/>
          </a:prstGeom>
          <a:ln w="57150">
            <a:solidFill>
              <a:srgbClr val="FF7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66331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skrift + 2 kasser_2">
    <p:bg>
      <p:bgPr>
        <a:solidFill>
          <a:srgbClr val="4559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lede 7">
            <a:extLst>
              <a:ext uri="{FF2B5EF4-FFF2-40B4-BE49-F238E27FC236}">
                <a16:creationId xmlns:a16="http://schemas.microsoft.com/office/drawing/2014/main" id="{7037A58C-B0CD-8807-885A-92F68DA1F98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76500" y="-4787197"/>
            <a:ext cx="14973300" cy="21189109"/>
          </a:xfrm>
          <a:prstGeom prst="rect">
            <a:avLst/>
          </a:prstGeom>
        </p:spPr>
      </p:pic>
      <p:pic>
        <p:nvPicPr>
          <p:cNvPr id="3" name="Billede 2">
            <a:extLst>
              <a:ext uri="{FF2B5EF4-FFF2-40B4-BE49-F238E27FC236}">
                <a16:creationId xmlns:a16="http://schemas.microsoft.com/office/drawing/2014/main" id="{328CF471-9C79-3544-9058-5C20473CFE7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13356" y="6352924"/>
            <a:ext cx="350796" cy="370938"/>
          </a:xfrm>
          <a:prstGeom prst="rect">
            <a:avLst/>
          </a:prstGeom>
        </p:spPr>
      </p:pic>
      <p:sp>
        <p:nvSpPr>
          <p:cNvPr id="4" name="Pladsholder til tekst 5">
            <a:extLst>
              <a:ext uri="{FF2B5EF4-FFF2-40B4-BE49-F238E27FC236}">
                <a16:creationId xmlns:a16="http://schemas.microsoft.com/office/drawing/2014/main" id="{C1041B98-6389-BBE4-9430-049FAABF04E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4713" y="534988"/>
            <a:ext cx="9786937" cy="700425"/>
          </a:xfrm>
        </p:spPr>
        <p:txBody>
          <a:bodyPr>
            <a:normAutofit/>
          </a:bodyPr>
          <a:lstStyle>
            <a:lvl1pPr marL="0" indent="0">
              <a:buNone/>
              <a:defRPr sz="5000">
                <a:solidFill>
                  <a:srgbClr val="E3DDD5"/>
                </a:solidFill>
              </a:defRPr>
            </a:lvl1pPr>
          </a:lstStyle>
          <a:p>
            <a:pPr lvl="0"/>
            <a:r>
              <a:rPr lang="da-DK"/>
              <a:t>Indsæt overskrift</a:t>
            </a:r>
          </a:p>
        </p:txBody>
      </p:sp>
      <p:cxnSp>
        <p:nvCxnSpPr>
          <p:cNvPr id="6" name="Lige forbindelse 5">
            <a:extLst>
              <a:ext uri="{FF2B5EF4-FFF2-40B4-BE49-F238E27FC236}">
                <a16:creationId xmlns:a16="http://schemas.microsoft.com/office/drawing/2014/main" id="{655D951E-DE7C-3EB6-04B7-7A4DFEB6935E}"/>
              </a:ext>
            </a:extLst>
          </p:cNvPr>
          <p:cNvCxnSpPr/>
          <p:nvPr userDrawn="1"/>
        </p:nvCxnSpPr>
        <p:spPr>
          <a:xfrm>
            <a:off x="994927" y="1235413"/>
            <a:ext cx="1968284" cy="0"/>
          </a:xfrm>
          <a:prstGeom prst="line">
            <a:avLst/>
          </a:prstGeom>
          <a:ln w="57150">
            <a:solidFill>
              <a:srgbClr val="FF7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ladsholder til indhold 2">
            <a:extLst>
              <a:ext uri="{FF2B5EF4-FFF2-40B4-BE49-F238E27FC236}">
                <a16:creationId xmlns:a16="http://schemas.microsoft.com/office/drawing/2014/main" id="{999C837C-58CB-438B-741D-6D1CF5B1ADD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74713" y="1405741"/>
            <a:ext cx="5181600" cy="420618"/>
          </a:xfrm>
        </p:spPr>
        <p:txBody>
          <a:bodyPr/>
          <a:lstStyle>
            <a:lvl1pPr marL="0" indent="0">
              <a:buNone/>
              <a:defRPr>
                <a:solidFill>
                  <a:srgbClr val="E3DDD5"/>
                </a:solidFill>
              </a:defRPr>
            </a:lvl1pPr>
          </a:lstStyle>
          <a:p>
            <a:pPr lvl="0"/>
            <a:r>
              <a:rPr lang="da-DK"/>
              <a:t>underoverskrift</a:t>
            </a:r>
          </a:p>
        </p:txBody>
      </p:sp>
      <p:sp>
        <p:nvSpPr>
          <p:cNvPr id="9" name="Pladsholder til indhold 3">
            <a:extLst>
              <a:ext uri="{FF2B5EF4-FFF2-40B4-BE49-F238E27FC236}">
                <a16:creationId xmlns:a16="http://schemas.microsoft.com/office/drawing/2014/main" id="{8AF938A0-D980-BD96-9566-4416B8202A8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08713" y="1405741"/>
            <a:ext cx="5181600" cy="420618"/>
          </a:xfrm>
        </p:spPr>
        <p:txBody>
          <a:bodyPr/>
          <a:lstStyle>
            <a:lvl1pPr marL="0" indent="0">
              <a:buNone/>
              <a:defRPr>
                <a:solidFill>
                  <a:srgbClr val="E3DDD5"/>
                </a:solidFill>
              </a:defRPr>
            </a:lvl1pPr>
          </a:lstStyle>
          <a:p>
            <a:pPr lvl="0"/>
            <a:r>
              <a:rPr lang="da-DK"/>
              <a:t>underoverskrift</a:t>
            </a:r>
          </a:p>
        </p:txBody>
      </p:sp>
      <p:sp>
        <p:nvSpPr>
          <p:cNvPr id="14" name="Pladsholder til indhold 3">
            <a:extLst>
              <a:ext uri="{FF2B5EF4-FFF2-40B4-BE49-F238E27FC236}">
                <a16:creationId xmlns:a16="http://schemas.microsoft.com/office/drawing/2014/main" id="{A6B62BED-2075-885C-AA32-9F3329C951C2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874713" y="1937999"/>
            <a:ext cx="5157787" cy="3684588"/>
          </a:xfrm>
        </p:spPr>
        <p:txBody>
          <a:bodyPr>
            <a:normAutofit/>
          </a:bodyPr>
          <a:lstStyle>
            <a:lvl1pPr>
              <a:defRPr sz="1400">
                <a:solidFill>
                  <a:srgbClr val="E3DDD5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a-DK"/>
              <a:t>Evt. punkter</a:t>
            </a:r>
          </a:p>
        </p:txBody>
      </p:sp>
      <p:sp>
        <p:nvSpPr>
          <p:cNvPr id="15" name="Pladsholder til indhold 3">
            <a:extLst>
              <a:ext uri="{FF2B5EF4-FFF2-40B4-BE49-F238E27FC236}">
                <a16:creationId xmlns:a16="http://schemas.microsoft.com/office/drawing/2014/main" id="{CFC33E2E-10AE-44C6-4D81-FA91C1B64CF2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208713" y="1937999"/>
            <a:ext cx="5157787" cy="3684588"/>
          </a:xfrm>
        </p:spPr>
        <p:txBody>
          <a:bodyPr>
            <a:normAutofit/>
          </a:bodyPr>
          <a:lstStyle>
            <a:lvl1pPr>
              <a:defRPr sz="1400">
                <a:solidFill>
                  <a:srgbClr val="E3DDD5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a-DK"/>
              <a:t>Evt. punkter</a:t>
            </a:r>
          </a:p>
        </p:txBody>
      </p:sp>
    </p:spTree>
    <p:extLst>
      <p:ext uri="{BB962C8B-B14F-4D97-AF65-F5344CB8AC3E}">
        <p14:creationId xmlns:p14="http://schemas.microsoft.com/office/powerpoint/2010/main" val="5227785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skrift + 3 kasser_1">
    <p:bg>
      <p:bgPr>
        <a:solidFill>
          <a:srgbClr val="E3DD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 descr="Et billede, der indeholder nattehimmel&#10;&#10;Automatisk genereret beskrivelse">
            <a:extLst>
              <a:ext uri="{FF2B5EF4-FFF2-40B4-BE49-F238E27FC236}">
                <a16:creationId xmlns:a16="http://schemas.microsoft.com/office/drawing/2014/main" id="{3B3B219E-31CB-EAB5-8469-AAE5495CB7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0"/>
          </a:blip>
          <a:srcRect t="22213" r="18390" b="37175"/>
          <a:stretch/>
        </p:blipFill>
        <p:spPr>
          <a:xfrm>
            <a:off x="2453640" y="1"/>
            <a:ext cx="9738360" cy="6858000"/>
          </a:xfrm>
          <a:prstGeom prst="rect">
            <a:avLst/>
          </a:prstGeom>
        </p:spPr>
      </p:pic>
      <p:sp>
        <p:nvSpPr>
          <p:cNvPr id="8" name="Pladsholder til tekst 6">
            <a:extLst>
              <a:ext uri="{FF2B5EF4-FFF2-40B4-BE49-F238E27FC236}">
                <a16:creationId xmlns:a16="http://schemas.microsoft.com/office/drawing/2014/main" id="{BD16B399-1C41-9EC5-EC1B-413D37F0CE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4713" y="1422119"/>
            <a:ext cx="3246438" cy="40854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a-DK"/>
              <a:t>underoverskrift</a:t>
            </a:r>
          </a:p>
        </p:txBody>
      </p:sp>
      <p:sp>
        <p:nvSpPr>
          <p:cNvPr id="10" name="Pladsholder til tekst 6">
            <a:extLst>
              <a:ext uri="{FF2B5EF4-FFF2-40B4-BE49-F238E27FC236}">
                <a16:creationId xmlns:a16="http://schemas.microsoft.com/office/drawing/2014/main" id="{53C28C63-6C55-4FDF-C550-1B0A4AD859D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09294" y="1422117"/>
            <a:ext cx="3246438" cy="40854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a-DK"/>
              <a:t>underoverskrift</a:t>
            </a:r>
          </a:p>
        </p:txBody>
      </p:sp>
      <p:sp>
        <p:nvSpPr>
          <p:cNvPr id="11" name="Pladsholder til tekst 6">
            <a:extLst>
              <a:ext uri="{FF2B5EF4-FFF2-40B4-BE49-F238E27FC236}">
                <a16:creationId xmlns:a16="http://schemas.microsoft.com/office/drawing/2014/main" id="{1E37FB03-0809-CB33-660E-2D4CCB7187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51654" y="1422117"/>
            <a:ext cx="3246438" cy="40854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a-DK"/>
              <a:t>underoverskrift</a:t>
            </a:r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E655B395-7E71-1830-DAB3-262B5650DCE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14205" y="6355506"/>
            <a:ext cx="350796" cy="370937"/>
          </a:xfrm>
          <a:prstGeom prst="rect">
            <a:avLst/>
          </a:prstGeom>
        </p:spPr>
      </p:pic>
      <p:sp>
        <p:nvSpPr>
          <p:cNvPr id="13" name="Pladsholder til indhold 3">
            <a:extLst>
              <a:ext uri="{FF2B5EF4-FFF2-40B4-BE49-F238E27FC236}">
                <a16:creationId xmlns:a16="http://schemas.microsoft.com/office/drawing/2014/main" id="{942AFE55-3837-EAB7-E58A-B54FD2ADB4B3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874714" y="1862095"/>
            <a:ext cx="3246438" cy="3684588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a-DK"/>
              <a:t>Evt. punkter</a:t>
            </a:r>
          </a:p>
        </p:txBody>
      </p:sp>
      <p:sp>
        <p:nvSpPr>
          <p:cNvPr id="14" name="Pladsholder til indhold 3">
            <a:extLst>
              <a:ext uri="{FF2B5EF4-FFF2-40B4-BE49-F238E27FC236}">
                <a16:creationId xmlns:a16="http://schemas.microsoft.com/office/drawing/2014/main" id="{80BBC73A-8131-07F9-0BA8-3F176BCE5D03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509294" y="1862095"/>
            <a:ext cx="3246438" cy="3684588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a-DK"/>
              <a:t>Evt. punkter</a:t>
            </a:r>
          </a:p>
        </p:txBody>
      </p:sp>
      <p:sp>
        <p:nvSpPr>
          <p:cNvPr id="15" name="Pladsholder til indhold 3">
            <a:extLst>
              <a:ext uri="{FF2B5EF4-FFF2-40B4-BE49-F238E27FC236}">
                <a16:creationId xmlns:a16="http://schemas.microsoft.com/office/drawing/2014/main" id="{7DAD6E7E-5E59-A6E9-F449-657FF04D1C7D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143874" y="1862095"/>
            <a:ext cx="3246438" cy="3684588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a-DK"/>
              <a:t>Evt. punkter</a:t>
            </a:r>
          </a:p>
        </p:txBody>
      </p:sp>
      <p:sp>
        <p:nvSpPr>
          <p:cNvPr id="5" name="Pladsholder til tekst 5">
            <a:extLst>
              <a:ext uri="{FF2B5EF4-FFF2-40B4-BE49-F238E27FC236}">
                <a16:creationId xmlns:a16="http://schemas.microsoft.com/office/drawing/2014/main" id="{F6F8FC56-FD45-93FE-F847-DCA2D811345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74713" y="534988"/>
            <a:ext cx="9786937" cy="700425"/>
          </a:xfrm>
        </p:spPr>
        <p:txBody>
          <a:bodyPr>
            <a:normAutofit/>
          </a:bodyPr>
          <a:lstStyle>
            <a:lvl1pPr marL="0" indent="0">
              <a:buNone/>
              <a:defRPr sz="5000">
                <a:solidFill>
                  <a:srgbClr val="374A05"/>
                </a:solidFill>
              </a:defRPr>
            </a:lvl1pPr>
          </a:lstStyle>
          <a:p>
            <a:pPr lvl="0"/>
            <a:r>
              <a:rPr lang="da-DK"/>
              <a:t>Indsæt overskrift</a:t>
            </a:r>
          </a:p>
        </p:txBody>
      </p:sp>
      <p:cxnSp>
        <p:nvCxnSpPr>
          <p:cNvPr id="7" name="Lige forbindelse 6">
            <a:extLst>
              <a:ext uri="{FF2B5EF4-FFF2-40B4-BE49-F238E27FC236}">
                <a16:creationId xmlns:a16="http://schemas.microsoft.com/office/drawing/2014/main" id="{95932A28-2959-05E3-0818-6CEDB1E0444C}"/>
              </a:ext>
            </a:extLst>
          </p:cNvPr>
          <p:cNvCxnSpPr/>
          <p:nvPr userDrawn="1"/>
        </p:nvCxnSpPr>
        <p:spPr>
          <a:xfrm>
            <a:off x="994927" y="1235413"/>
            <a:ext cx="1968284" cy="0"/>
          </a:xfrm>
          <a:prstGeom prst="line">
            <a:avLst/>
          </a:prstGeom>
          <a:ln w="57150">
            <a:solidFill>
              <a:srgbClr val="FF7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67519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skrift + 3 kasser_2">
    <p:bg>
      <p:bgPr>
        <a:solidFill>
          <a:srgbClr val="4559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lede 7">
            <a:extLst>
              <a:ext uri="{FF2B5EF4-FFF2-40B4-BE49-F238E27FC236}">
                <a16:creationId xmlns:a16="http://schemas.microsoft.com/office/drawing/2014/main" id="{7037A58C-B0CD-8807-885A-92F68DA1F98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439722" y="-3736555"/>
            <a:ext cx="14973300" cy="21189109"/>
          </a:xfrm>
          <a:prstGeom prst="rect">
            <a:avLst/>
          </a:prstGeom>
        </p:spPr>
      </p:pic>
      <p:pic>
        <p:nvPicPr>
          <p:cNvPr id="2" name="Billede 1">
            <a:extLst>
              <a:ext uri="{FF2B5EF4-FFF2-40B4-BE49-F238E27FC236}">
                <a16:creationId xmlns:a16="http://schemas.microsoft.com/office/drawing/2014/main" id="{66E0DC35-B8DF-06E0-A68F-7C2AADD7DAB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13356" y="6352924"/>
            <a:ext cx="350796" cy="370938"/>
          </a:xfrm>
          <a:prstGeom prst="rect">
            <a:avLst/>
          </a:prstGeom>
        </p:spPr>
      </p:pic>
      <p:sp>
        <p:nvSpPr>
          <p:cNvPr id="4" name="Pladsholder til tekst 5">
            <a:extLst>
              <a:ext uri="{FF2B5EF4-FFF2-40B4-BE49-F238E27FC236}">
                <a16:creationId xmlns:a16="http://schemas.microsoft.com/office/drawing/2014/main" id="{A9D391E8-932B-1357-2372-B814F145C21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74713" y="534988"/>
            <a:ext cx="9786937" cy="700425"/>
          </a:xfrm>
        </p:spPr>
        <p:txBody>
          <a:bodyPr>
            <a:normAutofit/>
          </a:bodyPr>
          <a:lstStyle>
            <a:lvl1pPr marL="0" indent="0">
              <a:buNone/>
              <a:defRPr sz="5000">
                <a:solidFill>
                  <a:srgbClr val="E3DDD5"/>
                </a:solidFill>
              </a:defRPr>
            </a:lvl1pPr>
          </a:lstStyle>
          <a:p>
            <a:pPr lvl="0"/>
            <a:r>
              <a:rPr lang="da-DK"/>
              <a:t>Indsæt overskrift</a:t>
            </a:r>
          </a:p>
        </p:txBody>
      </p:sp>
      <p:cxnSp>
        <p:nvCxnSpPr>
          <p:cNvPr id="5" name="Lige forbindelse 4">
            <a:extLst>
              <a:ext uri="{FF2B5EF4-FFF2-40B4-BE49-F238E27FC236}">
                <a16:creationId xmlns:a16="http://schemas.microsoft.com/office/drawing/2014/main" id="{2381EFDE-7BD0-89B0-06D4-10B77CFA1C73}"/>
              </a:ext>
            </a:extLst>
          </p:cNvPr>
          <p:cNvCxnSpPr/>
          <p:nvPr userDrawn="1"/>
        </p:nvCxnSpPr>
        <p:spPr>
          <a:xfrm>
            <a:off x="994927" y="1235413"/>
            <a:ext cx="1968284" cy="0"/>
          </a:xfrm>
          <a:prstGeom prst="line">
            <a:avLst/>
          </a:prstGeom>
          <a:ln w="57150">
            <a:solidFill>
              <a:srgbClr val="FF7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ladsholder til tekst 6">
            <a:extLst>
              <a:ext uri="{FF2B5EF4-FFF2-40B4-BE49-F238E27FC236}">
                <a16:creationId xmlns:a16="http://schemas.microsoft.com/office/drawing/2014/main" id="{F0219E9F-A30F-DE8D-88A1-DC121817FB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4713" y="1422119"/>
            <a:ext cx="3246438" cy="408540"/>
          </a:xfrm>
        </p:spPr>
        <p:txBody>
          <a:bodyPr/>
          <a:lstStyle>
            <a:lvl1pPr marL="0" indent="0">
              <a:buNone/>
              <a:defRPr>
                <a:solidFill>
                  <a:srgbClr val="E3DDD5"/>
                </a:solidFill>
              </a:defRPr>
            </a:lvl1pPr>
          </a:lstStyle>
          <a:p>
            <a:pPr lvl="0"/>
            <a:r>
              <a:rPr lang="da-DK"/>
              <a:t>underoverskrift</a:t>
            </a:r>
          </a:p>
        </p:txBody>
      </p:sp>
      <p:sp>
        <p:nvSpPr>
          <p:cNvPr id="7" name="Pladsholder til tekst 6">
            <a:extLst>
              <a:ext uri="{FF2B5EF4-FFF2-40B4-BE49-F238E27FC236}">
                <a16:creationId xmlns:a16="http://schemas.microsoft.com/office/drawing/2014/main" id="{00BA7960-5FA7-C8C1-F605-FE62FE97F0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09294" y="1422117"/>
            <a:ext cx="3246438" cy="408541"/>
          </a:xfrm>
        </p:spPr>
        <p:txBody>
          <a:bodyPr/>
          <a:lstStyle>
            <a:lvl1pPr marL="0" indent="0">
              <a:buNone/>
              <a:defRPr>
                <a:solidFill>
                  <a:srgbClr val="E3DDD5"/>
                </a:solidFill>
              </a:defRPr>
            </a:lvl1pPr>
          </a:lstStyle>
          <a:p>
            <a:pPr lvl="0"/>
            <a:r>
              <a:rPr lang="da-DK"/>
              <a:t>underoverskrift</a:t>
            </a:r>
          </a:p>
        </p:txBody>
      </p:sp>
      <p:sp>
        <p:nvSpPr>
          <p:cNvPr id="11" name="Pladsholder til tekst 6">
            <a:extLst>
              <a:ext uri="{FF2B5EF4-FFF2-40B4-BE49-F238E27FC236}">
                <a16:creationId xmlns:a16="http://schemas.microsoft.com/office/drawing/2014/main" id="{4B7ECAFB-237B-4BE7-8F3B-090942423C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51654" y="1422117"/>
            <a:ext cx="3246438" cy="408542"/>
          </a:xfrm>
        </p:spPr>
        <p:txBody>
          <a:bodyPr/>
          <a:lstStyle>
            <a:lvl1pPr marL="0" indent="0">
              <a:buNone/>
              <a:defRPr>
                <a:solidFill>
                  <a:srgbClr val="E3DDD5"/>
                </a:solidFill>
              </a:defRPr>
            </a:lvl1pPr>
          </a:lstStyle>
          <a:p>
            <a:pPr lvl="0"/>
            <a:r>
              <a:rPr lang="da-DK"/>
              <a:t>underoverskrift</a:t>
            </a:r>
          </a:p>
        </p:txBody>
      </p:sp>
      <p:sp>
        <p:nvSpPr>
          <p:cNvPr id="13" name="Pladsholder til indhold 3">
            <a:extLst>
              <a:ext uri="{FF2B5EF4-FFF2-40B4-BE49-F238E27FC236}">
                <a16:creationId xmlns:a16="http://schemas.microsoft.com/office/drawing/2014/main" id="{166C4890-E13C-7CAF-309F-C7E8155B168F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874714" y="1862095"/>
            <a:ext cx="3246438" cy="3684588"/>
          </a:xfrm>
        </p:spPr>
        <p:txBody>
          <a:bodyPr>
            <a:normAutofit/>
          </a:bodyPr>
          <a:lstStyle>
            <a:lvl1pPr>
              <a:defRPr sz="1400">
                <a:solidFill>
                  <a:srgbClr val="E3DDD5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a-DK"/>
              <a:t>Evt. punkter</a:t>
            </a:r>
          </a:p>
        </p:txBody>
      </p:sp>
      <p:sp>
        <p:nvSpPr>
          <p:cNvPr id="14" name="Pladsholder til indhold 3">
            <a:extLst>
              <a:ext uri="{FF2B5EF4-FFF2-40B4-BE49-F238E27FC236}">
                <a16:creationId xmlns:a16="http://schemas.microsoft.com/office/drawing/2014/main" id="{EA65F9B1-04F3-B027-D8D8-B8AC496B5660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509294" y="1862095"/>
            <a:ext cx="3246438" cy="3684588"/>
          </a:xfrm>
        </p:spPr>
        <p:txBody>
          <a:bodyPr>
            <a:normAutofit/>
          </a:bodyPr>
          <a:lstStyle>
            <a:lvl1pPr>
              <a:defRPr sz="1400">
                <a:solidFill>
                  <a:srgbClr val="E3DDD5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a-DK"/>
              <a:t>Evt. punkter</a:t>
            </a:r>
          </a:p>
        </p:txBody>
      </p:sp>
      <p:sp>
        <p:nvSpPr>
          <p:cNvPr id="19" name="Pladsholder til indhold 3">
            <a:extLst>
              <a:ext uri="{FF2B5EF4-FFF2-40B4-BE49-F238E27FC236}">
                <a16:creationId xmlns:a16="http://schemas.microsoft.com/office/drawing/2014/main" id="{330E4F61-DA6D-FFE6-E66C-C5F55212470A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143874" y="1862095"/>
            <a:ext cx="3246438" cy="3684588"/>
          </a:xfrm>
        </p:spPr>
        <p:txBody>
          <a:bodyPr>
            <a:normAutofit/>
          </a:bodyPr>
          <a:lstStyle>
            <a:lvl1pPr>
              <a:defRPr sz="1400">
                <a:solidFill>
                  <a:srgbClr val="E3DDD5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a-DK"/>
              <a:t>Evt. punkter</a:t>
            </a:r>
          </a:p>
        </p:txBody>
      </p:sp>
    </p:spTree>
    <p:extLst>
      <p:ext uri="{BB962C8B-B14F-4D97-AF65-F5344CB8AC3E}">
        <p14:creationId xmlns:p14="http://schemas.microsoft.com/office/powerpoint/2010/main" val="35491124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skrift + underoverskrift + to kasser_1">
    <p:bg>
      <p:bgPr>
        <a:solidFill>
          <a:srgbClr val="E3DD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lede 7" descr="Et billede, der indeholder nattehimmel&#10;&#10;Automatisk genereret beskrivelse">
            <a:extLst>
              <a:ext uri="{FF2B5EF4-FFF2-40B4-BE49-F238E27FC236}">
                <a16:creationId xmlns:a16="http://schemas.microsoft.com/office/drawing/2014/main" id="{B6041FFD-DB82-278A-43C7-2871F2281C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0"/>
          </a:blip>
          <a:srcRect t="22213" r="18390" b="37175"/>
          <a:stretch/>
        </p:blipFill>
        <p:spPr>
          <a:xfrm>
            <a:off x="2453640" y="1"/>
            <a:ext cx="9738360" cy="6858000"/>
          </a:xfrm>
          <a:prstGeom prst="rect">
            <a:avLst/>
          </a:prstGeom>
        </p:spPr>
      </p:pic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9BA92251-6CE6-8BAA-E84C-BA0F72838EF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74713" y="1386022"/>
            <a:ext cx="5157787" cy="4492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underoverskrift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3691765C-A37F-FEFF-3D94-98AB5EC4078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74713" y="1866241"/>
            <a:ext cx="5157787" cy="3684588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a-DK"/>
              <a:t>Evt. punkter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72C8FC7B-9DD3-7E4D-E80C-68E220EE2EB6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07125" y="1386022"/>
            <a:ext cx="5183188" cy="44926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underoverskrift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FC49F26E-8C1F-F49C-6BB7-AD08AD638F7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207125" y="1866241"/>
            <a:ext cx="5183188" cy="3684588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a-DK"/>
              <a:t>Evt. punkter</a:t>
            </a:r>
          </a:p>
        </p:txBody>
      </p:sp>
      <p:pic>
        <p:nvPicPr>
          <p:cNvPr id="10" name="Billede 9">
            <a:extLst>
              <a:ext uri="{FF2B5EF4-FFF2-40B4-BE49-F238E27FC236}">
                <a16:creationId xmlns:a16="http://schemas.microsoft.com/office/drawing/2014/main" id="{221286D6-16D2-5074-AF00-E92F11C6B49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14205" y="6355506"/>
            <a:ext cx="350796" cy="370937"/>
          </a:xfrm>
          <a:prstGeom prst="rect">
            <a:avLst/>
          </a:prstGeom>
        </p:spPr>
      </p:pic>
      <p:sp>
        <p:nvSpPr>
          <p:cNvPr id="9" name="Pladsholder til tekst 5">
            <a:extLst>
              <a:ext uri="{FF2B5EF4-FFF2-40B4-BE49-F238E27FC236}">
                <a16:creationId xmlns:a16="http://schemas.microsoft.com/office/drawing/2014/main" id="{C5526AD8-1540-2884-C6B1-9BEA82DCBCC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4713" y="534988"/>
            <a:ext cx="9786937" cy="700425"/>
          </a:xfrm>
        </p:spPr>
        <p:txBody>
          <a:bodyPr>
            <a:normAutofit/>
          </a:bodyPr>
          <a:lstStyle>
            <a:lvl1pPr marL="0" indent="0">
              <a:buNone/>
              <a:defRPr sz="5000">
                <a:solidFill>
                  <a:srgbClr val="374A05"/>
                </a:solidFill>
              </a:defRPr>
            </a:lvl1pPr>
          </a:lstStyle>
          <a:p>
            <a:pPr lvl="0"/>
            <a:r>
              <a:rPr lang="da-DK"/>
              <a:t>Indsæt overskrift</a:t>
            </a:r>
          </a:p>
        </p:txBody>
      </p:sp>
      <p:cxnSp>
        <p:nvCxnSpPr>
          <p:cNvPr id="11" name="Lige forbindelse 10">
            <a:extLst>
              <a:ext uri="{FF2B5EF4-FFF2-40B4-BE49-F238E27FC236}">
                <a16:creationId xmlns:a16="http://schemas.microsoft.com/office/drawing/2014/main" id="{95C2DAC4-04AA-BEF9-A82B-C0A39BC79B2F}"/>
              </a:ext>
            </a:extLst>
          </p:cNvPr>
          <p:cNvCxnSpPr/>
          <p:nvPr userDrawn="1"/>
        </p:nvCxnSpPr>
        <p:spPr>
          <a:xfrm>
            <a:off x="994927" y="1235413"/>
            <a:ext cx="1968284" cy="0"/>
          </a:xfrm>
          <a:prstGeom prst="line">
            <a:avLst/>
          </a:prstGeom>
          <a:ln w="57150">
            <a:solidFill>
              <a:srgbClr val="FF7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33695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skrift + underoverskrift + to kasser_2">
    <p:bg>
      <p:bgPr>
        <a:solidFill>
          <a:srgbClr val="4559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lede 7">
            <a:extLst>
              <a:ext uri="{FF2B5EF4-FFF2-40B4-BE49-F238E27FC236}">
                <a16:creationId xmlns:a16="http://schemas.microsoft.com/office/drawing/2014/main" id="{7037A58C-B0CD-8807-885A-92F68DA1F98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76500" y="-4787197"/>
            <a:ext cx="14973300" cy="21189109"/>
          </a:xfrm>
          <a:prstGeom prst="rect">
            <a:avLst/>
          </a:prstGeom>
        </p:spPr>
      </p:pic>
      <p:pic>
        <p:nvPicPr>
          <p:cNvPr id="3" name="Billede 2">
            <a:extLst>
              <a:ext uri="{FF2B5EF4-FFF2-40B4-BE49-F238E27FC236}">
                <a16:creationId xmlns:a16="http://schemas.microsoft.com/office/drawing/2014/main" id="{B1FB70E7-8797-F8B9-F850-6D6BA4F2BD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13356" y="6352924"/>
            <a:ext cx="350796" cy="370938"/>
          </a:xfrm>
          <a:prstGeom prst="rect">
            <a:avLst/>
          </a:prstGeom>
        </p:spPr>
      </p:pic>
      <p:sp>
        <p:nvSpPr>
          <p:cNvPr id="6" name="Pladsholder til tekst 5">
            <a:extLst>
              <a:ext uri="{FF2B5EF4-FFF2-40B4-BE49-F238E27FC236}">
                <a16:creationId xmlns:a16="http://schemas.microsoft.com/office/drawing/2014/main" id="{294DF0BE-3F07-C077-5C53-09E5C7A06D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4713" y="534988"/>
            <a:ext cx="9786937" cy="700425"/>
          </a:xfrm>
        </p:spPr>
        <p:txBody>
          <a:bodyPr>
            <a:normAutofit/>
          </a:bodyPr>
          <a:lstStyle>
            <a:lvl1pPr marL="0" indent="0">
              <a:buNone/>
              <a:defRPr sz="5000">
                <a:solidFill>
                  <a:srgbClr val="E3DDD5"/>
                </a:solidFill>
              </a:defRPr>
            </a:lvl1pPr>
          </a:lstStyle>
          <a:p>
            <a:pPr lvl="0"/>
            <a:r>
              <a:rPr lang="da-DK"/>
              <a:t>Indsæt overskrift</a:t>
            </a:r>
          </a:p>
        </p:txBody>
      </p:sp>
      <p:cxnSp>
        <p:nvCxnSpPr>
          <p:cNvPr id="7" name="Lige forbindelse 6">
            <a:extLst>
              <a:ext uri="{FF2B5EF4-FFF2-40B4-BE49-F238E27FC236}">
                <a16:creationId xmlns:a16="http://schemas.microsoft.com/office/drawing/2014/main" id="{4CAE11EE-DD83-5344-9689-9B667F5D2F70}"/>
              </a:ext>
            </a:extLst>
          </p:cNvPr>
          <p:cNvCxnSpPr/>
          <p:nvPr userDrawn="1"/>
        </p:nvCxnSpPr>
        <p:spPr>
          <a:xfrm>
            <a:off x="994927" y="1235413"/>
            <a:ext cx="1968284" cy="0"/>
          </a:xfrm>
          <a:prstGeom prst="line">
            <a:avLst/>
          </a:prstGeom>
          <a:ln w="57150">
            <a:solidFill>
              <a:srgbClr val="FF7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ladsholder til tekst 2">
            <a:extLst>
              <a:ext uri="{FF2B5EF4-FFF2-40B4-BE49-F238E27FC236}">
                <a16:creationId xmlns:a16="http://schemas.microsoft.com/office/drawing/2014/main" id="{ECEF7C8A-5446-2A77-721D-BA1457091F3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74713" y="1386022"/>
            <a:ext cx="5157787" cy="449263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E3DDD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underoverskrift</a:t>
            </a:r>
          </a:p>
        </p:txBody>
      </p:sp>
      <p:sp>
        <p:nvSpPr>
          <p:cNvPr id="10" name="Pladsholder til indhold 3">
            <a:extLst>
              <a:ext uri="{FF2B5EF4-FFF2-40B4-BE49-F238E27FC236}">
                <a16:creationId xmlns:a16="http://schemas.microsoft.com/office/drawing/2014/main" id="{30D72F0B-7388-C0A0-C391-E51A3290F5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74713" y="1866241"/>
            <a:ext cx="5157787" cy="3684588"/>
          </a:xfrm>
        </p:spPr>
        <p:txBody>
          <a:bodyPr>
            <a:normAutofit/>
          </a:bodyPr>
          <a:lstStyle>
            <a:lvl1pPr>
              <a:defRPr sz="1400">
                <a:solidFill>
                  <a:srgbClr val="E3DDD5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a-DK"/>
              <a:t>Evt. punkter</a:t>
            </a:r>
          </a:p>
        </p:txBody>
      </p:sp>
      <p:sp>
        <p:nvSpPr>
          <p:cNvPr id="13" name="Pladsholder til tekst 4">
            <a:extLst>
              <a:ext uri="{FF2B5EF4-FFF2-40B4-BE49-F238E27FC236}">
                <a16:creationId xmlns:a16="http://schemas.microsoft.com/office/drawing/2014/main" id="{B18A75D2-0C50-9A8E-3288-EF81BD5626F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07125" y="1386022"/>
            <a:ext cx="5183188" cy="449264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E3DDD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underoverskrift</a:t>
            </a:r>
          </a:p>
        </p:txBody>
      </p:sp>
      <p:sp>
        <p:nvSpPr>
          <p:cNvPr id="15" name="Pladsholder til indhold 5">
            <a:extLst>
              <a:ext uri="{FF2B5EF4-FFF2-40B4-BE49-F238E27FC236}">
                <a16:creationId xmlns:a16="http://schemas.microsoft.com/office/drawing/2014/main" id="{5D3DEBE9-1A39-E00A-F575-75BDB4550B75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207125" y="1866241"/>
            <a:ext cx="5183188" cy="3684588"/>
          </a:xfrm>
        </p:spPr>
        <p:txBody>
          <a:bodyPr>
            <a:normAutofit/>
          </a:bodyPr>
          <a:lstStyle>
            <a:lvl1pPr>
              <a:defRPr sz="1400">
                <a:solidFill>
                  <a:srgbClr val="E3DDD5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a-DK"/>
              <a:t>Evt. punkter</a:t>
            </a:r>
          </a:p>
        </p:txBody>
      </p:sp>
    </p:spTree>
    <p:extLst>
      <p:ext uri="{BB962C8B-B14F-4D97-AF65-F5344CB8AC3E}">
        <p14:creationId xmlns:p14="http://schemas.microsoft.com/office/powerpoint/2010/main" val="34914929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skrift + underoverskrift + billede_1">
    <p:bg>
      <p:bgPr>
        <a:solidFill>
          <a:srgbClr val="E3DD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lede 4" descr="Et billede, der indeholder nattehimmel&#10;&#10;Automatisk genereret beskrivelse">
            <a:extLst>
              <a:ext uri="{FF2B5EF4-FFF2-40B4-BE49-F238E27FC236}">
                <a16:creationId xmlns:a16="http://schemas.microsoft.com/office/drawing/2014/main" id="{B1AE42A7-92CF-7AD0-191F-E48367F76C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0"/>
          </a:blip>
          <a:srcRect t="22213" r="18390" b="37175"/>
          <a:stretch/>
        </p:blipFill>
        <p:spPr>
          <a:xfrm>
            <a:off x="2453640" y="1"/>
            <a:ext cx="9738360" cy="6858000"/>
          </a:xfrm>
          <a:prstGeom prst="rect">
            <a:avLst/>
          </a:prstGeom>
        </p:spPr>
      </p:pic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C1C4FB4A-D474-D09E-E27C-E2BEEB5379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4713" y="1403762"/>
            <a:ext cx="5257800" cy="45057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a-DK"/>
              <a:t>Underoverskrift</a:t>
            </a:r>
          </a:p>
        </p:txBody>
      </p:sp>
      <p:sp>
        <p:nvSpPr>
          <p:cNvPr id="6" name="Pladsholder til billede 5">
            <a:extLst>
              <a:ext uri="{FF2B5EF4-FFF2-40B4-BE49-F238E27FC236}">
                <a16:creationId xmlns:a16="http://schemas.microsoft.com/office/drawing/2014/main" id="{872CBD6E-E38B-AE2E-88F3-08E503133C9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29363" y="1403761"/>
            <a:ext cx="5060950" cy="466566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da-DK"/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E5F94C97-D621-7EE3-D878-4B16EE79C82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14205" y="6355506"/>
            <a:ext cx="350796" cy="370937"/>
          </a:xfrm>
          <a:prstGeom prst="rect">
            <a:avLst/>
          </a:prstGeom>
        </p:spPr>
      </p:pic>
      <p:sp>
        <p:nvSpPr>
          <p:cNvPr id="10" name="Pladsholder til indhold 3">
            <a:extLst>
              <a:ext uri="{FF2B5EF4-FFF2-40B4-BE49-F238E27FC236}">
                <a16:creationId xmlns:a16="http://schemas.microsoft.com/office/drawing/2014/main" id="{0929F6D5-FB45-C68D-91EC-562A9FAC4AE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76301" y="1955450"/>
            <a:ext cx="5157787" cy="4113973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a-DK"/>
              <a:t>Evt. punkter</a:t>
            </a:r>
          </a:p>
        </p:txBody>
      </p:sp>
      <p:sp>
        <p:nvSpPr>
          <p:cNvPr id="7" name="Pladsholder til tekst 5">
            <a:extLst>
              <a:ext uri="{FF2B5EF4-FFF2-40B4-BE49-F238E27FC236}">
                <a16:creationId xmlns:a16="http://schemas.microsoft.com/office/drawing/2014/main" id="{AF665A69-9514-16EE-865E-9760A24297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4713" y="534988"/>
            <a:ext cx="9786937" cy="700425"/>
          </a:xfrm>
        </p:spPr>
        <p:txBody>
          <a:bodyPr>
            <a:normAutofit/>
          </a:bodyPr>
          <a:lstStyle>
            <a:lvl1pPr marL="0" indent="0">
              <a:buNone/>
              <a:defRPr sz="5000">
                <a:solidFill>
                  <a:srgbClr val="374A05"/>
                </a:solidFill>
              </a:defRPr>
            </a:lvl1pPr>
          </a:lstStyle>
          <a:p>
            <a:pPr lvl="0"/>
            <a:r>
              <a:rPr lang="da-DK"/>
              <a:t>Indsæt overskrift</a:t>
            </a:r>
          </a:p>
        </p:txBody>
      </p:sp>
      <p:cxnSp>
        <p:nvCxnSpPr>
          <p:cNvPr id="9" name="Lige forbindelse 8">
            <a:extLst>
              <a:ext uri="{FF2B5EF4-FFF2-40B4-BE49-F238E27FC236}">
                <a16:creationId xmlns:a16="http://schemas.microsoft.com/office/drawing/2014/main" id="{A1746BB8-CE4C-72AF-1F5B-F999030C8A51}"/>
              </a:ext>
            </a:extLst>
          </p:cNvPr>
          <p:cNvCxnSpPr/>
          <p:nvPr userDrawn="1"/>
        </p:nvCxnSpPr>
        <p:spPr>
          <a:xfrm>
            <a:off x="994927" y="1235413"/>
            <a:ext cx="1968284" cy="0"/>
          </a:xfrm>
          <a:prstGeom prst="line">
            <a:avLst/>
          </a:prstGeom>
          <a:ln w="57150">
            <a:solidFill>
              <a:srgbClr val="FF7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33794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skrift + underoverskrift + billede_2">
    <p:bg>
      <p:bgPr>
        <a:solidFill>
          <a:srgbClr val="4559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lede 7">
            <a:extLst>
              <a:ext uri="{FF2B5EF4-FFF2-40B4-BE49-F238E27FC236}">
                <a16:creationId xmlns:a16="http://schemas.microsoft.com/office/drawing/2014/main" id="{7037A58C-B0CD-8807-885A-92F68DA1F98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76500" y="-4787197"/>
            <a:ext cx="14973300" cy="21189109"/>
          </a:xfrm>
          <a:prstGeom prst="rect">
            <a:avLst/>
          </a:prstGeom>
        </p:spPr>
      </p:pic>
      <p:pic>
        <p:nvPicPr>
          <p:cNvPr id="2" name="Billede 1">
            <a:extLst>
              <a:ext uri="{FF2B5EF4-FFF2-40B4-BE49-F238E27FC236}">
                <a16:creationId xmlns:a16="http://schemas.microsoft.com/office/drawing/2014/main" id="{FE5F03E5-7A87-8AF1-B365-C17EE18E51B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13356" y="6352924"/>
            <a:ext cx="350796" cy="370938"/>
          </a:xfrm>
          <a:prstGeom prst="rect">
            <a:avLst/>
          </a:prstGeom>
        </p:spPr>
      </p:pic>
      <p:sp>
        <p:nvSpPr>
          <p:cNvPr id="4" name="Pladsholder til tekst 5">
            <a:extLst>
              <a:ext uri="{FF2B5EF4-FFF2-40B4-BE49-F238E27FC236}">
                <a16:creationId xmlns:a16="http://schemas.microsoft.com/office/drawing/2014/main" id="{6208A134-2395-CAED-FA9C-6078B975680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4713" y="534988"/>
            <a:ext cx="9786937" cy="700425"/>
          </a:xfrm>
        </p:spPr>
        <p:txBody>
          <a:bodyPr>
            <a:normAutofit/>
          </a:bodyPr>
          <a:lstStyle>
            <a:lvl1pPr marL="0" indent="0">
              <a:buNone/>
              <a:defRPr sz="5000">
                <a:solidFill>
                  <a:srgbClr val="E3DDD5"/>
                </a:solidFill>
              </a:defRPr>
            </a:lvl1pPr>
          </a:lstStyle>
          <a:p>
            <a:pPr lvl="0"/>
            <a:r>
              <a:rPr lang="da-DK"/>
              <a:t>Indsæt overskrift</a:t>
            </a:r>
          </a:p>
        </p:txBody>
      </p:sp>
      <p:cxnSp>
        <p:nvCxnSpPr>
          <p:cNvPr id="5" name="Lige forbindelse 4">
            <a:extLst>
              <a:ext uri="{FF2B5EF4-FFF2-40B4-BE49-F238E27FC236}">
                <a16:creationId xmlns:a16="http://schemas.microsoft.com/office/drawing/2014/main" id="{216CC5BD-E87D-3669-35FA-E362602FED01}"/>
              </a:ext>
            </a:extLst>
          </p:cNvPr>
          <p:cNvCxnSpPr/>
          <p:nvPr userDrawn="1"/>
        </p:nvCxnSpPr>
        <p:spPr>
          <a:xfrm>
            <a:off x="994927" y="1235413"/>
            <a:ext cx="1968284" cy="0"/>
          </a:xfrm>
          <a:prstGeom prst="line">
            <a:avLst/>
          </a:prstGeom>
          <a:ln w="57150">
            <a:solidFill>
              <a:srgbClr val="FF7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ladsholder til tekst 3">
            <a:extLst>
              <a:ext uri="{FF2B5EF4-FFF2-40B4-BE49-F238E27FC236}">
                <a16:creationId xmlns:a16="http://schemas.microsoft.com/office/drawing/2014/main" id="{791DE5D4-957D-1BEF-65AA-FB6AF1C51A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4713" y="1403762"/>
            <a:ext cx="5257800" cy="450574"/>
          </a:xfrm>
        </p:spPr>
        <p:txBody>
          <a:bodyPr/>
          <a:lstStyle>
            <a:lvl1pPr marL="0" indent="0">
              <a:buNone/>
              <a:defRPr>
                <a:solidFill>
                  <a:srgbClr val="E3DDD5"/>
                </a:solidFill>
              </a:defRPr>
            </a:lvl1pPr>
          </a:lstStyle>
          <a:p>
            <a:pPr lvl="0"/>
            <a:r>
              <a:rPr lang="da-DK"/>
              <a:t>Underoverskrift</a:t>
            </a:r>
          </a:p>
        </p:txBody>
      </p:sp>
      <p:sp>
        <p:nvSpPr>
          <p:cNvPr id="12" name="Pladsholder til billede 5">
            <a:extLst>
              <a:ext uri="{FF2B5EF4-FFF2-40B4-BE49-F238E27FC236}">
                <a16:creationId xmlns:a16="http://schemas.microsoft.com/office/drawing/2014/main" id="{0495A4B7-6D80-9085-5C3E-9A625895A5B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29363" y="1403761"/>
            <a:ext cx="5060950" cy="4665663"/>
          </a:xfrm>
        </p:spPr>
        <p:txBody>
          <a:bodyPr/>
          <a:lstStyle>
            <a:lvl1pPr>
              <a:defRPr>
                <a:solidFill>
                  <a:srgbClr val="E3DDD5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a-DK"/>
          </a:p>
        </p:txBody>
      </p:sp>
      <p:sp>
        <p:nvSpPr>
          <p:cNvPr id="13" name="Pladsholder til indhold 3">
            <a:extLst>
              <a:ext uri="{FF2B5EF4-FFF2-40B4-BE49-F238E27FC236}">
                <a16:creationId xmlns:a16="http://schemas.microsoft.com/office/drawing/2014/main" id="{6E0F203E-4F65-3A7D-73B9-1FFADC1D0B0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76301" y="1955450"/>
            <a:ext cx="5157787" cy="4113973"/>
          </a:xfrm>
        </p:spPr>
        <p:txBody>
          <a:bodyPr>
            <a:normAutofit/>
          </a:bodyPr>
          <a:lstStyle>
            <a:lvl1pPr>
              <a:defRPr sz="1400">
                <a:solidFill>
                  <a:srgbClr val="E3DDD5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a-DK"/>
              <a:t>Evt. punkter</a:t>
            </a:r>
          </a:p>
        </p:txBody>
      </p:sp>
    </p:spTree>
    <p:extLst>
      <p:ext uri="{BB962C8B-B14F-4D97-AF65-F5344CB8AC3E}">
        <p14:creationId xmlns:p14="http://schemas.microsoft.com/office/powerpoint/2010/main" val="6077236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slide_1">
    <p:bg>
      <p:bgPr>
        <a:solidFill>
          <a:srgbClr val="E3DD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Billede 31" descr="Et billede, der indeholder nattehimmel&#10;&#10;Automatisk genereret beskrivelse">
            <a:extLst>
              <a:ext uri="{FF2B5EF4-FFF2-40B4-BE49-F238E27FC236}">
                <a16:creationId xmlns:a16="http://schemas.microsoft.com/office/drawing/2014/main" id="{4899E8BB-2C1E-5095-5D3F-6DB84BC9D0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0"/>
          </a:blip>
          <a:srcRect t="22213" r="18390" b="37175"/>
          <a:stretch/>
        </p:blipFill>
        <p:spPr>
          <a:xfrm>
            <a:off x="2453640" y="1"/>
            <a:ext cx="9738360" cy="6858000"/>
          </a:xfrm>
          <a:prstGeom prst="rect">
            <a:avLst/>
          </a:prstGeom>
        </p:spPr>
      </p:pic>
      <p:sp>
        <p:nvSpPr>
          <p:cNvPr id="2" name="Freeform: Shape 83">
            <a:extLst>
              <a:ext uri="{FF2B5EF4-FFF2-40B4-BE49-F238E27FC236}">
                <a16:creationId xmlns:a16="http://schemas.microsoft.com/office/drawing/2014/main" id="{0FC5E67E-C7F4-5943-A188-7B08278A5EAE}"/>
              </a:ext>
            </a:extLst>
          </p:cNvPr>
          <p:cNvSpPr/>
          <p:nvPr userDrawn="1"/>
        </p:nvSpPr>
        <p:spPr>
          <a:xfrm>
            <a:off x="816520" y="5291110"/>
            <a:ext cx="527755" cy="527754"/>
          </a:xfrm>
          <a:custGeom>
            <a:avLst/>
            <a:gdLst>
              <a:gd name="connsiteX0" fmla="*/ 1565320 w 1565320"/>
              <a:gd name="connsiteY0" fmla="*/ 782659 h 1565317"/>
              <a:gd name="connsiteX1" fmla="*/ 782660 w 1565320"/>
              <a:gd name="connsiteY1" fmla="*/ 1565318 h 1565317"/>
              <a:gd name="connsiteX2" fmla="*/ 0 w 1565320"/>
              <a:gd name="connsiteY2" fmla="*/ 782659 h 1565317"/>
              <a:gd name="connsiteX3" fmla="*/ 782660 w 1565320"/>
              <a:gd name="connsiteY3" fmla="*/ 0 h 1565317"/>
              <a:gd name="connsiteX4" fmla="*/ 1565320 w 1565320"/>
              <a:gd name="connsiteY4" fmla="*/ 782659 h 1565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65320" h="1565317">
                <a:moveTo>
                  <a:pt x="1565320" y="782659"/>
                </a:moveTo>
                <a:cubicBezTo>
                  <a:pt x="1565320" y="1214909"/>
                  <a:pt x="1214911" y="1565318"/>
                  <a:pt x="782660" y="1565318"/>
                </a:cubicBezTo>
                <a:cubicBezTo>
                  <a:pt x="350409" y="1565318"/>
                  <a:pt x="0" y="1214909"/>
                  <a:pt x="0" y="782659"/>
                </a:cubicBezTo>
                <a:cubicBezTo>
                  <a:pt x="0" y="350408"/>
                  <a:pt x="350409" y="0"/>
                  <a:pt x="782660" y="0"/>
                </a:cubicBezTo>
                <a:cubicBezTo>
                  <a:pt x="1214911" y="0"/>
                  <a:pt x="1565320" y="350408"/>
                  <a:pt x="1565320" y="782659"/>
                </a:cubicBezTo>
                <a:close/>
              </a:path>
            </a:pathLst>
          </a:custGeom>
          <a:solidFill>
            <a:srgbClr val="E3DDD5"/>
          </a:solidFill>
          <a:ln w="24330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3" name="TextBox 63">
            <a:extLst>
              <a:ext uri="{FF2B5EF4-FFF2-40B4-BE49-F238E27FC236}">
                <a16:creationId xmlns:a16="http://schemas.microsoft.com/office/drawing/2014/main" id="{CC90C66C-04AA-CA7A-79D8-CC60A8EB8CF2}"/>
              </a:ext>
            </a:extLst>
          </p:cNvPr>
          <p:cNvSpPr txBox="1"/>
          <p:nvPr userDrawn="1"/>
        </p:nvSpPr>
        <p:spPr>
          <a:xfrm>
            <a:off x="591246" y="2967335"/>
            <a:ext cx="29749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>
                <a:solidFill>
                  <a:srgbClr val="374A05"/>
                </a:solidFill>
                <a:effectLst/>
                <a:latin typeface="Bebas Neue" panose="020B0606020202050201" pitchFamily="34" charset="77"/>
                <a:ea typeface="Calibri" panose="020F0502020204030204" pitchFamily="34" charset="0"/>
                <a:cs typeface="Times New Roman" panose="02020603050405020304" pitchFamily="18" charset="0"/>
              </a:rPr>
              <a:t>KONTAKT</a:t>
            </a:r>
          </a:p>
        </p:txBody>
      </p:sp>
      <p:cxnSp>
        <p:nvCxnSpPr>
          <p:cNvPr id="4" name="Lige forbindelse 3">
            <a:extLst>
              <a:ext uri="{FF2B5EF4-FFF2-40B4-BE49-F238E27FC236}">
                <a16:creationId xmlns:a16="http://schemas.microsoft.com/office/drawing/2014/main" id="{B538E14C-F0B1-08A7-02C6-A21440FD40DC}"/>
              </a:ext>
            </a:extLst>
          </p:cNvPr>
          <p:cNvCxnSpPr/>
          <p:nvPr userDrawn="1"/>
        </p:nvCxnSpPr>
        <p:spPr>
          <a:xfrm>
            <a:off x="691376" y="3722200"/>
            <a:ext cx="1968284" cy="0"/>
          </a:xfrm>
          <a:prstGeom prst="line">
            <a:avLst/>
          </a:prstGeom>
          <a:ln w="57150">
            <a:solidFill>
              <a:srgbClr val="FF7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95">
            <a:extLst>
              <a:ext uri="{FF2B5EF4-FFF2-40B4-BE49-F238E27FC236}">
                <a16:creationId xmlns:a16="http://schemas.microsoft.com/office/drawing/2014/main" id="{9A9D03AD-9819-6571-8FF8-78F617D5F7E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3590" y="4829909"/>
            <a:ext cx="251961" cy="251961"/>
          </a:xfrm>
          <a:prstGeom prst="rect">
            <a:avLst/>
          </a:prstGeom>
        </p:spPr>
      </p:pic>
      <p:pic>
        <p:nvPicPr>
          <p:cNvPr id="12" name="Graphic 96">
            <a:extLst>
              <a:ext uri="{FF2B5EF4-FFF2-40B4-BE49-F238E27FC236}">
                <a16:creationId xmlns:a16="http://schemas.microsoft.com/office/drawing/2014/main" id="{F0A943F7-2841-8C68-AFC2-F61613C661B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85506" y="5242908"/>
            <a:ext cx="251961" cy="251961"/>
          </a:xfrm>
          <a:prstGeom prst="rect">
            <a:avLst/>
          </a:prstGeom>
        </p:spPr>
      </p:pic>
      <p:pic>
        <p:nvPicPr>
          <p:cNvPr id="19" name="Graphic 95">
            <a:extLst>
              <a:ext uri="{FF2B5EF4-FFF2-40B4-BE49-F238E27FC236}">
                <a16:creationId xmlns:a16="http://schemas.microsoft.com/office/drawing/2014/main" id="{3B55B4F0-A04B-1FAE-D456-BFB639588BA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07003" y="4798552"/>
            <a:ext cx="251961" cy="251961"/>
          </a:xfrm>
          <a:prstGeom prst="rect">
            <a:avLst/>
          </a:prstGeom>
        </p:spPr>
      </p:pic>
      <p:pic>
        <p:nvPicPr>
          <p:cNvPr id="20" name="Graphic 96">
            <a:extLst>
              <a:ext uri="{FF2B5EF4-FFF2-40B4-BE49-F238E27FC236}">
                <a16:creationId xmlns:a16="http://schemas.microsoft.com/office/drawing/2014/main" id="{3166D024-725E-972F-A0B0-31D6EE1FED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18919" y="5211551"/>
            <a:ext cx="251961" cy="251961"/>
          </a:xfrm>
          <a:prstGeom prst="rect">
            <a:avLst/>
          </a:prstGeom>
        </p:spPr>
      </p:pic>
      <p:sp>
        <p:nvSpPr>
          <p:cNvPr id="9" name="Pladsholder til billede 8">
            <a:extLst>
              <a:ext uri="{FF2B5EF4-FFF2-40B4-BE49-F238E27FC236}">
                <a16:creationId xmlns:a16="http://schemas.microsoft.com/office/drawing/2014/main" id="{0763E450-5300-C335-DD3F-EBD5F107DD8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73589" y="1998962"/>
            <a:ext cx="2295495" cy="1818024"/>
          </a:xfrm>
        </p:spPr>
        <p:txBody>
          <a:bodyPr/>
          <a:lstStyle/>
          <a:p>
            <a:r>
              <a:rPr lang="en-US"/>
              <a:t>Click icon to add picture</a:t>
            </a:r>
            <a:endParaRPr lang="da-DK"/>
          </a:p>
        </p:txBody>
      </p:sp>
      <p:sp>
        <p:nvSpPr>
          <p:cNvPr id="14" name="Pladsholder til billede 8">
            <a:extLst>
              <a:ext uri="{FF2B5EF4-FFF2-40B4-BE49-F238E27FC236}">
                <a16:creationId xmlns:a16="http://schemas.microsoft.com/office/drawing/2014/main" id="{D09701AE-B17C-6E17-0DE2-297F56E26D2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210922" y="1998962"/>
            <a:ext cx="2295495" cy="1818024"/>
          </a:xfrm>
        </p:spPr>
        <p:txBody>
          <a:bodyPr/>
          <a:lstStyle/>
          <a:p>
            <a:r>
              <a:rPr lang="en-US"/>
              <a:t>Click icon to add picture</a:t>
            </a:r>
            <a:endParaRPr lang="da-DK"/>
          </a:p>
        </p:txBody>
      </p:sp>
      <p:sp>
        <p:nvSpPr>
          <p:cNvPr id="17" name="Pladsholder til indhold 16">
            <a:extLst>
              <a:ext uri="{FF2B5EF4-FFF2-40B4-BE49-F238E27FC236}">
                <a16:creationId xmlns:a16="http://schemas.microsoft.com/office/drawing/2014/main" id="{2D3E5F16-A040-FD06-CF6E-07C1D8B82E6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773589" y="3881854"/>
            <a:ext cx="2295495" cy="279400"/>
          </a:xfrm>
        </p:spPr>
        <p:txBody>
          <a:bodyPr>
            <a:no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da-DK"/>
              <a:t>Indsæt dit Fulde navn</a:t>
            </a:r>
          </a:p>
        </p:txBody>
      </p:sp>
      <p:sp>
        <p:nvSpPr>
          <p:cNvPr id="23" name="Pladsholder til indhold 16">
            <a:extLst>
              <a:ext uri="{FF2B5EF4-FFF2-40B4-BE49-F238E27FC236}">
                <a16:creationId xmlns:a16="http://schemas.microsoft.com/office/drawing/2014/main" id="{57921E8B-1B18-30FC-DDD1-3C2F350B9D7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10921" y="3881854"/>
            <a:ext cx="2295495" cy="279400"/>
          </a:xfrm>
        </p:spPr>
        <p:txBody>
          <a:bodyPr>
            <a:no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da-DK"/>
              <a:t>Indsæt dit Fulde navn</a:t>
            </a:r>
          </a:p>
        </p:txBody>
      </p:sp>
      <p:sp>
        <p:nvSpPr>
          <p:cNvPr id="25" name="Pladsholder til tekst 24">
            <a:extLst>
              <a:ext uri="{FF2B5EF4-FFF2-40B4-BE49-F238E27FC236}">
                <a16:creationId xmlns:a16="http://schemas.microsoft.com/office/drawing/2014/main" id="{C64E6692-23BC-0BF2-6CBE-8DC87457B0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73589" y="4223613"/>
            <a:ext cx="2295495" cy="246221"/>
          </a:xfrm>
        </p:spPr>
        <p:txBody>
          <a:bodyPr>
            <a:normAutofit/>
          </a:bodyPr>
          <a:lstStyle>
            <a:lvl1pPr marL="0" indent="0" algn="l">
              <a:buNone/>
              <a:defRPr sz="1200"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a-DK"/>
              <a:t>Indsæt titel</a:t>
            </a:r>
          </a:p>
        </p:txBody>
      </p:sp>
      <p:sp>
        <p:nvSpPr>
          <p:cNvPr id="26" name="Pladsholder til tekst 24">
            <a:extLst>
              <a:ext uri="{FF2B5EF4-FFF2-40B4-BE49-F238E27FC236}">
                <a16:creationId xmlns:a16="http://schemas.microsoft.com/office/drawing/2014/main" id="{ED0BE65F-3925-320A-AED3-4B62627625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07003" y="4219024"/>
            <a:ext cx="2295495" cy="246221"/>
          </a:xfrm>
        </p:spPr>
        <p:txBody>
          <a:bodyPr>
            <a:normAutofit/>
          </a:bodyPr>
          <a:lstStyle>
            <a:lvl1pPr marL="0" indent="0" algn="l">
              <a:buNone/>
              <a:defRPr sz="1200"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a-DK"/>
              <a:t>Indsæt titel</a:t>
            </a:r>
          </a:p>
        </p:txBody>
      </p:sp>
      <p:sp>
        <p:nvSpPr>
          <p:cNvPr id="28" name="Pladsholder til tekst 27">
            <a:extLst>
              <a:ext uri="{FF2B5EF4-FFF2-40B4-BE49-F238E27FC236}">
                <a16:creationId xmlns:a16="http://schemas.microsoft.com/office/drawing/2014/main" id="{F59F9F80-ACFE-97EE-B505-D84D25132F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57753" y="4862300"/>
            <a:ext cx="1827213" cy="198438"/>
          </a:xfrm>
        </p:spPr>
        <p:txBody>
          <a:bodyPr>
            <a:noAutofit/>
          </a:bodyPr>
          <a:lstStyle>
            <a:lvl1pPr marL="0" indent="0">
              <a:buNone/>
              <a:defRPr sz="1000"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a-DK"/>
              <a:t>Indsæt e-mail</a:t>
            </a:r>
          </a:p>
        </p:txBody>
      </p:sp>
      <p:sp>
        <p:nvSpPr>
          <p:cNvPr id="29" name="Pladsholder til tekst 27">
            <a:extLst>
              <a:ext uri="{FF2B5EF4-FFF2-40B4-BE49-F238E27FC236}">
                <a16:creationId xmlns:a16="http://schemas.microsoft.com/office/drawing/2014/main" id="{1EB8E7F8-652B-5566-5048-60CF32E9A29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96684" y="4829909"/>
            <a:ext cx="1827213" cy="198438"/>
          </a:xfrm>
        </p:spPr>
        <p:txBody>
          <a:bodyPr>
            <a:noAutofit/>
          </a:bodyPr>
          <a:lstStyle>
            <a:lvl1pPr marL="0" indent="0">
              <a:buNone/>
              <a:defRPr sz="1000"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a-DK"/>
              <a:t>Indsæt e-mail</a:t>
            </a:r>
          </a:p>
        </p:txBody>
      </p:sp>
      <p:sp>
        <p:nvSpPr>
          <p:cNvPr id="30" name="Pladsholder til tekst 27">
            <a:extLst>
              <a:ext uri="{FF2B5EF4-FFF2-40B4-BE49-F238E27FC236}">
                <a16:creationId xmlns:a16="http://schemas.microsoft.com/office/drawing/2014/main" id="{27FB11C1-FC54-ADE8-A9F3-37394E04B4D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37467" y="5244974"/>
            <a:ext cx="1827213" cy="198438"/>
          </a:xfrm>
        </p:spPr>
        <p:txBody>
          <a:bodyPr>
            <a:noAutofit/>
          </a:bodyPr>
          <a:lstStyle>
            <a:lvl1pPr marL="0" indent="0">
              <a:buNone/>
              <a:defRPr sz="1000"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a-DK"/>
              <a:t>Indsæt telefonnummer</a:t>
            </a:r>
          </a:p>
        </p:txBody>
      </p:sp>
      <p:sp>
        <p:nvSpPr>
          <p:cNvPr id="31" name="Pladsholder til tekst 27">
            <a:extLst>
              <a:ext uri="{FF2B5EF4-FFF2-40B4-BE49-F238E27FC236}">
                <a16:creationId xmlns:a16="http://schemas.microsoft.com/office/drawing/2014/main" id="{6C90CAE9-8DB5-77AF-7124-273BC24F918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501057" y="5233534"/>
            <a:ext cx="1827213" cy="198438"/>
          </a:xfrm>
        </p:spPr>
        <p:txBody>
          <a:bodyPr>
            <a:noAutofit/>
          </a:bodyPr>
          <a:lstStyle>
            <a:lvl1pPr marL="0" indent="0">
              <a:buNone/>
              <a:defRPr sz="1000"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a-DK"/>
              <a:t>Indsæt telefonnummer</a:t>
            </a:r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82927793-8177-5ACD-C979-8BA517036F4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714205" y="6355506"/>
            <a:ext cx="350796" cy="370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0583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slide_2">
    <p:bg>
      <p:bgPr>
        <a:solidFill>
          <a:srgbClr val="4559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lede 7">
            <a:extLst>
              <a:ext uri="{FF2B5EF4-FFF2-40B4-BE49-F238E27FC236}">
                <a16:creationId xmlns:a16="http://schemas.microsoft.com/office/drawing/2014/main" id="{7037A58C-B0CD-8807-885A-92F68DA1F98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76500" y="-4787197"/>
            <a:ext cx="14973300" cy="21189109"/>
          </a:xfrm>
          <a:prstGeom prst="rect">
            <a:avLst/>
          </a:prstGeom>
        </p:spPr>
      </p:pic>
      <p:pic>
        <p:nvPicPr>
          <p:cNvPr id="13" name="Billede 12" descr="Et billede, der indeholder nattehimmel&#10;&#10;Automatisk genereret beskrivelse">
            <a:extLst>
              <a:ext uri="{FF2B5EF4-FFF2-40B4-BE49-F238E27FC236}">
                <a16:creationId xmlns:a16="http://schemas.microsoft.com/office/drawing/2014/main" id="{DC698BB0-4F6B-5604-D6F9-467284702E8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70000"/>
          </a:blip>
          <a:srcRect t="22213" r="18390" b="37175"/>
          <a:stretch/>
        </p:blipFill>
        <p:spPr>
          <a:xfrm>
            <a:off x="2453640" y="1"/>
            <a:ext cx="9738360" cy="6858000"/>
          </a:xfrm>
          <a:prstGeom prst="rect">
            <a:avLst/>
          </a:prstGeom>
        </p:spPr>
      </p:pic>
      <p:sp>
        <p:nvSpPr>
          <p:cNvPr id="6" name="TextBox 63">
            <a:extLst>
              <a:ext uri="{FF2B5EF4-FFF2-40B4-BE49-F238E27FC236}">
                <a16:creationId xmlns:a16="http://schemas.microsoft.com/office/drawing/2014/main" id="{98BBC1E4-CB83-53E5-7E35-4A41C2D862F1}"/>
              </a:ext>
            </a:extLst>
          </p:cNvPr>
          <p:cNvSpPr txBox="1"/>
          <p:nvPr userDrawn="1"/>
        </p:nvSpPr>
        <p:spPr>
          <a:xfrm>
            <a:off x="591246" y="2967335"/>
            <a:ext cx="29749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>
                <a:solidFill>
                  <a:srgbClr val="E3DDD5"/>
                </a:solidFill>
                <a:effectLst/>
                <a:latin typeface="Bebas Neue" panose="020B0606020202050201" pitchFamily="34" charset="77"/>
                <a:ea typeface="Calibri" panose="020F0502020204030204" pitchFamily="34" charset="0"/>
                <a:cs typeface="Times New Roman" panose="02020603050405020304" pitchFamily="18" charset="0"/>
              </a:rPr>
              <a:t>KONTAKT</a:t>
            </a:r>
          </a:p>
        </p:txBody>
      </p:sp>
      <p:cxnSp>
        <p:nvCxnSpPr>
          <p:cNvPr id="7" name="Lige forbindelse 6">
            <a:extLst>
              <a:ext uri="{FF2B5EF4-FFF2-40B4-BE49-F238E27FC236}">
                <a16:creationId xmlns:a16="http://schemas.microsoft.com/office/drawing/2014/main" id="{780929EF-B298-E542-1782-880865B04395}"/>
              </a:ext>
            </a:extLst>
          </p:cNvPr>
          <p:cNvCxnSpPr/>
          <p:nvPr userDrawn="1"/>
        </p:nvCxnSpPr>
        <p:spPr>
          <a:xfrm>
            <a:off x="685800" y="3727776"/>
            <a:ext cx="1968284" cy="0"/>
          </a:xfrm>
          <a:prstGeom prst="line">
            <a:avLst/>
          </a:prstGeom>
          <a:ln w="57150">
            <a:solidFill>
              <a:srgbClr val="FF7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phic 95">
            <a:extLst>
              <a:ext uri="{FF2B5EF4-FFF2-40B4-BE49-F238E27FC236}">
                <a16:creationId xmlns:a16="http://schemas.microsoft.com/office/drawing/2014/main" id="{CB73D3F5-DB61-E6BA-B220-BABB6B23DF9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3590" y="4829909"/>
            <a:ext cx="251961" cy="251961"/>
          </a:xfrm>
          <a:prstGeom prst="rect">
            <a:avLst/>
          </a:prstGeom>
        </p:spPr>
      </p:pic>
      <p:pic>
        <p:nvPicPr>
          <p:cNvPr id="10" name="Graphic 96">
            <a:extLst>
              <a:ext uri="{FF2B5EF4-FFF2-40B4-BE49-F238E27FC236}">
                <a16:creationId xmlns:a16="http://schemas.microsoft.com/office/drawing/2014/main" id="{C7E76EAE-A5F3-09F1-605E-77D2125E0AF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85506" y="5242908"/>
            <a:ext cx="251961" cy="251961"/>
          </a:xfrm>
          <a:prstGeom prst="rect">
            <a:avLst/>
          </a:prstGeom>
        </p:spPr>
      </p:pic>
      <p:pic>
        <p:nvPicPr>
          <p:cNvPr id="12" name="Graphic 95">
            <a:extLst>
              <a:ext uri="{FF2B5EF4-FFF2-40B4-BE49-F238E27FC236}">
                <a16:creationId xmlns:a16="http://schemas.microsoft.com/office/drawing/2014/main" id="{35D28F6A-37CC-9B17-74AD-87D647B35F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07003" y="4798552"/>
            <a:ext cx="251961" cy="251961"/>
          </a:xfrm>
          <a:prstGeom prst="rect">
            <a:avLst/>
          </a:prstGeom>
        </p:spPr>
      </p:pic>
      <p:pic>
        <p:nvPicPr>
          <p:cNvPr id="14" name="Graphic 96">
            <a:extLst>
              <a:ext uri="{FF2B5EF4-FFF2-40B4-BE49-F238E27FC236}">
                <a16:creationId xmlns:a16="http://schemas.microsoft.com/office/drawing/2014/main" id="{87FCBF79-43E8-6A43-C5CB-51C3167E10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18919" y="5211551"/>
            <a:ext cx="251961" cy="251961"/>
          </a:xfrm>
          <a:prstGeom prst="rect">
            <a:avLst/>
          </a:prstGeom>
        </p:spPr>
      </p:pic>
      <p:sp>
        <p:nvSpPr>
          <p:cNvPr id="15" name="Pladsholder til billede 8">
            <a:extLst>
              <a:ext uri="{FF2B5EF4-FFF2-40B4-BE49-F238E27FC236}">
                <a16:creationId xmlns:a16="http://schemas.microsoft.com/office/drawing/2014/main" id="{10163504-42BB-4A09-2A02-A6A8A4B1C8D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73589" y="1998962"/>
            <a:ext cx="2295495" cy="1818024"/>
          </a:xfrm>
        </p:spPr>
        <p:txBody>
          <a:bodyPr/>
          <a:lstStyle>
            <a:lvl1pPr>
              <a:defRPr>
                <a:solidFill>
                  <a:srgbClr val="E3DDD5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a-DK"/>
          </a:p>
        </p:txBody>
      </p:sp>
      <p:sp>
        <p:nvSpPr>
          <p:cNvPr id="16" name="Pladsholder til billede 8">
            <a:extLst>
              <a:ext uri="{FF2B5EF4-FFF2-40B4-BE49-F238E27FC236}">
                <a16:creationId xmlns:a16="http://schemas.microsoft.com/office/drawing/2014/main" id="{40201EA3-ECC8-535F-586A-B2295BB173C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210922" y="1998962"/>
            <a:ext cx="2295495" cy="1818024"/>
          </a:xfrm>
        </p:spPr>
        <p:txBody>
          <a:bodyPr/>
          <a:lstStyle>
            <a:lvl1pPr>
              <a:defRPr>
                <a:solidFill>
                  <a:srgbClr val="E3DDD5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a-DK"/>
          </a:p>
        </p:txBody>
      </p:sp>
      <p:sp>
        <p:nvSpPr>
          <p:cNvPr id="17" name="Pladsholder til indhold 16">
            <a:extLst>
              <a:ext uri="{FF2B5EF4-FFF2-40B4-BE49-F238E27FC236}">
                <a16:creationId xmlns:a16="http://schemas.microsoft.com/office/drawing/2014/main" id="{AA1123BF-5964-0EF4-C095-B3EB0C1158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773589" y="3881854"/>
            <a:ext cx="2295495" cy="279400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rgbClr val="E3DDD5"/>
                </a:solidFill>
              </a:defRPr>
            </a:lvl1pPr>
          </a:lstStyle>
          <a:p>
            <a:pPr lvl="0"/>
            <a:r>
              <a:rPr lang="da-DK"/>
              <a:t>Indsæt dit Fulde navn</a:t>
            </a:r>
          </a:p>
        </p:txBody>
      </p:sp>
      <p:sp>
        <p:nvSpPr>
          <p:cNvPr id="18" name="Pladsholder til indhold 16">
            <a:extLst>
              <a:ext uri="{FF2B5EF4-FFF2-40B4-BE49-F238E27FC236}">
                <a16:creationId xmlns:a16="http://schemas.microsoft.com/office/drawing/2014/main" id="{53EB501D-516A-3AF0-B241-2E3FE2B6120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10921" y="3881854"/>
            <a:ext cx="2295495" cy="279400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rgbClr val="E3DDD5"/>
                </a:solidFill>
              </a:defRPr>
            </a:lvl1pPr>
          </a:lstStyle>
          <a:p>
            <a:pPr lvl="0"/>
            <a:r>
              <a:rPr lang="da-DK"/>
              <a:t>Indsæt dit Fulde navn</a:t>
            </a:r>
          </a:p>
        </p:txBody>
      </p:sp>
      <p:sp>
        <p:nvSpPr>
          <p:cNvPr id="19" name="Pladsholder til tekst 24">
            <a:extLst>
              <a:ext uri="{FF2B5EF4-FFF2-40B4-BE49-F238E27FC236}">
                <a16:creationId xmlns:a16="http://schemas.microsoft.com/office/drawing/2014/main" id="{0B27FE8B-FE90-41CE-C491-E28EBCD678C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73589" y="4223613"/>
            <a:ext cx="2295495" cy="246221"/>
          </a:xfrm>
        </p:spPr>
        <p:txBody>
          <a:bodyPr>
            <a:normAutofit/>
          </a:bodyPr>
          <a:lstStyle>
            <a:lvl1pPr marL="0" indent="0" algn="l">
              <a:buNone/>
              <a:defRPr sz="1200">
                <a:solidFill>
                  <a:srgbClr val="E3DDD5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a-DK"/>
              <a:t>Indsæt titel</a:t>
            </a:r>
          </a:p>
        </p:txBody>
      </p:sp>
      <p:sp>
        <p:nvSpPr>
          <p:cNvPr id="20" name="Pladsholder til tekst 24">
            <a:extLst>
              <a:ext uri="{FF2B5EF4-FFF2-40B4-BE49-F238E27FC236}">
                <a16:creationId xmlns:a16="http://schemas.microsoft.com/office/drawing/2014/main" id="{8BCD6D0B-2804-E3F7-1D0B-283C921250A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07003" y="4219024"/>
            <a:ext cx="2295495" cy="246221"/>
          </a:xfrm>
        </p:spPr>
        <p:txBody>
          <a:bodyPr>
            <a:normAutofit/>
          </a:bodyPr>
          <a:lstStyle>
            <a:lvl1pPr marL="0" indent="0" algn="l">
              <a:buNone/>
              <a:defRPr sz="1200">
                <a:solidFill>
                  <a:srgbClr val="E3DDD5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a-DK"/>
              <a:t>Indsæt titel</a:t>
            </a:r>
          </a:p>
        </p:txBody>
      </p:sp>
      <p:sp>
        <p:nvSpPr>
          <p:cNvPr id="21" name="Pladsholder til tekst 27">
            <a:extLst>
              <a:ext uri="{FF2B5EF4-FFF2-40B4-BE49-F238E27FC236}">
                <a16:creationId xmlns:a16="http://schemas.microsoft.com/office/drawing/2014/main" id="{3C61AC8B-C7D8-1D8B-A2B3-E8647961869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57753" y="4862300"/>
            <a:ext cx="1827213" cy="19843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E3DDD5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a-DK"/>
              <a:t>Indsæt e-mail</a:t>
            </a:r>
          </a:p>
        </p:txBody>
      </p:sp>
      <p:sp>
        <p:nvSpPr>
          <p:cNvPr id="22" name="Pladsholder til tekst 27">
            <a:extLst>
              <a:ext uri="{FF2B5EF4-FFF2-40B4-BE49-F238E27FC236}">
                <a16:creationId xmlns:a16="http://schemas.microsoft.com/office/drawing/2014/main" id="{07E0FEAD-508F-2FB9-CEE4-565C7345744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96684" y="4829909"/>
            <a:ext cx="1827213" cy="19843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E3DDD5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a-DK"/>
              <a:t>Indsæt e-mail</a:t>
            </a:r>
          </a:p>
        </p:txBody>
      </p:sp>
      <p:sp>
        <p:nvSpPr>
          <p:cNvPr id="23" name="Pladsholder til tekst 27">
            <a:extLst>
              <a:ext uri="{FF2B5EF4-FFF2-40B4-BE49-F238E27FC236}">
                <a16:creationId xmlns:a16="http://schemas.microsoft.com/office/drawing/2014/main" id="{94C8F1BF-6B48-0070-2F5F-62D70E2A267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37467" y="5244974"/>
            <a:ext cx="1827213" cy="19843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E3DDD5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a-DK"/>
              <a:t>Indsæt telefonnummer</a:t>
            </a:r>
          </a:p>
        </p:txBody>
      </p:sp>
      <p:sp>
        <p:nvSpPr>
          <p:cNvPr id="24" name="Pladsholder til tekst 27">
            <a:extLst>
              <a:ext uri="{FF2B5EF4-FFF2-40B4-BE49-F238E27FC236}">
                <a16:creationId xmlns:a16="http://schemas.microsoft.com/office/drawing/2014/main" id="{1F039AC3-F0A5-E3C7-42AD-ED9A238B88A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501057" y="5233534"/>
            <a:ext cx="1827213" cy="19843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E3DDD5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a-DK"/>
              <a:t>Indsæt telefonnummer</a:t>
            </a:r>
          </a:p>
        </p:txBody>
      </p:sp>
      <p:pic>
        <p:nvPicPr>
          <p:cNvPr id="2" name="Billede 1">
            <a:extLst>
              <a:ext uri="{FF2B5EF4-FFF2-40B4-BE49-F238E27FC236}">
                <a16:creationId xmlns:a16="http://schemas.microsoft.com/office/drawing/2014/main" id="{2CB61507-B3CD-94DC-E1D3-68D20A18A5D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713356" y="6352924"/>
            <a:ext cx="350796" cy="37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8369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fslutning_logo_1">
    <p:bg>
      <p:bgPr>
        <a:solidFill>
          <a:srgbClr val="E3DD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 descr="Et billede, der indeholder nattehimmel&#10;&#10;Automatisk genereret beskrivelse">
            <a:extLst>
              <a:ext uri="{FF2B5EF4-FFF2-40B4-BE49-F238E27FC236}">
                <a16:creationId xmlns:a16="http://schemas.microsoft.com/office/drawing/2014/main" id="{F6942427-E9EF-35CD-4035-FDC62EEE54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0"/>
          </a:blip>
          <a:srcRect t="22213" r="18390" b="37175"/>
          <a:stretch/>
        </p:blipFill>
        <p:spPr>
          <a:xfrm>
            <a:off x="2453640" y="1"/>
            <a:ext cx="9738360" cy="6858000"/>
          </a:xfrm>
          <a:prstGeom prst="rect">
            <a:avLst/>
          </a:prstGeom>
        </p:spPr>
      </p:pic>
      <p:pic>
        <p:nvPicPr>
          <p:cNvPr id="2" name="Billede 1" descr="Et billede, der indeholder tekst, Font/skrifttype, Grafik, logo&#10;&#10;Automatisk genereret beskrivelse">
            <a:extLst>
              <a:ext uri="{FF2B5EF4-FFF2-40B4-BE49-F238E27FC236}">
                <a16:creationId xmlns:a16="http://schemas.microsoft.com/office/drawing/2014/main" id="{E1A1E9B3-E85D-6EA8-80C4-70D7700438F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44616" y="1644076"/>
            <a:ext cx="7772400" cy="3569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45604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fslutning_logo_2">
    <p:bg>
      <p:bgPr>
        <a:solidFill>
          <a:srgbClr val="4559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lede 6">
            <a:extLst>
              <a:ext uri="{FF2B5EF4-FFF2-40B4-BE49-F238E27FC236}">
                <a16:creationId xmlns:a16="http://schemas.microsoft.com/office/drawing/2014/main" id="{33B0901A-76F6-1773-AC08-C8F8622CD1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76500" y="-4787197"/>
            <a:ext cx="14973300" cy="21189109"/>
          </a:xfrm>
          <a:prstGeom prst="rect">
            <a:avLst/>
          </a:prstGeom>
        </p:spPr>
      </p:pic>
      <p:pic>
        <p:nvPicPr>
          <p:cNvPr id="4" name="Billede 3" descr="Et billede, der indeholder tekst, Font/skrifttype, Grafik, logo&#10;&#10;Automatisk genereret beskrivelse">
            <a:extLst>
              <a:ext uri="{FF2B5EF4-FFF2-40B4-BE49-F238E27FC236}">
                <a16:creationId xmlns:a16="http://schemas.microsoft.com/office/drawing/2014/main" id="{8D3A1555-AD5C-E309-21B9-835430DC1E5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44616" y="1644076"/>
            <a:ext cx="7772400" cy="3569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2558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Rent_slide_1">
    <p:bg>
      <p:bgPr>
        <a:solidFill>
          <a:srgbClr val="E3DD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 descr="Et billede, der indeholder nattehimmel&#10;&#10;Automatisk genereret beskrivelse">
            <a:extLst>
              <a:ext uri="{FF2B5EF4-FFF2-40B4-BE49-F238E27FC236}">
                <a16:creationId xmlns:a16="http://schemas.microsoft.com/office/drawing/2014/main" id="{5DBC6908-20A1-F787-CC06-A465F766D8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0"/>
          </a:blip>
          <a:srcRect t="22213" r="18390" b="37175"/>
          <a:stretch/>
        </p:blipFill>
        <p:spPr>
          <a:xfrm>
            <a:off x="2453640" y="1"/>
            <a:ext cx="9738360" cy="6858000"/>
          </a:xfrm>
          <a:prstGeom prst="rect">
            <a:avLst/>
          </a:prstGeom>
        </p:spPr>
      </p:pic>
      <p:pic>
        <p:nvPicPr>
          <p:cNvPr id="4" name="Billede 3">
            <a:extLst>
              <a:ext uri="{FF2B5EF4-FFF2-40B4-BE49-F238E27FC236}">
                <a16:creationId xmlns:a16="http://schemas.microsoft.com/office/drawing/2014/main" id="{D42020E0-B9F1-7C76-9FCA-9BB43B22CA5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14205" y="6355506"/>
            <a:ext cx="350796" cy="370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95239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Rent_slide_2">
    <p:bg>
      <p:bgPr>
        <a:solidFill>
          <a:srgbClr val="4559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lede 6">
            <a:extLst>
              <a:ext uri="{FF2B5EF4-FFF2-40B4-BE49-F238E27FC236}">
                <a16:creationId xmlns:a16="http://schemas.microsoft.com/office/drawing/2014/main" id="{33B0901A-76F6-1773-AC08-C8F8622CD1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76500" y="-4787197"/>
            <a:ext cx="14973300" cy="21189109"/>
          </a:xfrm>
          <a:prstGeom prst="rect">
            <a:avLst/>
          </a:prstGeom>
        </p:spPr>
      </p:pic>
      <p:pic>
        <p:nvPicPr>
          <p:cNvPr id="3" name="Billede 2">
            <a:extLst>
              <a:ext uri="{FF2B5EF4-FFF2-40B4-BE49-F238E27FC236}">
                <a16:creationId xmlns:a16="http://schemas.microsoft.com/office/drawing/2014/main" id="{1E126854-C36C-A6E8-297C-D2C5CB2E8B0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13356" y="6352924"/>
            <a:ext cx="350796" cy="37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4773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Rent_slide_uden_form_1">
    <p:bg>
      <p:bgPr>
        <a:solidFill>
          <a:srgbClr val="E3DD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93B20C0E-06FF-EE44-F4AE-9979987ED6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09203" y="6138734"/>
            <a:ext cx="555798" cy="587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5662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Rent_slide_uden_form_2">
    <p:bg>
      <p:bgPr>
        <a:solidFill>
          <a:srgbClr val="4559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>
            <a:extLst>
              <a:ext uri="{FF2B5EF4-FFF2-40B4-BE49-F238E27FC236}">
                <a16:creationId xmlns:a16="http://schemas.microsoft.com/office/drawing/2014/main" id="{5625A657-5C56-729B-C6AD-0919DE5BFE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457709" y="6082289"/>
            <a:ext cx="555798" cy="587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4054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Overskrift + underoverskrift_1">
    <p:bg>
      <p:bgPr>
        <a:solidFill>
          <a:srgbClr val="E3DD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A1E764-0299-94EA-A23F-59C15DBD6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0342A98-55DA-6D69-0B07-0AB528605240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a-DK"/>
              <a:t>underoverskrift</a:t>
            </a:r>
          </a:p>
        </p:txBody>
      </p:sp>
      <p:cxnSp>
        <p:nvCxnSpPr>
          <p:cNvPr id="4" name="Lige forbindelse 3">
            <a:extLst>
              <a:ext uri="{FF2B5EF4-FFF2-40B4-BE49-F238E27FC236}">
                <a16:creationId xmlns:a16="http://schemas.microsoft.com/office/drawing/2014/main" id="{2322B111-5FB7-0790-C112-1FB0F4A02809}"/>
              </a:ext>
            </a:extLst>
          </p:cNvPr>
          <p:cNvCxnSpPr/>
          <p:nvPr userDrawn="1"/>
        </p:nvCxnSpPr>
        <p:spPr>
          <a:xfrm>
            <a:off x="935414" y="1347768"/>
            <a:ext cx="1968284" cy="0"/>
          </a:xfrm>
          <a:prstGeom prst="line">
            <a:avLst/>
          </a:prstGeom>
          <a:ln w="57150">
            <a:solidFill>
              <a:srgbClr val="FF7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Billede 4" descr="Et billede, der indeholder nattehimmel&#10;&#10;Automatisk genereret beskrivelse">
            <a:extLst>
              <a:ext uri="{FF2B5EF4-FFF2-40B4-BE49-F238E27FC236}">
                <a16:creationId xmlns:a16="http://schemas.microsoft.com/office/drawing/2014/main" id="{CC5ED916-4F0B-9154-B18D-9B3F2FA482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0"/>
          </a:blip>
          <a:srcRect t="22213" r="18390" b="37175"/>
          <a:stretch/>
        </p:blipFill>
        <p:spPr>
          <a:xfrm>
            <a:off x="2453640" y="1"/>
            <a:ext cx="9738360" cy="6858000"/>
          </a:xfrm>
          <a:prstGeom prst="rect">
            <a:avLst/>
          </a:prstGeom>
        </p:spPr>
      </p:pic>
      <p:pic>
        <p:nvPicPr>
          <p:cNvPr id="6" name="Billede 5">
            <a:extLst>
              <a:ext uri="{FF2B5EF4-FFF2-40B4-BE49-F238E27FC236}">
                <a16:creationId xmlns:a16="http://schemas.microsoft.com/office/drawing/2014/main" id="{3EB7789A-D304-2C83-D896-56859637CD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509203" y="6138734"/>
            <a:ext cx="555798" cy="587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22721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5414CE09-BCB7-4B6E-870D-CDD4D587596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12009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14CE09-BCB7-4B6E-870D-CDD4D58759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740CF71-46E6-4A24-BA63-6E68E4C75D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754062"/>
            <a:ext cx="11472001" cy="418128"/>
          </a:xfrm>
        </p:spPr>
        <p:txBody>
          <a:bodyPr vert="horz">
            <a:spAutoFit/>
          </a:bodyPr>
          <a:lstStyle>
            <a:lvl1pPr rtl="0">
              <a:defRPr cap="all" baseline="0"/>
            </a:lvl1pPr>
          </a:lstStyle>
          <a:p>
            <a:r>
              <a:rPr lang="da-DK" noProof="0"/>
              <a:t>Klik for at redigere titlen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0E7212-9AEB-43E0-A594-DEE09999FF7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C438F0F-9FEE-4D8A-842B-39B055FD6BF1}" type="slidenum">
              <a:rPr lang="da-DK" smtClean="0"/>
              <a:pPr/>
              <a:t>‹nr.›</a:t>
            </a:fld>
            <a:endParaRPr lang="da-DK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3372E624-CF0D-4C91-B247-EAD50974E16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60000" y="1690688"/>
            <a:ext cx="11472001" cy="4668811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a-DK" noProof="0"/>
              <a:t>Klik for at redigere teksttypografierne i masteren</a:t>
            </a:r>
          </a:p>
          <a:p>
            <a:pPr lvl="1"/>
            <a:r>
              <a:rPr lang="da-DK" noProof="0"/>
              <a:t>Andet niveau</a:t>
            </a:r>
          </a:p>
          <a:p>
            <a:pPr lvl="2"/>
            <a:r>
              <a:rPr lang="da-DK" noProof="0"/>
              <a:t>Tredje niveau</a:t>
            </a:r>
          </a:p>
          <a:p>
            <a:pPr lvl="3"/>
            <a:r>
              <a:rPr lang="da-DK" noProof="0"/>
              <a:t>Fjerde niveau</a:t>
            </a:r>
          </a:p>
          <a:p>
            <a:pPr lvl="4"/>
            <a:r>
              <a:rPr lang="da-DK" noProof="0"/>
              <a:t>Femte niveau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F079945-7205-4A35-9FEC-9005C6B753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000" y="1254895"/>
            <a:ext cx="11472001" cy="246221"/>
          </a:xfrm>
          <a:noFill/>
        </p:spPr>
        <p:txBody>
          <a:bodyPr lIns="0" tIns="0" rIns="0" bIns="0" anchor="t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600" b="1" spc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da-DK" noProof="0"/>
              <a:t>Klik for at redigere Master-undertekstformat</a:t>
            </a:r>
          </a:p>
        </p:txBody>
      </p:sp>
      <p:cxnSp>
        <p:nvCxnSpPr>
          <p:cNvPr id="19" name="Lige forbindelse 4">
            <a:extLst>
              <a:ext uri="{FF2B5EF4-FFF2-40B4-BE49-F238E27FC236}">
                <a16:creationId xmlns:a16="http://schemas.microsoft.com/office/drawing/2014/main" id="{F0552D8C-A7AD-4522-9C1C-AE145547A0AF}"/>
              </a:ext>
            </a:extLst>
          </p:cNvPr>
          <p:cNvCxnSpPr>
            <a:cxnSpLocks/>
          </p:cNvCxnSpPr>
          <p:nvPr userDrawn="1"/>
        </p:nvCxnSpPr>
        <p:spPr>
          <a:xfrm>
            <a:off x="360000" y="545078"/>
            <a:ext cx="1345065" cy="0"/>
          </a:xfrm>
          <a:prstGeom prst="line">
            <a:avLst/>
          </a:prstGeom>
          <a:ln w="57150">
            <a:solidFill>
              <a:srgbClr val="FF7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29">
            <a:extLst>
              <a:ext uri="{FF2B5EF4-FFF2-40B4-BE49-F238E27FC236}">
                <a16:creationId xmlns:a16="http://schemas.microsoft.com/office/drawing/2014/main" id="{C7A8C851-679B-47EA-929D-FA9065F7FD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26150" y="6537119"/>
            <a:ext cx="99397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Arial" panose="020B0604020202020204" pitchFamily="34" charset="0"/>
              <a:buNone/>
              <a:defRPr lang="da-DK" sz="1000" kern="1200" cap="all" spc="3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da-DK" noProof="0"/>
              <a:t>Privat/Fortroligt</a:t>
            </a:r>
          </a:p>
        </p:txBody>
      </p:sp>
    </p:spTree>
    <p:extLst>
      <p:ext uri="{BB962C8B-B14F-4D97-AF65-F5344CB8AC3E}">
        <p14:creationId xmlns:p14="http://schemas.microsoft.com/office/powerpoint/2010/main" val="1133180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09ABE810-CE00-3A7C-EDEA-DB0BC4920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753F7DFF-5096-DC5F-846C-55477B825E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</p:spTree>
    <p:extLst>
      <p:ext uri="{BB962C8B-B14F-4D97-AF65-F5344CB8AC3E}">
        <p14:creationId xmlns:p14="http://schemas.microsoft.com/office/powerpoint/2010/main" val="1231883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  <p:sldLayoutId id="2147483688" r:id="rId19"/>
    <p:sldLayoutId id="2147483689" r:id="rId20"/>
    <p:sldLayoutId id="2147483690" r:id="rId21"/>
    <p:sldLayoutId id="2147483691" r:id="rId22"/>
    <p:sldLayoutId id="2147483692" r:id="rId23"/>
    <p:sldLayoutId id="2147483693" r:id="rId24"/>
    <p:sldLayoutId id="2147483694" r:id="rId25"/>
    <p:sldLayoutId id="2147483695" r:id="rId26"/>
    <p:sldLayoutId id="2147483696" r:id="rId27"/>
    <p:sldLayoutId id="2147483697" r:id="rId28"/>
    <p:sldLayoutId id="2147483698" r:id="rId2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000" kern="1200">
          <a:solidFill>
            <a:srgbClr val="374A05"/>
          </a:solidFill>
          <a:latin typeface="Bebas Neue" panose="020B0606020202050201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455976"/>
          </a:solidFill>
          <a:latin typeface="Bebas Neue" panose="020B0606020202050201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Source Sans Pro" panose="020F0502020204030204" pitchFamily="34" charset="0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Source Sans Pro" panose="020F0502020204030204" pitchFamily="34" charset="0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Source Sans Pro" panose="020F0502020204030204" pitchFamily="34" charset="0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Source Sans Pro" panose="020F0502020204030204" pitchFamily="34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ziobrando.blogspot.dk/2013/11/introducing-event-storming.html" TargetMode="Externa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7" Type="http://schemas.openxmlformats.org/officeDocument/2006/relationships/image" Target="../media/image29.svg"/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33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svg"/><Relationship Id="rId7" Type="http://schemas.openxmlformats.org/officeDocument/2006/relationships/image" Target="../media/image39.png"/><Relationship Id="rId2" Type="http://schemas.openxmlformats.org/officeDocument/2006/relationships/image" Target="../media/image34.sv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sv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43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svg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47.svg"/><Relationship Id="rId4" Type="http://schemas.openxmlformats.org/officeDocument/2006/relationships/image" Target="../media/image46.sv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9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8.png"/><Relationship Id="rId5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svg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8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4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6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8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svg"/><Relationship Id="rId1" Type="http://schemas.openxmlformats.org/officeDocument/2006/relationships/slideLayout" Target="../slideLayouts/slideLayout8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37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9" Type="http://schemas.openxmlformats.org/officeDocument/2006/relationships/image" Target="../media/image67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8.png"/><Relationship Id="rId5" Type="http://schemas.openxmlformats.org/officeDocument/2006/relationships/image" Target="../media/image48.png"/><Relationship Id="rId4" Type="http://schemas.openxmlformats.org/officeDocument/2006/relationships/image" Target="../media/image40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9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svg"/><Relationship Id="rId1" Type="http://schemas.openxmlformats.org/officeDocument/2006/relationships/slideLayout" Target="../slideLayouts/slideLayout9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svg"/><Relationship Id="rId1" Type="http://schemas.openxmlformats.org/officeDocument/2006/relationships/slideLayout" Target="../slideLayouts/slideLayout9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1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6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4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9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4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svg"/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8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2.pn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9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49AB0-4B9B-F27A-64F5-83CFF9A80C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40258" y="2000677"/>
            <a:ext cx="7311483" cy="1818293"/>
          </a:xfrm>
        </p:spPr>
        <p:txBody>
          <a:bodyPr>
            <a:noAutofit/>
          </a:bodyPr>
          <a:lstStyle/>
          <a:p>
            <a:r>
              <a:rPr lang="en-US" sz="6600" dirty="0"/>
              <a:t>Scalable Architecture using Microservices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9BA2E3-DF96-7B46-50C4-7C2FCB459166}"/>
              </a:ext>
            </a:extLst>
          </p:cNvPr>
          <p:cNvSpPr txBox="1"/>
          <p:nvPr/>
        </p:nvSpPr>
        <p:spPr>
          <a:xfrm>
            <a:off x="2263697" y="6303764"/>
            <a:ext cx="74880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accent5"/>
                </a:solidFill>
              </a:rPr>
              <a:t>© Copyright </a:t>
            </a:r>
            <a:r>
              <a:rPr lang="en-US" sz="1600" dirty="0" err="1">
                <a:solidFill>
                  <a:schemeClr val="accent5"/>
                </a:solidFill>
              </a:rPr>
              <a:t>Trustworks</a:t>
            </a:r>
            <a:r>
              <a:rPr lang="en-US" sz="1600" dirty="0">
                <a:solidFill>
                  <a:schemeClr val="accent5"/>
                </a:solidFill>
              </a:rPr>
              <a:t> 2025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307CAA2-9C44-D12D-125E-845B9BBBB2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848502"/>
            <a:ext cx="9144000" cy="2425730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endParaRPr lang="en-US" sz="2800" dirty="0">
              <a:latin typeface="Bebas Neue"/>
            </a:endParaRPr>
          </a:p>
          <a:p>
            <a:r>
              <a:rPr lang="en-US" sz="4400" b="1" dirty="0">
                <a:solidFill>
                  <a:schemeClr val="accent4"/>
                </a:solidFill>
                <a:latin typeface="Bebas Neue"/>
              </a:rPr>
              <a:t>Module 6</a:t>
            </a:r>
          </a:p>
          <a:p>
            <a:r>
              <a:rPr lang="en-US" sz="4400" b="1" dirty="0">
                <a:solidFill>
                  <a:schemeClr val="accent4"/>
                </a:solidFill>
                <a:latin typeface="Bebas Neue"/>
              </a:rPr>
              <a:t>Simplifying with Event Modeling, Event Sourcing, and CQRS</a:t>
            </a:r>
          </a:p>
          <a:p>
            <a:endParaRPr lang="en-US" sz="2800" dirty="0">
              <a:latin typeface="Bebas Neue"/>
            </a:endParaRPr>
          </a:p>
          <a:p>
            <a:r>
              <a:rPr lang="en-US" sz="2800" dirty="0">
                <a:latin typeface="Bebas Neue"/>
              </a:rPr>
              <a:t>Jeppe </a:t>
            </a:r>
            <a:r>
              <a:rPr lang="en-US" sz="2800" dirty="0" err="1">
                <a:latin typeface="Bebas Neue"/>
              </a:rPr>
              <a:t>Cramon</a:t>
            </a:r>
            <a:endParaRPr lang="en-US" sz="2800" dirty="0">
              <a:solidFill>
                <a:srgbClr val="379FF3"/>
              </a:solidFill>
              <a:latin typeface="Bebas Neue"/>
            </a:endParaRPr>
          </a:p>
          <a:p>
            <a:r>
              <a:rPr lang="en-US" sz="2000" dirty="0">
                <a:solidFill>
                  <a:schemeClr val="accent5"/>
                </a:solidFill>
                <a:latin typeface="Bebas Neue"/>
              </a:rPr>
              <a:t>CTO – </a:t>
            </a:r>
            <a:r>
              <a:rPr lang="en-US" sz="2000" dirty="0" err="1">
                <a:solidFill>
                  <a:schemeClr val="accent5"/>
                </a:solidFill>
                <a:latin typeface="Bebas Neue"/>
              </a:rPr>
              <a:t>Trustworks</a:t>
            </a:r>
            <a:endParaRPr lang="en-US" sz="2000" dirty="0">
              <a:solidFill>
                <a:schemeClr val="accent5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325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1F4EF-87ED-E800-1B6C-7836FE38F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0E969E0-DDCE-1C51-AB22-98F05EC42E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Events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76C3E-0F5D-4258-420F-B2CE40449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9165" y="2573383"/>
            <a:ext cx="9901147" cy="4167640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>
                <a:solidFill>
                  <a:schemeClr val="accent5"/>
                </a:solidFill>
                <a:latin typeface="+mn-lt"/>
              </a:rPr>
              <a:t>An </a:t>
            </a:r>
            <a:r>
              <a:rPr lang="en-US" sz="1800" b="1">
                <a:solidFill>
                  <a:schemeClr val="accent5"/>
                </a:solidFill>
                <a:latin typeface="+mn-lt"/>
              </a:rPr>
              <a:t>Event </a:t>
            </a:r>
            <a:r>
              <a:rPr lang="en-US" sz="1800">
                <a:solidFill>
                  <a:schemeClr val="accent5"/>
                </a:solidFill>
                <a:latin typeface="+mn-lt"/>
              </a:rPr>
              <a:t>is </a:t>
            </a:r>
            <a:r>
              <a:rPr lang="en-US" sz="1800" b="1">
                <a:solidFill>
                  <a:schemeClr val="accent5"/>
                </a:solidFill>
                <a:latin typeface="+mn-lt"/>
              </a:rPr>
              <a:t>non-prescriptive</a:t>
            </a:r>
            <a:r>
              <a:rPr lang="en-US" sz="1800">
                <a:solidFill>
                  <a:schemeClr val="accent5"/>
                </a:solidFill>
                <a:latin typeface="+mn-lt"/>
              </a:rPr>
              <a:t> of </a:t>
            </a:r>
            <a:r>
              <a:rPr lang="en-US" sz="1800" b="1">
                <a:solidFill>
                  <a:schemeClr val="accent5"/>
                </a:solidFill>
                <a:latin typeface="+mn-lt"/>
              </a:rPr>
              <a:t>what</a:t>
            </a:r>
            <a:r>
              <a:rPr lang="en-US" sz="1800">
                <a:solidFill>
                  <a:schemeClr val="accent5"/>
                </a:solidFill>
                <a:latin typeface="+mn-lt"/>
              </a:rPr>
              <a:t> </a:t>
            </a:r>
            <a:r>
              <a:rPr lang="en-US" sz="1800" b="1">
                <a:solidFill>
                  <a:schemeClr val="accent5"/>
                </a:solidFill>
                <a:latin typeface="+mn-lt"/>
              </a:rPr>
              <a:t>should</a:t>
            </a:r>
            <a:r>
              <a:rPr lang="en-US" sz="1800">
                <a:solidFill>
                  <a:schemeClr val="accent5"/>
                </a:solidFill>
                <a:latin typeface="+mn-lt"/>
              </a:rPr>
              <a:t> </a:t>
            </a:r>
            <a:r>
              <a:rPr lang="en-US" sz="1800" b="1">
                <a:solidFill>
                  <a:schemeClr val="accent5"/>
                </a:solidFill>
                <a:latin typeface="+mn-lt"/>
              </a:rPr>
              <a:t>happen</a:t>
            </a:r>
            <a:r>
              <a:rPr lang="en-US" sz="1800">
                <a:solidFill>
                  <a:schemeClr val="accent5"/>
                </a:solidFill>
                <a:latin typeface="+mn-lt"/>
              </a:rPr>
              <a:t> in other </a:t>
            </a:r>
            <a:r>
              <a:rPr lang="en-US" sz="1800" b="1">
                <a:solidFill>
                  <a:schemeClr val="accent5"/>
                </a:solidFill>
                <a:latin typeface="+mn-lt"/>
              </a:rPr>
              <a:t>parts</a:t>
            </a:r>
            <a:r>
              <a:rPr lang="en-US" sz="1800">
                <a:solidFill>
                  <a:schemeClr val="accent5"/>
                </a:solidFill>
                <a:latin typeface="+mn-lt"/>
              </a:rPr>
              <a:t> of the </a:t>
            </a:r>
            <a:r>
              <a:rPr lang="en-US" sz="1800" b="1">
                <a:solidFill>
                  <a:schemeClr val="accent5"/>
                </a:solidFill>
                <a:latin typeface="+mn-lt"/>
              </a:rPr>
              <a:t>system</a:t>
            </a:r>
            <a:r>
              <a:rPr lang="en-US" sz="1800">
                <a:solidFill>
                  <a:schemeClr val="accent5"/>
                </a:solidFill>
                <a:latin typeface="+mn-lt"/>
              </a:rPr>
              <a:t>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en-US" sz="800">
              <a:solidFill>
                <a:schemeClr val="accent5"/>
              </a:solidFill>
              <a:latin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800">
                <a:solidFill>
                  <a:schemeClr val="accent5"/>
                </a:solidFill>
                <a:latin typeface="+mn-lt"/>
              </a:rPr>
              <a:t>An event will typically be published to multiple consumers/subscribers: </a:t>
            </a:r>
          </a:p>
          <a:p>
            <a:pPr lvl="1">
              <a:lnSpc>
                <a:spcPct val="120000"/>
              </a:lnSpc>
            </a:pPr>
            <a:r>
              <a:rPr lang="en-US" sz="1400">
                <a:solidFill>
                  <a:schemeClr val="accent5"/>
                </a:solidFill>
                <a:latin typeface="+mn-lt"/>
              </a:rPr>
              <a:t>The publisher of the event does not know who the subscribers are </a:t>
            </a:r>
          </a:p>
          <a:p>
            <a:pPr lvl="1">
              <a:lnSpc>
                <a:spcPct val="120000"/>
              </a:lnSpc>
            </a:pPr>
            <a:r>
              <a:rPr lang="en-US" sz="1400">
                <a:solidFill>
                  <a:schemeClr val="accent5"/>
                </a:solidFill>
                <a:latin typeface="+mn-lt"/>
              </a:rPr>
              <a:t>And the publisher doesn’t know what the subscribers intend to do with the event</a:t>
            </a:r>
            <a:br>
              <a:rPr lang="en-US" sz="1800">
                <a:solidFill>
                  <a:schemeClr val="accent5"/>
                </a:solidFill>
                <a:latin typeface="+mn-lt"/>
              </a:rPr>
            </a:br>
            <a:endParaRPr lang="en-US" sz="1800">
              <a:solidFill>
                <a:schemeClr val="accent5"/>
              </a:solidFill>
              <a:latin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800">
                <a:solidFill>
                  <a:schemeClr val="accent5"/>
                </a:solidFill>
                <a:latin typeface="+mn-lt"/>
              </a:rPr>
              <a:t>Events always carry a </a:t>
            </a:r>
            <a:r>
              <a:rPr lang="en-US" sz="1800" b="1">
                <a:solidFill>
                  <a:schemeClr val="accent5"/>
                </a:solidFill>
                <a:latin typeface="+mn-lt"/>
              </a:rPr>
              <a:t>name</a:t>
            </a:r>
            <a:r>
              <a:rPr lang="en-US" sz="1800">
                <a:solidFill>
                  <a:schemeClr val="accent5"/>
                </a:solidFill>
                <a:latin typeface="+mn-lt"/>
              </a:rPr>
              <a:t> in its </a:t>
            </a:r>
            <a:r>
              <a:rPr lang="en-US" sz="1800" b="1">
                <a:solidFill>
                  <a:schemeClr val="accent5"/>
                </a:solidFill>
                <a:latin typeface="+mn-lt"/>
              </a:rPr>
              <a:t>past-tense form</a:t>
            </a:r>
            <a:r>
              <a:rPr lang="en-US" sz="1800">
                <a:solidFill>
                  <a:schemeClr val="accent5"/>
                </a:solidFill>
                <a:latin typeface="+mn-lt"/>
              </a:rPr>
              <a:t>: </a:t>
            </a:r>
            <a:br>
              <a:rPr lang="en-US" sz="1800">
                <a:latin typeface="+mn-lt"/>
              </a:rPr>
            </a:br>
            <a:r>
              <a:rPr lang="en-US" sz="1800" b="1" i="1" err="1">
                <a:solidFill>
                  <a:schemeClr val="accent4"/>
                </a:solidFill>
                <a:latin typeface="+mn-lt"/>
              </a:rPr>
              <a:t>OrderWasAccepted</a:t>
            </a:r>
            <a:endParaRPr lang="en-US" sz="1800" b="1" i="1">
              <a:solidFill>
                <a:schemeClr val="accent4"/>
              </a:solidFill>
              <a:latin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800" b="1" i="1" err="1">
                <a:solidFill>
                  <a:schemeClr val="accent4"/>
                </a:solidFill>
                <a:latin typeface="+mn-lt"/>
              </a:rPr>
              <a:t>OrderHasShipped</a:t>
            </a:r>
            <a:r>
              <a:rPr lang="en-US" sz="1800" b="1" i="1">
                <a:solidFill>
                  <a:schemeClr val="accent4"/>
                </a:solidFill>
                <a:latin typeface="+mn-lt"/>
              </a:rPr>
              <a:t>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800" b="1" i="1" err="1">
                <a:solidFill>
                  <a:schemeClr val="accent4"/>
                </a:solidFill>
                <a:latin typeface="+mn-lt"/>
              </a:rPr>
              <a:t>CustomerWasReimbursed</a:t>
            </a:r>
            <a:endParaRPr lang="en-US" sz="1800" b="1" i="1">
              <a:solidFill>
                <a:schemeClr val="accent4"/>
              </a:solidFill>
              <a:latin typeface="+mn-lt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1800" i="1">
              <a:latin typeface="+mn-lt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1800">
              <a:latin typeface="+mn-lt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367BBFD-2C06-31FE-DB0C-6BDCDA2CC135}"/>
              </a:ext>
            </a:extLst>
          </p:cNvPr>
          <p:cNvSpPr/>
          <p:nvPr/>
        </p:nvSpPr>
        <p:spPr>
          <a:xfrm>
            <a:off x="2111297" y="1508450"/>
            <a:ext cx="7969405" cy="894694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i="1" dirty="0"/>
              <a:t>“An Event describes a FACT, i.e. something that HAS happened”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077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E7E1F-A4D8-D744-B982-AAA89425ADD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2002631"/>
            <a:ext cx="10515600" cy="2852738"/>
          </a:xfrm>
        </p:spPr>
        <p:txBody>
          <a:bodyPr>
            <a:normAutofit/>
          </a:bodyPr>
          <a:lstStyle/>
          <a:p>
            <a:pPr algn="ctr"/>
            <a:r>
              <a:rPr lang="en-DK" sz="7200">
                <a:solidFill>
                  <a:schemeClr val="accent5"/>
                </a:solidFill>
              </a:rPr>
              <a:t>How do we discover events?</a:t>
            </a:r>
          </a:p>
        </p:txBody>
      </p:sp>
    </p:spTree>
    <p:extLst>
      <p:ext uri="{BB962C8B-B14F-4D97-AF65-F5344CB8AC3E}">
        <p14:creationId xmlns:p14="http://schemas.microsoft.com/office/powerpoint/2010/main" val="62975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A4851-46DB-3592-1E74-C41D440FD5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Event Storming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4713" y="1591311"/>
            <a:ext cx="10515600" cy="1837689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Event Storming is a </a:t>
            </a:r>
            <a:r>
              <a:rPr lang="en-US" b="1" dirty="0">
                <a:latin typeface="+mn-lt"/>
              </a:rPr>
              <a:t>fun</a:t>
            </a:r>
            <a:r>
              <a:rPr lang="en-US" dirty="0">
                <a:latin typeface="+mn-lt"/>
              </a:rPr>
              <a:t> way of </a:t>
            </a:r>
            <a:r>
              <a:rPr lang="en-US" b="1" dirty="0">
                <a:latin typeface="+mn-lt"/>
              </a:rPr>
              <a:t>bringing</a:t>
            </a:r>
            <a:r>
              <a:rPr lang="en-US" dirty="0">
                <a:latin typeface="+mn-lt"/>
              </a:rPr>
              <a:t> </a:t>
            </a:r>
            <a:r>
              <a:rPr lang="en-US" b="1" dirty="0">
                <a:latin typeface="+mn-lt"/>
              </a:rPr>
              <a:t>developers</a:t>
            </a:r>
            <a:r>
              <a:rPr lang="en-US" dirty="0">
                <a:latin typeface="+mn-lt"/>
              </a:rPr>
              <a:t> and </a:t>
            </a:r>
            <a:r>
              <a:rPr lang="en-US" b="1" dirty="0">
                <a:latin typeface="+mn-lt"/>
              </a:rPr>
              <a:t>business</a:t>
            </a:r>
            <a:r>
              <a:rPr lang="en-US" dirty="0">
                <a:latin typeface="+mn-lt"/>
              </a:rPr>
              <a:t> </a:t>
            </a:r>
            <a:r>
              <a:rPr lang="en-US" b="1" dirty="0">
                <a:latin typeface="+mn-lt"/>
              </a:rPr>
              <a:t>experts</a:t>
            </a:r>
            <a:r>
              <a:rPr lang="en-US" dirty="0">
                <a:latin typeface="+mn-lt"/>
              </a:rPr>
              <a:t> </a:t>
            </a:r>
            <a:r>
              <a:rPr lang="en-US" b="1" dirty="0">
                <a:latin typeface="+mn-lt"/>
              </a:rPr>
              <a:t>together</a:t>
            </a:r>
            <a:r>
              <a:rPr lang="en-US" dirty="0">
                <a:latin typeface="+mn-lt"/>
              </a:rPr>
              <a:t> and drive your </a:t>
            </a:r>
            <a:r>
              <a:rPr lang="en-US" b="1" dirty="0">
                <a:latin typeface="+mn-lt"/>
              </a:rPr>
              <a:t>analysis</a:t>
            </a:r>
            <a:r>
              <a:rPr lang="en-US" dirty="0">
                <a:latin typeface="+mn-lt"/>
              </a:rPr>
              <a:t> from the </a:t>
            </a:r>
            <a:r>
              <a:rPr lang="en-US" b="1" dirty="0">
                <a:latin typeface="+mn-lt"/>
              </a:rPr>
              <a:t>outside</a:t>
            </a:r>
            <a:r>
              <a:rPr lang="en-US" dirty="0">
                <a:latin typeface="+mn-lt"/>
              </a:rPr>
              <a:t> and quickly explore complex business domains </a:t>
            </a:r>
            <a:r>
              <a:rPr lang="en-US" b="1" dirty="0">
                <a:latin typeface="+mn-lt"/>
              </a:rPr>
              <a:t>in hours instead of days/weeks.</a:t>
            </a:r>
          </a:p>
          <a:p>
            <a:pPr lvl="1"/>
            <a:endParaRPr lang="en-US" dirty="0">
              <a:latin typeface="+mn-lt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14060" y="3524722"/>
            <a:ext cx="5055496" cy="3092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265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089DA34-6C94-D4AB-E2C2-9B19E7F184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Event Storming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4713" y="1442455"/>
            <a:ext cx="10515600" cy="4591522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Event Storming (or Model storming) is a way of starting your analysis from the outside and quickly explore complex business domains.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Invented by Alberto </a:t>
            </a:r>
            <a:r>
              <a:rPr lang="en-US" dirty="0" err="1">
                <a:latin typeface="+mn-lt"/>
              </a:rPr>
              <a:t>Brandolini</a:t>
            </a:r>
            <a:r>
              <a:rPr lang="en-US" dirty="0">
                <a:latin typeface="+mn-lt"/>
              </a:rPr>
              <a:t> </a:t>
            </a:r>
          </a:p>
          <a:p>
            <a:pPr lvl="1"/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lvl="1"/>
            <a:r>
              <a:rPr lang="en-US" dirty="0">
                <a:solidFill>
                  <a:schemeClr val="accent5"/>
                </a:solidFill>
                <a:latin typeface="+mn-lt"/>
              </a:rPr>
              <a:t>See </a:t>
            </a:r>
            <a:r>
              <a:rPr lang="en-US" u="sng" dirty="0">
                <a:solidFill>
                  <a:schemeClr val="accent5"/>
                </a:solidFill>
                <a:latin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https://ziobrando.blogspot.dk/2013/11/introducing-event-storming.html</a:t>
            </a:r>
            <a:endParaRPr lang="en-US" u="sng" dirty="0">
              <a:solidFill>
                <a:schemeClr val="accent5"/>
              </a:solidFill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6166" y="2593248"/>
            <a:ext cx="1524000" cy="15240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093525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6C49476-57B9-386C-3E9F-3773E5DF94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Event Storming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4713" y="1442454"/>
            <a:ext cx="10515600" cy="369307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+mn-lt"/>
              </a:rPr>
              <a:t>Invite the right people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chemeClr val="accent5"/>
                </a:solidFill>
                <a:latin typeface="+mn-lt"/>
              </a:rPr>
              <a:t>people with </a:t>
            </a:r>
            <a:r>
              <a:rPr lang="en-US" b="1" dirty="0">
                <a:solidFill>
                  <a:schemeClr val="accent4"/>
                </a:solidFill>
                <a:latin typeface="+mn-lt"/>
              </a:rPr>
              <a:t>questions</a:t>
            </a:r>
            <a:r>
              <a:rPr lang="en-US" dirty="0">
                <a:solidFill>
                  <a:schemeClr val="accent5"/>
                </a:solidFill>
                <a:latin typeface="+mn-lt"/>
              </a:rPr>
              <a:t> and people with </a:t>
            </a:r>
            <a:r>
              <a:rPr lang="en-US" b="1" dirty="0">
                <a:solidFill>
                  <a:schemeClr val="accent4"/>
                </a:solidFill>
                <a:latin typeface="+mn-lt"/>
              </a:rPr>
              <a:t>answers</a:t>
            </a:r>
            <a:r>
              <a:rPr lang="en-US" dirty="0">
                <a:solidFill>
                  <a:schemeClr val="accent5"/>
                </a:solidFill>
                <a:latin typeface="+mn-lt"/>
              </a:rPr>
              <a:t>. They provide the perfect mix of curiosity and wisdom.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+mn-lt"/>
              </a:rPr>
              <a:t>Provide unlimited modeling space</a:t>
            </a:r>
          </a:p>
          <a:p>
            <a:pPr>
              <a:lnSpc>
                <a:spcPct val="100000"/>
              </a:lnSpc>
            </a:pPr>
            <a:endParaRPr lang="en-US" dirty="0">
              <a:latin typeface="+mn-lt"/>
            </a:endParaRPr>
          </a:p>
          <a:p>
            <a:pPr>
              <a:lnSpc>
                <a:spcPct val="100000"/>
              </a:lnSpc>
            </a:pPr>
            <a:endParaRPr lang="en-US" dirty="0">
              <a:latin typeface="+mn-lt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712" y="3557543"/>
            <a:ext cx="3606249" cy="2704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317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5FA7238-FE20-FC45-ED26-526F3FD041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How to run an Event Storming Workshop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4713" y="1442455"/>
            <a:ext cx="10515600" cy="2959424"/>
          </a:xfrm>
        </p:spPr>
        <p:txBody>
          <a:bodyPr>
            <a:normAutofit/>
          </a:bodyPr>
          <a:lstStyle/>
          <a:p>
            <a:r>
              <a:rPr lang="en-US" dirty="0">
                <a:latin typeface="+mn-lt"/>
              </a:rPr>
              <a:t>Explore Aggregates Outside In</a:t>
            </a:r>
          </a:p>
          <a:p>
            <a:pPr lvl="1"/>
            <a:r>
              <a:rPr lang="en-US" dirty="0">
                <a:solidFill>
                  <a:schemeClr val="accent5"/>
                </a:solidFill>
                <a:latin typeface="+mn-lt"/>
              </a:rPr>
              <a:t>An </a:t>
            </a:r>
            <a:r>
              <a:rPr lang="en-US" b="1" dirty="0">
                <a:solidFill>
                  <a:schemeClr val="accent4"/>
                </a:solidFill>
                <a:latin typeface="+mn-lt"/>
              </a:rPr>
              <a:t>Aggregate</a:t>
            </a:r>
            <a:r>
              <a:rPr lang="en-US" dirty="0">
                <a:solidFill>
                  <a:schemeClr val="accent5"/>
                </a:solidFill>
                <a:latin typeface="+mn-lt"/>
              </a:rPr>
              <a:t> receives </a:t>
            </a:r>
            <a:r>
              <a:rPr lang="en-US" b="1" dirty="0">
                <a:solidFill>
                  <a:schemeClr val="accent4"/>
                </a:solidFill>
                <a:latin typeface="+mn-lt"/>
              </a:rPr>
              <a:t>Commands</a:t>
            </a:r>
            <a:r>
              <a:rPr lang="en-US" dirty="0">
                <a:solidFill>
                  <a:schemeClr val="accent5"/>
                </a:solidFill>
                <a:latin typeface="+mn-lt"/>
              </a:rPr>
              <a:t> and decides to execute them or reject them </a:t>
            </a:r>
          </a:p>
          <a:p>
            <a:pPr lvl="1"/>
            <a:r>
              <a:rPr lang="en-US" dirty="0">
                <a:solidFill>
                  <a:schemeClr val="accent5"/>
                </a:solidFill>
                <a:latin typeface="+mn-lt"/>
              </a:rPr>
              <a:t>If the </a:t>
            </a:r>
            <a:r>
              <a:rPr lang="en-US" b="1" dirty="0">
                <a:solidFill>
                  <a:schemeClr val="accent4"/>
                </a:solidFill>
                <a:latin typeface="+mn-lt"/>
              </a:rPr>
              <a:t>Aggregate</a:t>
            </a:r>
            <a:r>
              <a:rPr lang="en-US" dirty="0">
                <a:solidFill>
                  <a:schemeClr val="accent5"/>
                </a:solidFill>
                <a:latin typeface="+mn-lt"/>
              </a:rPr>
              <a:t> executes a Command it will </a:t>
            </a:r>
            <a:r>
              <a:rPr lang="en-US" b="1" dirty="0">
                <a:solidFill>
                  <a:schemeClr val="accent4"/>
                </a:solidFill>
                <a:latin typeface="+mn-lt"/>
              </a:rPr>
              <a:t>produce</a:t>
            </a:r>
            <a:r>
              <a:rPr lang="en-US" dirty="0">
                <a:solidFill>
                  <a:schemeClr val="accent5"/>
                </a:solidFill>
                <a:latin typeface="+mn-lt"/>
              </a:rPr>
              <a:t> one or more </a:t>
            </a:r>
            <a:r>
              <a:rPr lang="en-US" b="1" dirty="0">
                <a:solidFill>
                  <a:schemeClr val="accent4"/>
                </a:solidFill>
                <a:latin typeface="+mn-lt"/>
              </a:rPr>
              <a:t>Domain Events </a:t>
            </a:r>
            <a:r>
              <a:rPr lang="en-US" dirty="0">
                <a:solidFill>
                  <a:schemeClr val="accent5"/>
                </a:solidFill>
                <a:latin typeface="+mn-lt"/>
              </a:rPr>
              <a:t>as a result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7356" y="3522906"/>
            <a:ext cx="5371329" cy="3285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346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F20AE-E4F9-BE8A-3039-594AA999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CCC59-7D46-42DA-CDFD-6324C3B720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713" y="1442454"/>
            <a:ext cx="10515600" cy="1942867"/>
          </a:xfrm>
        </p:spPr>
        <p:txBody>
          <a:bodyPr>
            <a:normAutofit/>
          </a:bodyPr>
          <a:lstStyle/>
          <a:p>
            <a:r>
              <a:rPr lang="en-US" dirty="0">
                <a:latin typeface="+mn-lt"/>
              </a:rPr>
              <a:t>Explore Bounded Contexts</a:t>
            </a:r>
          </a:p>
          <a:p>
            <a:pPr lvl="1"/>
            <a:r>
              <a:rPr lang="en-US" dirty="0">
                <a:latin typeface="+mn-lt"/>
              </a:rPr>
              <a:t>During the discussion, some conflict areas with regards to different interpretations of terms might emerge</a:t>
            </a:r>
          </a:p>
          <a:p>
            <a:pPr lvl="1"/>
            <a:r>
              <a:rPr lang="en-US" dirty="0">
                <a:latin typeface="+mn-lt"/>
              </a:rPr>
              <a:t>Draw boundaries between the multiple consistent models that will coexist in your domain.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4D3F216-ECF7-2330-2B13-2B325F75AA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How to run an Event Storming Workshop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1D9D8C3-B710-10EB-1273-0FBFDC45FD2E}"/>
              </a:ext>
            </a:extLst>
          </p:cNvPr>
          <p:cNvGrpSpPr>
            <a:grpSpLocks noChangeAspect="1"/>
          </p:cNvGrpSpPr>
          <p:nvPr/>
        </p:nvGrpSpPr>
        <p:grpSpPr>
          <a:xfrm>
            <a:off x="2147446" y="3843128"/>
            <a:ext cx="3832966" cy="1665513"/>
            <a:chOff x="4422365" y="3528680"/>
            <a:chExt cx="1330786" cy="578256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D213DA33-7B3F-439B-658C-2D7F40536787}"/>
                </a:ext>
              </a:extLst>
            </p:cNvPr>
            <p:cNvSpPr/>
            <p:nvPr/>
          </p:nvSpPr>
          <p:spPr>
            <a:xfrm>
              <a:off x="4422365" y="3528680"/>
              <a:ext cx="444286" cy="367756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bg1"/>
                  </a:solidFill>
                </a:rPr>
                <a:t>Accept Order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F82B4C37-1CE7-F9CC-03C9-F736F2F8C355}"/>
                </a:ext>
              </a:extLst>
            </p:cNvPr>
            <p:cNvSpPr/>
            <p:nvPr/>
          </p:nvSpPr>
          <p:spPr>
            <a:xfrm>
              <a:off x="4900797" y="3771637"/>
              <a:ext cx="468583" cy="191195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Order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43503631-14FA-E100-A983-90FA608B73AA}"/>
                </a:ext>
              </a:extLst>
            </p:cNvPr>
            <p:cNvSpPr/>
            <p:nvPr/>
          </p:nvSpPr>
          <p:spPr>
            <a:xfrm>
              <a:off x="5392799" y="3886539"/>
              <a:ext cx="360352" cy="220397"/>
            </a:xfrm>
            <a:prstGeom prst="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solidFill>
                    <a:schemeClr val="bg1"/>
                  </a:solidFill>
                </a:rPr>
                <a:t>Order</a:t>
              </a:r>
            </a:p>
            <a:p>
              <a:pPr algn="ctr"/>
              <a:r>
                <a:rPr lang="en-US" sz="1050" dirty="0">
                  <a:solidFill>
                    <a:schemeClr val="bg1"/>
                  </a:solidFill>
                </a:rPr>
                <a:t>Accepted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6BF7CED9-BA73-476D-BB73-A10283D4AF32}"/>
              </a:ext>
            </a:extLst>
          </p:cNvPr>
          <p:cNvGrpSpPr>
            <a:grpSpLocks noChangeAspect="1"/>
          </p:cNvGrpSpPr>
          <p:nvPr/>
        </p:nvGrpSpPr>
        <p:grpSpPr>
          <a:xfrm>
            <a:off x="7052296" y="4627012"/>
            <a:ext cx="3032608" cy="1036448"/>
            <a:chOff x="4927110" y="3800839"/>
            <a:chExt cx="816739" cy="279134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535D8AC9-5A5A-0225-4AA9-7C172031FFE7}"/>
                </a:ext>
              </a:extLst>
            </p:cNvPr>
            <p:cNvSpPr/>
            <p:nvPr/>
          </p:nvSpPr>
          <p:spPr>
            <a:xfrm>
              <a:off x="4927110" y="3800839"/>
              <a:ext cx="468583" cy="191195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Order</a:t>
              </a: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44931D05-3DE7-A827-8291-DF3F6F71A6E6}"/>
                </a:ext>
              </a:extLst>
            </p:cNvPr>
            <p:cNvSpPr/>
            <p:nvPr/>
          </p:nvSpPr>
          <p:spPr>
            <a:xfrm>
              <a:off x="5442890" y="3922483"/>
              <a:ext cx="300959" cy="157490"/>
            </a:xfrm>
            <a:prstGeom prst="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solidFill>
                    <a:schemeClr val="bg1"/>
                  </a:solidFill>
                </a:rPr>
                <a:t>Order Delivered</a:t>
              </a:r>
            </a:p>
          </p:txBody>
        </p:sp>
      </p:grpSp>
      <p:sp>
        <p:nvSpPr>
          <p:cNvPr id="4" name="Arc 3">
            <a:extLst>
              <a:ext uri="{FF2B5EF4-FFF2-40B4-BE49-F238E27FC236}">
                <a16:creationId xmlns:a16="http://schemas.microsoft.com/office/drawing/2014/main" id="{68748BCE-9EEC-D059-AD97-F0BE90D3C438}"/>
              </a:ext>
            </a:extLst>
          </p:cNvPr>
          <p:cNvSpPr/>
          <p:nvPr/>
        </p:nvSpPr>
        <p:spPr>
          <a:xfrm rot="21414577">
            <a:off x="5548998" y="3724934"/>
            <a:ext cx="569052" cy="2461332"/>
          </a:xfrm>
          <a:prstGeom prst="arc">
            <a:avLst>
              <a:gd name="adj1" fmla="val 16251426"/>
              <a:gd name="adj2" fmla="val 5366489"/>
            </a:avLst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Arc 72">
            <a:extLst>
              <a:ext uri="{FF2B5EF4-FFF2-40B4-BE49-F238E27FC236}">
                <a16:creationId xmlns:a16="http://schemas.microsoft.com/office/drawing/2014/main" id="{588087B1-2B22-8B0D-467D-6A876E00ACF6}"/>
              </a:ext>
            </a:extLst>
          </p:cNvPr>
          <p:cNvSpPr/>
          <p:nvPr/>
        </p:nvSpPr>
        <p:spPr>
          <a:xfrm rot="11026323">
            <a:off x="6864244" y="3740986"/>
            <a:ext cx="569052" cy="2461332"/>
          </a:xfrm>
          <a:prstGeom prst="arc">
            <a:avLst>
              <a:gd name="adj1" fmla="val 16200000"/>
              <a:gd name="adj2" fmla="val 5366489"/>
            </a:avLst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506D434-56DE-9669-04F5-49911CEB49B0}"/>
              </a:ext>
            </a:extLst>
          </p:cNvPr>
          <p:cNvCxnSpPr/>
          <p:nvPr/>
        </p:nvCxnSpPr>
        <p:spPr>
          <a:xfrm>
            <a:off x="6097432" y="5007016"/>
            <a:ext cx="766983" cy="412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DCF0CEB-DE14-3543-FDDE-5F1C4240CAAA}"/>
              </a:ext>
            </a:extLst>
          </p:cNvPr>
          <p:cNvSpPr txBox="1"/>
          <p:nvPr/>
        </p:nvSpPr>
        <p:spPr>
          <a:xfrm>
            <a:off x="4377716" y="5517309"/>
            <a:ext cx="12554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cs typeface="Eurostile"/>
              </a:rPr>
              <a:t>Sales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915A19F-2A37-0234-5072-0C55575B9A28}"/>
              </a:ext>
            </a:extLst>
          </p:cNvPr>
          <p:cNvSpPr txBox="1"/>
          <p:nvPr/>
        </p:nvSpPr>
        <p:spPr>
          <a:xfrm>
            <a:off x="7076596" y="5490854"/>
            <a:ext cx="17924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cs typeface="Eurostile"/>
              </a:rPr>
              <a:t>Delivery</a:t>
            </a:r>
          </a:p>
        </p:txBody>
      </p:sp>
    </p:spTree>
    <p:extLst>
      <p:ext uri="{BB962C8B-B14F-4D97-AF65-F5344CB8AC3E}">
        <p14:creationId xmlns:p14="http://schemas.microsoft.com/office/powerpoint/2010/main" val="3525927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  <p:bldP spid="4" grpId="0" animBg="1"/>
      <p:bldP spid="73" grpId="0" animBg="1"/>
      <p:bldP spid="10" grpId="0"/>
      <p:bldP spid="7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1AF3FA-0940-8342-2742-EFD014CAC9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anchor="b">
            <a:normAutofit fontScale="92500" lnSpcReduction="10000"/>
          </a:bodyPr>
          <a:lstStyle/>
          <a:p>
            <a:r>
              <a:rPr lang="en-US" dirty="0"/>
              <a:t>Event Modeling</a:t>
            </a:r>
          </a:p>
        </p:txBody>
      </p:sp>
      <p:pic>
        <p:nvPicPr>
          <p:cNvPr id="7" name="Picture 6" descr="Illustration of people on a blockchain">
            <a:extLst>
              <a:ext uri="{FF2B5EF4-FFF2-40B4-BE49-F238E27FC236}">
                <a16:creationId xmlns:a16="http://schemas.microsoft.com/office/drawing/2014/main" id="{14701F99-62ED-79FF-8FF1-3E4426884C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518" b="11169"/>
          <a:stretch/>
        </p:blipFill>
        <p:spPr>
          <a:xfrm>
            <a:off x="838200" y="1615440"/>
            <a:ext cx="10515600" cy="456152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69189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6034C-8AA7-AE38-0CDC-88088E037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F7CA60F-4E5C-68B1-80BC-0B4166596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754062"/>
            <a:ext cx="11472001" cy="390235"/>
          </a:xfrm>
        </p:spPr>
        <p:txBody>
          <a:bodyPr/>
          <a:lstStyle/>
          <a:p>
            <a:r>
              <a:rPr lang="en-US" sz="2800" dirty="0"/>
              <a:t>Event Modeling: The Visual Story of Your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9C6C8A-D4B4-D1CB-0ABD-47E11CF087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3137F-0305-B98A-14FC-BAB171CF6F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Privat/Fortroligt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A9FC53-1767-A917-E9BE-BC830CA7FF50}"/>
              </a:ext>
            </a:extLst>
          </p:cNvPr>
          <p:cNvSpPr txBox="1"/>
          <p:nvPr/>
        </p:nvSpPr>
        <p:spPr>
          <a:xfrm>
            <a:off x="508001" y="1422400"/>
            <a:ext cx="6329680" cy="2246769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l">
              <a:buNone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</a:rPr>
              <a:t>A Timeline of Your Business</a:t>
            </a:r>
            <a:endParaRPr lang="en-US" sz="1400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Chronological mapping of information flow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Shows exactly how information transforms over time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A complete visual story from beginning to end</a:t>
            </a:r>
          </a:p>
          <a:p>
            <a:pPr algn="l"/>
            <a:endParaRPr lang="en-US" sz="1400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None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</a:rPr>
              <a:t>A Universal Language</a:t>
            </a:r>
            <a:endParaRPr lang="en-US" sz="1400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Business and technical stakeholders share one model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Captures what happens, not just how it happens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Natural storytelling approach that mirrors how people think</a:t>
            </a:r>
          </a:p>
          <a:p>
            <a:endParaRPr lang="en-US" sz="1400" i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D2AF6BE-16C9-7DD6-6693-452DDD5A9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572" y="2166603"/>
            <a:ext cx="4042145" cy="2018214"/>
          </a:xfrm>
          <a:prstGeom prst="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D97E963-19DB-A647-3D30-BEB07A26E446}"/>
              </a:ext>
            </a:extLst>
          </p:cNvPr>
          <p:cNvSpPr txBox="1"/>
          <p:nvPr/>
        </p:nvSpPr>
        <p:spPr>
          <a:xfrm>
            <a:off x="508001" y="5594158"/>
            <a:ext cx="1132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i="1" dirty="0"/>
              <a:t>"Event Modeling creates a visual story that everyone can follow - from CEOs to developers to business analysts."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4921070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3BEAA-6BD2-C679-8A5F-A6A5F9F24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4A84111-A5A8-B3CB-8735-630E12AA3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754062"/>
            <a:ext cx="11472001" cy="390235"/>
          </a:xfrm>
        </p:spPr>
        <p:txBody>
          <a:bodyPr/>
          <a:lstStyle/>
          <a:p>
            <a:r>
              <a:rPr lang="en-US" sz="2800" dirty="0"/>
              <a:t>The Building Blocks of Event Modeling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0E62FA-CBC8-E13D-CB1B-D114A81E3A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E112D3-2FD6-191A-1727-41CA3DC460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Privat/Fortroligt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2324D2-5AEB-2ACB-5B41-DD6A93A8B0D5}"/>
              </a:ext>
            </a:extLst>
          </p:cNvPr>
          <p:cNvSpPr txBox="1"/>
          <p:nvPr/>
        </p:nvSpPr>
        <p:spPr>
          <a:xfrm>
            <a:off x="1800774" y="1422400"/>
            <a:ext cx="6329680" cy="440120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l">
              <a:buNone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</a:rPr>
              <a:t>Triggers (API or UI)</a:t>
            </a:r>
            <a:endParaRPr lang="en-US" sz="1400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What initiates actions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User interactions, API calls, scheduled tasks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The starting point of each business process</a:t>
            </a:r>
          </a:p>
          <a:p>
            <a:pPr algn="l">
              <a:buNone/>
            </a:pPr>
            <a:endParaRPr lang="en-US" sz="1400" b="1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None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</a:rPr>
              <a:t>Commands (Blue)</a:t>
            </a:r>
            <a:endParaRPr lang="en-US" sz="1400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Intentions to change the system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Carries all information needed to make a decision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Example: </a:t>
            </a:r>
            <a:r>
              <a:rPr lang="en-US" sz="1400" b="0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PlaceOrder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400" b="0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TransferFunds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400" b="0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RegisterUser</a:t>
            </a:r>
            <a:endParaRPr lang="en-US" sz="1400" b="0" i="0" u="none" strike="noStrike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l">
              <a:buNone/>
            </a:pPr>
            <a:endParaRPr lang="en-US" sz="1400" b="1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None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</a:rPr>
              <a:t>Events (Yellow/Orange)</a:t>
            </a:r>
            <a:endParaRPr lang="en-US" sz="1400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Immutable facts recording what happened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The "source of truth" for the entire system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Example: </a:t>
            </a:r>
            <a:r>
              <a:rPr lang="en-US" sz="1400" b="0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OrderPlaced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400" b="0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FundsTransferred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400" b="0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UserRegistered</a:t>
            </a:r>
            <a:endParaRPr lang="en-US" sz="1400" b="0" i="0" u="none" strike="noStrike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l">
              <a:buNone/>
            </a:pPr>
            <a:endParaRPr lang="en-US" sz="1400" b="1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None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</a:rPr>
              <a:t>Views (Green)</a:t>
            </a:r>
            <a:endParaRPr lang="en-US" sz="1400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Information prepared for reading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Updated based on events that have occurred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Optimized for specific business needs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Example: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Pending Orders, Customers Order History</a:t>
            </a:r>
            <a:endParaRPr lang="en-US" sz="1400" b="0" i="0" u="none" strike="noStrike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57E6B9-F6A2-3364-14C6-BB416F46A8A0}"/>
              </a:ext>
            </a:extLst>
          </p:cNvPr>
          <p:cNvSpPr txBox="1"/>
          <p:nvPr/>
        </p:nvSpPr>
        <p:spPr>
          <a:xfrm>
            <a:off x="1126150" y="5886264"/>
            <a:ext cx="10489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i="1" dirty="0"/>
              <a:t>"These simple building blocks combine to model your entire business system in a clear, visual way."</a:t>
            </a:r>
            <a:endParaRPr lang="en-US" sz="1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F37F436-7879-415A-86BE-FB5EA4970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353" y="1501602"/>
            <a:ext cx="1237593" cy="8414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CCCEE3E-5AE7-0FF0-C80A-4B80EA97D46F}"/>
              </a:ext>
            </a:extLst>
          </p:cNvPr>
          <p:cNvSpPr/>
          <p:nvPr/>
        </p:nvSpPr>
        <p:spPr>
          <a:xfrm>
            <a:off x="507353" y="2617076"/>
            <a:ext cx="1293421" cy="67266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Command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4DDC8D-0DD4-67F6-0BD1-80A7D802C763}"/>
              </a:ext>
            </a:extLst>
          </p:cNvPr>
          <p:cNvSpPr/>
          <p:nvPr/>
        </p:nvSpPr>
        <p:spPr>
          <a:xfrm>
            <a:off x="507353" y="3630361"/>
            <a:ext cx="1293421" cy="67266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Event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E36E334-18BD-1842-D3FA-E3DF2CBF14EF}"/>
              </a:ext>
            </a:extLst>
          </p:cNvPr>
          <p:cNvSpPr/>
          <p:nvPr/>
        </p:nvSpPr>
        <p:spPr>
          <a:xfrm>
            <a:off x="507353" y="4769480"/>
            <a:ext cx="1293421" cy="67266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View</a:t>
            </a:r>
          </a:p>
        </p:txBody>
      </p:sp>
    </p:spTree>
    <p:extLst>
      <p:ext uri="{BB962C8B-B14F-4D97-AF65-F5344CB8AC3E}">
        <p14:creationId xmlns:p14="http://schemas.microsoft.com/office/powerpoint/2010/main" val="1027153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5952D-AD37-47EF-78A6-C9691F07A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9BA7F7FB-3C2F-2ADB-3421-654143733705}"/>
              </a:ext>
            </a:extLst>
          </p:cNvPr>
          <p:cNvSpPr/>
          <p:nvPr/>
        </p:nvSpPr>
        <p:spPr>
          <a:xfrm>
            <a:off x="508002" y="2552820"/>
            <a:ext cx="11472002" cy="1250577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l"/>
            <a:endParaRPr lang="da-DK" sz="1400" dirty="0">
              <a:solidFill>
                <a:schemeClr val="tx1"/>
              </a:solidFill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6A0D4996-D986-CD95-B5A2-DE935A4EEA0E}"/>
              </a:ext>
            </a:extLst>
          </p:cNvPr>
          <p:cNvSpPr/>
          <p:nvPr/>
        </p:nvSpPr>
        <p:spPr>
          <a:xfrm>
            <a:off x="508002" y="1250576"/>
            <a:ext cx="11472002" cy="1250577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l"/>
            <a:endParaRPr lang="da-DK" sz="1400" dirty="0">
              <a:solidFill>
                <a:schemeClr val="tx1"/>
              </a:solidFill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46F9DBD-4CE6-AA46-5790-A3C94DB7E100}"/>
              </a:ext>
            </a:extLst>
          </p:cNvPr>
          <p:cNvSpPr/>
          <p:nvPr/>
        </p:nvSpPr>
        <p:spPr>
          <a:xfrm>
            <a:off x="508002" y="3846382"/>
            <a:ext cx="11472002" cy="1650115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l"/>
            <a:endParaRPr lang="da-DK" sz="1400" dirty="0">
              <a:solidFill>
                <a:schemeClr val="tx1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1BDF45A-5C55-881A-5429-9BB2A518D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754062"/>
            <a:ext cx="11472001" cy="390235"/>
          </a:xfrm>
        </p:spPr>
        <p:txBody>
          <a:bodyPr/>
          <a:lstStyle/>
          <a:p>
            <a:r>
              <a:rPr lang="en-US" sz="2800" dirty="0"/>
              <a:t>The Power of Patterns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C5E409-69E1-AB28-BE53-59EE18FE137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C438F0F-9FEE-4D8A-842B-39B055FD6BF1}" type="slidenum">
              <a:rPr lang="da-DK" smtClean="0"/>
              <a:pPr/>
              <a:t>12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1BD12-55BA-8178-5EAB-A698B27FF4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Privat/Fortroligt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9965F1-B788-58AD-AF57-B9DFB2A080A3}"/>
              </a:ext>
            </a:extLst>
          </p:cNvPr>
          <p:cNvSpPr txBox="1"/>
          <p:nvPr/>
        </p:nvSpPr>
        <p:spPr>
          <a:xfrm>
            <a:off x="508001" y="1361503"/>
            <a:ext cx="7434520" cy="3816429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l">
              <a:buNone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</a:rPr>
              <a:t>Command Pattern</a:t>
            </a:r>
            <a:endParaRPr lang="en-US" sz="1400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How user actions change system state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Trigger → Command → Event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Example: </a:t>
            </a:r>
            <a:br>
              <a:rPr lang="en-US" sz="14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User clicks "Place Order" → </a:t>
            </a:r>
            <a:r>
              <a:rPr lang="en-US" sz="1200" b="1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PlaceOrder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command → </a:t>
            </a:r>
            <a:r>
              <a:rPr lang="en-US" sz="1200" b="1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OrderPlaced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event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200" b="1" i="0" u="none" strike="noStrike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l">
              <a:buNone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</a:rPr>
              <a:t>View Pattern</a:t>
            </a:r>
            <a:endParaRPr lang="en-US" sz="1400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How events transform into useful information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Event(s) → View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Example: </a:t>
            </a:r>
            <a:br>
              <a:rPr lang="en-US" sz="14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sz="1200" b="1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OrderPlaced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event → Customer Order History view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200" b="1" i="0" u="none" strike="noStrike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l">
              <a:buNone/>
            </a:pPr>
            <a:endParaRPr lang="en-US" sz="1400" b="1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None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</a:rPr>
              <a:t>Automation Pattern</a:t>
            </a:r>
            <a:endParaRPr lang="en-US" sz="1400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How the system responds to events automatically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Event → To-Do View → Automated Trigger → Command → Event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Example: </a:t>
            </a:r>
            <a:br>
              <a:rPr lang="en-US" sz="14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sz="1200" b="1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OrderPlaced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→ Pending Shipments → Shipment Processor → </a:t>
            </a:r>
            <a:r>
              <a:rPr lang="en-US" sz="1200" b="1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ShipOrder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→ </a:t>
            </a:r>
            <a:r>
              <a:rPr lang="en-US" sz="1200" b="1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OrderShipped</a:t>
            </a:r>
            <a:endParaRPr lang="en-US" sz="1400" b="1" i="0" u="none" strike="noStrike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58A02F-AD33-C640-8B93-31177EA2798D}"/>
              </a:ext>
            </a:extLst>
          </p:cNvPr>
          <p:cNvSpPr txBox="1"/>
          <p:nvPr/>
        </p:nvSpPr>
        <p:spPr>
          <a:xfrm>
            <a:off x="823094" y="5734606"/>
            <a:ext cx="111569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dirty="0"/>
              <a:t>"These patterns repeat throughout your system, creating a consistent, understandable structure."</a:t>
            </a:r>
            <a:endParaRPr lang="en-US" sz="1800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7781D10-965F-0C62-6A8B-2242272D47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8464" y="1559129"/>
            <a:ext cx="3736887" cy="67308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545A0AB-222A-1569-DD58-B849B91AE4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8464" y="2946064"/>
            <a:ext cx="2763694" cy="54098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0773ACE-B5AD-B8D4-A2E1-E113A0A9E8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5017" y="3868511"/>
            <a:ext cx="4044948" cy="1483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0430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5CD94-710C-A039-47BA-76889C2FF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8581218-4372-8B24-5010-45E2A3D8D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440" y="19832"/>
            <a:ext cx="11244560" cy="4348583"/>
          </a:xfrm>
          <a:prstGeom prst="rect">
            <a:avLst/>
          </a:prstGeom>
        </p:spPr>
      </p:pic>
      <p:sp>
        <p:nvSpPr>
          <p:cNvPr id="7" name="Rectangle: Folded Corner 3">
            <a:extLst>
              <a:ext uri="{FF2B5EF4-FFF2-40B4-BE49-F238E27FC236}">
                <a16:creationId xmlns:a16="http://schemas.microsoft.com/office/drawing/2014/main" id="{A63093DB-D84B-792A-37B0-862EAAA57C51}"/>
              </a:ext>
            </a:extLst>
          </p:cNvPr>
          <p:cNvSpPr/>
          <p:nvPr/>
        </p:nvSpPr>
        <p:spPr>
          <a:xfrm>
            <a:off x="3942327" y="4457887"/>
            <a:ext cx="2520000" cy="2290807"/>
          </a:xfrm>
          <a:prstGeom prst="foldedCorner">
            <a:avLst>
              <a:gd name="adj" fmla="val 16083"/>
            </a:avLst>
          </a:prstGeom>
          <a:solidFill>
            <a:srgbClr val="00B0F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b="1" dirty="0">
                <a:solidFill>
                  <a:schemeClr val="tx2"/>
                </a:solidFill>
              </a:rPr>
              <a:t>Command</a:t>
            </a:r>
          </a:p>
          <a:p>
            <a:pPr algn="ctr"/>
            <a:endParaRPr lang="en-US" sz="1400" b="1" dirty="0">
              <a:solidFill>
                <a:schemeClr val="tx2"/>
              </a:solidFill>
            </a:endParaRPr>
          </a:p>
          <a:p>
            <a:pPr algn="ctr"/>
            <a:r>
              <a:rPr lang="en-US" sz="1400" dirty="0">
                <a:solidFill>
                  <a:schemeClr val="tx2"/>
                </a:solidFill>
              </a:rPr>
              <a:t>A command is used to indicate an intention to to invoke a process step </a:t>
            </a:r>
          </a:p>
          <a:p>
            <a:br>
              <a:rPr lang="en-US" sz="1400" dirty="0">
                <a:solidFill>
                  <a:schemeClr val="tx2"/>
                </a:solidFill>
              </a:rPr>
            </a:br>
            <a:r>
              <a:rPr lang="en-US" sz="1400" dirty="0">
                <a:solidFill>
                  <a:schemeClr val="tx2"/>
                </a:solidFill>
              </a:rPr>
              <a:t>Commands are sent from the UI, API or job</a:t>
            </a:r>
            <a:endParaRPr lang="en-DK" sz="1400" dirty="0"/>
          </a:p>
          <a:p>
            <a:pPr algn="ctr"/>
            <a:endParaRPr lang="en-DK" sz="1400" b="1" dirty="0">
              <a:solidFill>
                <a:schemeClr val="tx2"/>
              </a:solidFill>
            </a:endParaRPr>
          </a:p>
        </p:txBody>
      </p:sp>
      <p:sp>
        <p:nvSpPr>
          <p:cNvPr id="8" name="Rectangle: Folded Corner 9">
            <a:extLst>
              <a:ext uri="{FF2B5EF4-FFF2-40B4-BE49-F238E27FC236}">
                <a16:creationId xmlns:a16="http://schemas.microsoft.com/office/drawing/2014/main" id="{4C917881-A8BE-61DD-5A1A-4FE1FFF5E253}"/>
              </a:ext>
            </a:extLst>
          </p:cNvPr>
          <p:cNvSpPr/>
          <p:nvPr/>
        </p:nvSpPr>
        <p:spPr>
          <a:xfrm>
            <a:off x="1205161" y="4457887"/>
            <a:ext cx="2520000" cy="2290807"/>
          </a:xfrm>
          <a:prstGeom prst="foldedCorner">
            <a:avLst>
              <a:gd name="adj" fmla="val 16083"/>
            </a:avLst>
          </a:prstGeom>
          <a:solidFill>
            <a:schemeClr val="bg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dirty="0">
                <a:solidFill>
                  <a:schemeClr val="tx2"/>
                </a:solidFill>
              </a:rPr>
              <a:t>UI/API/JOB</a:t>
            </a:r>
          </a:p>
          <a:p>
            <a:pPr algn="ctr"/>
            <a:endParaRPr lang="en-US" sz="1400" dirty="0">
              <a:solidFill>
                <a:schemeClr val="tx2"/>
              </a:solidFill>
            </a:endParaRPr>
          </a:p>
          <a:p>
            <a:r>
              <a:rPr lang="en-US" sz="1400" dirty="0">
                <a:solidFill>
                  <a:schemeClr val="tx2"/>
                </a:solidFill>
              </a:rPr>
              <a:t>The trigger for a use case can be: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User interacting via a </a:t>
            </a:r>
            <a:r>
              <a:rPr lang="en-US" sz="1400" b="1" dirty="0">
                <a:solidFill>
                  <a:schemeClr val="tx2"/>
                </a:solidFill>
              </a:rPr>
              <a:t>UI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An external piece of software calling a public </a:t>
            </a:r>
            <a:r>
              <a:rPr lang="en-US" sz="1400" b="1" dirty="0">
                <a:solidFill>
                  <a:schemeClr val="tx2"/>
                </a:solidFill>
              </a:rPr>
              <a:t>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A </a:t>
            </a:r>
            <a:r>
              <a:rPr lang="en-US" sz="1400" b="1" dirty="0">
                <a:solidFill>
                  <a:schemeClr val="tx2"/>
                </a:solidFill>
              </a:rPr>
              <a:t>job</a:t>
            </a:r>
            <a:r>
              <a:rPr lang="en-US" sz="1400" dirty="0">
                <a:solidFill>
                  <a:schemeClr val="tx2"/>
                </a:solidFill>
              </a:rPr>
              <a:t> automating a process step</a:t>
            </a:r>
            <a:endParaRPr lang="en-DK" sz="1400" dirty="0">
              <a:solidFill>
                <a:schemeClr val="tx2"/>
              </a:solidFill>
            </a:endParaRPr>
          </a:p>
        </p:txBody>
      </p:sp>
      <p:sp>
        <p:nvSpPr>
          <p:cNvPr id="9" name="Rectangle: Folded Corner 10">
            <a:extLst>
              <a:ext uri="{FF2B5EF4-FFF2-40B4-BE49-F238E27FC236}">
                <a16:creationId xmlns:a16="http://schemas.microsoft.com/office/drawing/2014/main" id="{455FF5AF-56A1-5589-B616-BA086028B4A3}"/>
              </a:ext>
            </a:extLst>
          </p:cNvPr>
          <p:cNvSpPr/>
          <p:nvPr/>
        </p:nvSpPr>
        <p:spPr>
          <a:xfrm>
            <a:off x="6679493" y="4457887"/>
            <a:ext cx="2520000" cy="2290808"/>
          </a:xfrm>
          <a:prstGeom prst="foldedCorner">
            <a:avLst>
              <a:gd name="adj" fmla="val 16083"/>
            </a:avLst>
          </a:prstGeom>
          <a:solidFill>
            <a:srgbClr val="FF71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b="1" dirty="0">
                <a:solidFill>
                  <a:schemeClr val="tx2"/>
                </a:solidFill>
              </a:rPr>
              <a:t>Event</a:t>
            </a:r>
          </a:p>
          <a:p>
            <a:pPr algn="ctr"/>
            <a:endParaRPr lang="en-US" sz="1400" b="1" dirty="0">
              <a:solidFill>
                <a:schemeClr val="tx2"/>
              </a:solidFill>
            </a:endParaRPr>
          </a:p>
          <a:p>
            <a:pPr algn="ctr"/>
            <a:r>
              <a:rPr lang="en-US" sz="1400" dirty="0">
                <a:solidFill>
                  <a:schemeClr val="tx2"/>
                </a:solidFill>
              </a:rPr>
              <a:t>Describes a business fact due to a change to system state</a:t>
            </a:r>
            <a:endParaRPr lang="en-DK" sz="1400" dirty="0">
              <a:solidFill>
                <a:schemeClr val="tx2"/>
              </a:solidFill>
            </a:endParaRPr>
          </a:p>
        </p:txBody>
      </p:sp>
      <p:sp>
        <p:nvSpPr>
          <p:cNvPr id="10" name="Rectangle: Folded Corner 11">
            <a:extLst>
              <a:ext uri="{FF2B5EF4-FFF2-40B4-BE49-F238E27FC236}">
                <a16:creationId xmlns:a16="http://schemas.microsoft.com/office/drawing/2014/main" id="{569F5DC9-8C91-DF7E-3646-49A3533827F8}"/>
              </a:ext>
            </a:extLst>
          </p:cNvPr>
          <p:cNvSpPr/>
          <p:nvPr/>
        </p:nvSpPr>
        <p:spPr>
          <a:xfrm>
            <a:off x="9416659" y="4457887"/>
            <a:ext cx="2520000" cy="2290808"/>
          </a:xfrm>
          <a:prstGeom prst="foldedCorner">
            <a:avLst>
              <a:gd name="adj" fmla="val 16083"/>
            </a:avLst>
          </a:prstGeom>
          <a:solidFill>
            <a:srgbClr val="92D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b="1" dirty="0">
                <a:solidFill>
                  <a:schemeClr val="tx2"/>
                </a:solidFill>
              </a:rPr>
              <a:t>View</a:t>
            </a:r>
          </a:p>
          <a:p>
            <a:pPr algn="ctr"/>
            <a:endParaRPr lang="en-US" sz="1400" b="1" dirty="0">
              <a:solidFill>
                <a:schemeClr val="tx2"/>
              </a:solidFill>
            </a:endParaRPr>
          </a:p>
          <a:p>
            <a:pPr algn="ctr"/>
            <a:r>
              <a:rPr lang="en-US" sz="1400" dirty="0">
                <a:solidFill>
                  <a:schemeClr val="tx2"/>
                </a:solidFill>
              </a:rPr>
              <a:t>Describes data projections based on past events, that can be queried by:</a:t>
            </a:r>
          </a:p>
          <a:p>
            <a:pPr algn="ctr"/>
            <a:endParaRPr lang="en-US" sz="1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UI’s (e.g. a Grid or Form view)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API’s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Jobs with </a:t>
            </a:r>
            <a:r>
              <a:rPr lang="en-US" sz="1400" dirty="0" err="1">
                <a:solidFill>
                  <a:schemeClr val="tx2"/>
                </a:solidFill>
              </a:rPr>
              <a:t>Todo</a:t>
            </a:r>
            <a:r>
              <a:rPr lang="en-US" sz="1400" dirty="0">
                <a:solidFill>
                  <a:schemeClr val="tx2"/>
                </a:solidFill>
              </a:rPr>
              <a:t> Lists</a:t>
            </a:r>
            <a:endParaRPr lang="en-DK" sz="1400" dirty="0">
              <a:solidFill>
                <a:schemeClr val="tx2"/>
              </a:solidFill>
            </a:endParaRPr>
          </a:p>
        </p:txBody>
      </p:sp>
      <p:pic>
        <p:nvPicPr>
          <p:cNvPr id="11" name="Graphic 10" descr="User with solid fill">
            <a:extLst>
              <a:ext uri="{FF2B5EF4-FFF2-40B4-BE49-F238E27FC236}">
                <a16:creationId xmlns:a16="http://schemas.microsoft.com/office/drawing/2014/main" id="{5CEB4EC0-8745-AEBA-7D7B-725FAFA999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9897" y="5112116"/>
            <a:ext cx="546681" cy="546681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2F5BB710-9A81-92CE-20FF-5A977201A311}"/>
              </a:ext>
            </a:extLst>
          </p:cNvPr>
          <p:cNvGrpSpPr/>
          <p:nvPr/>
        </p:nvGrpSpPr>
        <p:grpSpPr>
          <a:xfrm>
            <a:off x="409467" y="5837740"/>
            <a:ext cx="851868" cy="820021"/>
            <a:chOff x="605235" y="3831734"/>
            <a:chExt cx="851868" cy="820021"/>
          </a:xfrm>
        </p:grpSpPr>
        <p:pic>
          <p:nvPicPr>
            <p:cNvPr id="13" name="Graphic 12" descr="Single gear with solid fill">
              <a:extLst>
                <a:ext uri="{FF2B5EF4-FFF2-40B4-BE49-F238E27FC236}">
                  <a16:creationId xmlns:a16="http://schemas.microsoft.com/office/drawing/2014/main" id="{B1C69043-0B10-E9F7-59C2-A59B85B9CC3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05235" y="3831734"/>
              <a:ext cx="546681" cy="546681"/>
            </a:xfrm>
            <a:prstGeom prst="rect">
              <a:avLst/>
            </a:prstGeom>
          </p:spPr>
        </p:pic>
        <p:pic>
          <p:nvPicPr>
            <p:cNvPr id="14" name="Graphic 13" descr="Robot with solid fill">
              <a:extLst>
                <a:ext uri="{FF2B5EF4-FFF2-40B4-BE49-F238E27FC236}">
                  <a16:creationId xmlns:a16="http://schemas.microsoft.com/office/drawing/2014/main" id="{59F52711-72E9-E035-BA0E-079F99A09B5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10422" y="4105074"/>
              <a:ext cx="546681" cy="5466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90235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uiExpand="1" build="p" animBg="1"/>
      <p:bldP spid="9" grpId="0" animBg="1"/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EB685-731C-0915-44D4-E4AF9DA00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C31FA2-439D-0E13-3975-D5BA2F585C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What is event modelling?</a:t>
            </a:r>
            <a:endParaRPr lang="en-DK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5C0E741-8D47-AC5D-8E37-BC2DFE0721C6}"/>
              </a:ext>
            </a:extLst>
          </p:cNvPr>
          <p:cNvGrpSpPr/>
          <p:nvPr/>
        </p:nvGrpSpPr>
        <p:grpSpPr>
          <a:xfrm>
            <a:off x="6688773" y="4389651"/>
            <a:ext cx="5221286" cy="1295829"/>
            <a:chOff x="6688773" y="4389651"/>
            <a:chExt cx="5221286" cy="1295829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89F1B9B3-C0B5-B8F2-D3FC-CA7C592F0EAC}"/>
                </a:ext>
              </a:extLst>
            </p:cNvPr>
            <p:cNvSpPr/>
            <p:nvPr/>
          </p:nvSpPr>
          <p:spPr>
            <a:xfrm>
              <a:off x="6688773" y="4389651"/>
              <a:ext cx="468000" cy="46800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7649623-0DD3-9EFB-C232-C71215348EFF}"/>
                </a:ext>
              </a:extLst>
            </p:cNvPr>
            <p:cNvSpPr txBox="1"/>
            <p:nvPr/>
          </p:nvSpPr>
          <p:spPr>
            <a:xfrm>
              <a:off x="7229792" y="4423596"/>
              <a:ext cx="4680267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solidFill>
                    <a:schemeClr val="tx2"/>
                  </a:solidFill>
                  <a:latin typeface="Bebas Neue" panose="020B0606020202050201" pitchFamily="34" charset="0"/>
                </a:rPr>
                <a:t>Simplicity, Accessibility and predictability</a:t>
              </a:r>
            </a:p>
            <a:p>
              <a:r>
                <a:rPr lang="en-US" sz="1400">
                  <a:solidFill>
                    <a:schemeClr val="tx2"/>
                  </a:solidFill>
                </a:rPr>
                <a:t>The methodology is straightforward and can be quickly incorporated into various organizational practices</a:t>
              </a:r>
            </a:p>
            <a:p>
              <a:r>
                <a:rPr lang="en-US" sz="1400" b="1">
                  <a:solidFill>
                    <a:schemeClr val="tx2"/>
                  </a:solidFill>
                </a:rPr>
                <a:t>Tests are central to specifying expected system behavior</a:t>
              </a:r>
              <a:endParaRPr lang="en-DK" sz="1400" b="1">
                <a:solidFill>
                  <a:schemeClr val="tx2"/>
                </a:solidFill>
              </a:endParaRPr>
            </a:p>
          </p:txBody>
        </p:sp>
        <p:pic>
          <p:nvPicPr>
            <p:cNvPr id="19" name="Graphic 18" descr="Puzzle pieces with solid fill">
              <a:extLst>
                <a:ext uri="{FF2B5EF4-FFF2-40B4-BE49-F238E27FC236}">
                  <a16:creationId xmlns:a16="http://schemas.microsoft.com/office/drawing/2014/main" id="{E2B73C4C-47D4-6239-490D-E6FF7708907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721593" y="4415976"/>
              <a:ext cx="396000" cy="396000"/>
            </a:xfrm>
            <a:prstGeom prst="rect">
              <a:avLst/>
            </a:prstGeom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C6FB743-EE82-C73D-A75D-D66BDE66C0A6}"/>
              </a:ext>
            </a:extLst>
          </p:cNvPr>
          <p:cNvGrpSpPr/>
          <p:nvPr/>
        </p:nvGrpSpPr>
        <p:grpSpPr>
          <a:xfrm>
            <a:off x="6700833" y="1546860"/>
            <a:ext cx="5209228" cy="1080385"/>
            <a:chOff x="6700833" y="1546860"/>
            <a:chExt cx="5209228" cy="1080385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CA0F3F0-CB73-2910-7CEE-8764FCEBC4EB}"/>
                </a:ext>
              </a:extLst>
            </p:cNvPr>
            <p:cNvSpPr/>
            <p:nvPr/>
          </p:nvSpPr>
          <p:spPr>
            <a:xfrm>
              <a:off x="6700833" y="1546860"/>
              <a:ext cx="468000" cy="46800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4184FF6-518C-3110-5124-C49D98D4DBFD}"/>
                </a:ext>
              </a:extLst>
            </p:cNvPr>
            <p:cNvSpPr txBox="1"/>
            <p:nvPr/>
          </p:nvSpPr>
          <p:spPr>
            <a:xfrm>
              <a:off x="7241853" y="1580805"/>
              <a:ext cx="4668208" cy="10464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solidFill>
                    <a:schemeClr val="tx2"/>
                  </a:solidFill>
                  <a:latin typeface="Bebas Neue" panose="020B0606020202050201" pitchFamily="34" charset="0"/>
                </a:rPr>
                <a:t>Timeline-Based Analysis</a:t>
              </a:r>
            </a:p>
            <a:p>
              <a:r>
                <a:rPr lang="en-US" sz="1400">
                  <a:solidFill>
                    <a:schemeClr val="tx2"/>
                  </a:solidFill>
                </a:rPr>
                <a:t>Event Modeling uses a </a:t>
              </a:r>
              <a:r>
                <a:rPr lang="en-US" sz="1400" b="1">
                  <a:solidFill>
                    <a:schemeClr val="tx2"/>
                  </a:solidFill>
                </a:rPr>
                <a:t>timeline</a:t>
              </a:r>
              <a:r>
                <a:rPr lang="en-US" sz="1400">
                  <a:solidFill>
                    <a:schemeClr val="tx2"/>
                  </a:solidFill>
                </a:rPr>
                <a:t> to depict different </a:t>
              </a:r>
              <a:r>
                <a:rPr lang="en-US" sz="1400" b="1">
                  <a:solidFill>
                    <a:schemeClr val="tx2"/>
                  </a:solidFill>
                </a:rPr>
                <a:t>steps</a:t>
              </a:r>
              <a:r>
                <a:rPr lang="en-US" sz="1400">
                  <a:solidFill>
                    <a:schemeClr val="tx2"/>
                  </a:solidFill>
                </a:rPr>
                <a:t> or events in the system, offering a </a:t>
              </a:r>
              <a:r>
                <a:rPr lang="en-US" sz="1400" b="1">
                  <a:solidFill>
                    <a:schemeClr val="tx2"/>
                  </a:solidFill>
                </a:rPr>
                <a:t>chronological</a:t>
              </a:r>
              <a:r>
                <a:rPr lang="en-US" sz="1400">
                  <a:solidFill>
                    <a:schemeClr val="tx2"/>
                  </a:solidFill>
                </a:rPr>
                <a:t> </a:t>
              </a:r>
              <a:r>
                <a:rPr lang="en-US" sz="1400" b="1">
                  <a:solidFill>
                    <a:schemeClr val="tx2"/>
                  </a:solidFill>
                </a:rPr>
                <a:t>perspective</a:t>
              </a:r>
            </a:p>
          </p:txBody>
        </p:sp>
        <p:pic>
          <p:nvPicPr>
            <p:cNvPr id="21" name="Graphic 20" descr="Clock with solid fill">
              <a:extLst>
                <a:ext uri="{FF2B5EF4-FFF2-40B4-BE49-F238E27FC236}">
                  <a16:creationId xmlns:a16="http://schemas.microsoft.com/office/drawing/2014/main" id="{07418CF3-37B3-5936-5D42-890F6DB2C06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736833" y="1582860"/>
              <a:ext cx="396000" cy="396000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365D527-ABAE-3F09-7596-77864D42B993}"/>
              </a:ext>
            </a:extLst>
          </p:cNvPr>
          <p:cNvGrpSpPr/>
          <p:nvPr/>
        </p:nvGrpSpPr>
        <p:grpSpPr>
          <a:xfrm>
            <a:off x="874713" y="4394349"/>
            <a:ext cx="5221286" cy="1075687"/>
            <a:chOff x="874713" y="4394349"/>
            <a:chExt cx="5221286" cy="1075687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18BCE7C-EF4B-9450-58E3-C2299E16C343}"/>
                </a:ext>
              </a:extLst>
            </p:cNvPr>
            <p:cNvSpPr/>
            <p:nvPr/>
          </p:nvSpPr>
          <p:spPr>
            <a:xfrm>
              <a:off x="874713" y="4394349"/>
              <a:ext cx="468000" cy="46800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B97EFDB-DBD5-E683-70B8-310B70D2E451}"/>
                </a:ext>
              </a:extLst>
            </p:cNvPr>
            <p:cNvSpPr txBox="1"/>
            <p:nvPr/>
          </p:nvSpPr>
          <p:spPr>
            <a:xfrm>
              <a:off x="1415732" y="4423596"/>
              <a:ext cx="4680267" cy="10464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solidFill>
                    <a:schemeClr val="tx2"/>
                  </a:solidFill>
                  <a:latin typeface="Bebas Neue" panose="020B0606020202050201" pitchFamily="34" charset="0"/>
                </a:rPr>
                <a:t>Enhanced Product Understanding</a:t>
              </a:r>
            </a:p>
            <a:p>
              <a:r>
                <a:rPr lang="en-US" sz="1400">
                  <a:solidFill>
                    <a:schemeClr val="tx2"/>
                  </a:solidFill>
                </a:rPr>
                <a:t>It provides a clear view of how a product was developed, improving understanding for both current and future development efforts using a shared language</a:t>
              </a:r>
              <a:endParaRPr lang="en-DK" sz="1400">
                <a:solidFill>
                  <a:schemeClr val="tx2"/>
                </a:solidFill>
              </a:endParaRPr>
            </a:p>
          </p:txBody>
        </p:sp>
        <p:pic>
          <p:nvPicPr>
            <p:cNvPr id="23" name="Graphic 22" descr="Continuous Improvement with solid fill">
              <a:extLst>
                <a:ext uri="{FF2B5EF4-FFF2-40B4-BE49-F238E27FC236}">
                  <a16:creationId xmlns:a16="http://schemas.microsoft.com/office/drawing/2014/main" id="{69858607-6505-1F6E-16CC-849F2E0A1D8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74713" y="4394349"/>
              <a:ext cx="468000" cy="468000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8ED47CF-3F1C-E075-5A88-DBDB308F7489}"/>
              </a:ext>
            </a:extLst>
          </p:cNvPr>
          <p:cNvGrpSpPr/>
          <p:nvPr/>
        </p:nvGrpSpPr>
        <p:grpSpPr>
          <a:xfrm>
            <a:off x="886773" y="1546860"/>
            <a:ext cx="5209228" cy="1080385"/>
            <a:chOff x="886773" y="1546860"/>
            <a:chExt cx="5209228" cy="1080385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5F72A78-35BD-5B02-9D6F-B09889A12277}"/>
                </a:ext>
              </a:extLst>
            </p:cNvPr>
            <p:cNvSpPr/>
            <p:nvPr/>
          </p:nvSpPr>
          <p:spPr>
            <a:xfrm>
              <a:off x="886773" y="1546860"/>
              <a:ext cx="468000" cy="46800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17A3228-F51F-BC6A-B17A-104EF2F30BC8}"/>
                </a:ext>
              </a:extLst>
            </p:cNvPr>
            <p:cNvSpPr txBox="1"/>
            <p:nvPr/>
          </p:nvSpPr>
          <p:spPr>
            <a:xfrm>
              <a:off x="1427793" y="1580805"/>
              <a:ext cx="4668208" cy="10464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solidFill>
                    <a:schemeClr val="tx2"/>
                  </a:solidFill>
                  <a:latin typeface="Bebas Neue" panose="020B0606020202050201" pitchFamily="34" charset="0"/>
                </a:rPr>
                <a:t>Graphical System Representation</a:t>
              </a:r>
            </a:p>
            <a:p>
              <a:r>
                <a:rPr lang="en-US" sz="1400" b="1">
                  <a:solidFill>
                    <a:schemeClr val="tx2"/>
                  </a:solidFill>
                </a:rPr>
                <a:t>Graphically depicts a system's evolution over time using a timeline of events</a:t>
              </a:r>
              <a:r>
                <a:rPr lang="en-US" sz="1400">
                  <a:solidFill>
                    <a:schemeClr val="tx2"/>
                  </a:solidFill>
                </a:rPr>
                <a:t>, showing how various components and interactions have led to its current state</a:t>
              </a:r>
            </a:p>
          </p:txBody>
        </p:sp>
        <p:pic>
          <p:nvPicPr>
            <p:cNvPr id="25" name="Graphic 24" descr="Workflow with solid fill">
              <a:extLst>
                <a:ext uri="{FF2B5EF4-FFF2-40B4-BE49-F238E27FC236}">
                  <a16:creationId xmlns:a16="http://schemas.microsoft.com/office/drawing/2014/main" id="{4526BEBB-B0DA-7790-1E83-C9F016AD45F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22773" y="1582860"/>
              <a:ext cx="396000" cy="396000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1362C14-17E4-BF0B-E190-EDE06553206F}"/>
              </a:ext>
            </a:extLst>
          </p:cNvPr>
          <p:cNvGrpSpPr/>
          <p:nvPr/>
        </p:nvGrpSpPr>
        <p:grpSpPr>
          <a:xfrm>
            <a:off x="6700833" y="2911112"/>
            <a:ext cx="5209226" cy="1080385"/>
            <a:chOff x="6700833" y="2911112"/>
            <a:chExt cx="5209226" cy="1080385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BFEB9D2-E1D8-4651-79CC-99114E29A7D0}"/>
                </a:ext>
              </a:extLst>
            </p:cNvPr>
            <p:cNvSpPr/>
            <p:nvPr/>
          </p:nvSpPr>
          <p:spPr>
            <a:xfrm>
              <a:off x="6700833" y="2911112"/>
              <a:ext cx="468000" cy="46800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8D49AFD-3F72-5F2E-88BA-1937D762B61A}"/>
                </a:ext>
              </a:extLst>
            </p:cNvPr>
            <p:cNvSpPr txBox="1"/>
            <p:nvPr/>
          </p:nvSpPr>
          <p:spPr>
            <a:xfrm>
              <a:off x="7241852" y="2945057"/>
              <a:ext cx="4668207" cy="10464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solidFill>
                    <a:schemeClr val="tx2"/>
                  </a:solidFill>
                  <a:latin typeface="Bebas Neue" panose="020B0606020202050201" pitchFamily="34" charset="0"/>
                </a:rPr>
                <a:t>Collaborative Tool</a:t>
              </a:r>
            </a:p>
            <a:p>
              <a:r>
                <a:rPr lang="en-US" sz="1400">
                  <a:solidFill>
                    <a:schemeClr val="tx2"/>
                  </a:solidFill>
                </a:rPr>
                <a:t>It facilitates collaboration across different roles within an organization, providing a common language and understanding.</a:t>
              </a:r>
            </a:p>
          </p:txBody>
        </p:sp>
        <p:pic>
          <p:nvPicPr>
            <p:cNvPr id="27" name="Graphic 26" descr="Handshake with solid fill">
              <a:extLst>
                <a:ext uri="{FF2B5EF4-FFF2-40B4-BE49-F238E27FC236}">
                  <a16:creationId xmlns:a16="http://schemas.microsoft.com/office/drawing/2014/main" id="{A69C3076-9E3E-FD29-9594-774123A0F49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736833" y="2947112"/>
              <a:ext cx="396000" cy="396000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1F18A4D-5178-6FD0-258F-27BE87D40F8E}"/>
              </a:ext>
            </a:extLst>
          </p:cNvPr>
          <p:cNvGrpSpPr/>
          <p:nvPr/>
        </p:nvGrpSpPr>
        <p:grpSpPr>
          <a:xfrm>
            <a:off x="886773" y="2911112"/>
            <a:ext cx="5209226" cy="1080385"/>
            <a:chOff x="886773" y="2911112"/>
            <a:chExt cx="5209226" cy="1080385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A29B0B3-459B-AB52-CCD8-AF594547A9F6}"/>
                </a:ext>
              </a:extLst>
            </p:cNvPr>
            <p:cNvSpPr/>
            <p:nvPr/>
          </p:nvSpPr>
          <p:spPr>
            <a:xfrm>
              <a:off x="886773" y="2911112"/>
              <a:ext cx="468000" cy="46800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5E01783-99D3-8BF5-9861-EDBEFE7590E6}"/>
                </a:ext>
              </a:extLst>
            </p:cNvPr>
            <p:cNvSpPr txBox="1"/>
            <p:nvPr/>
          </p:nvSpPr>
          <p:spPr>
            <a:xfrm>
              <a:off x="1427792" y="2945057"/>
              <a:ext cx="4668207" cy="10464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solidFill>
                    <a:schemeClr val="tx2"/>
                  </a:solidFill>
                  <a:latin typeface="Bebas Neue" panose="020B0606020202050201" pitchFamily="34" charset="0"/>
                </a:rPr>
                <a:t>Event-Centric Architecture</a:t>
              </a:r>
            </a:p>
            <a:p>
              <a:r>
                <a:rPr lang="en-US" sz="1400">
                  <a:solidFill>
                    <a:schemeClr val="tx2"/>
                  </a:solidFill>
                </a:rPr>
                <a:t>The approach is ideal for specifying systems that are based on </a:t>
              </a:r>
              <a:r>
                <a:rPr lang="en-US" sz="1400" b="1">
                  <a:solidFill>
                    <a:schemeClr val="tx2"/>
                  </a:solidFill>
                </a:rPr>
                <a:t>event sourcing</a:t>
              </a:r>
              <a:r>
                <a:rPr lang="en-US" sz="1400">
                  <a:solidFill>
                    <a:schemeClr val="tx2"/>
                  </a:solidFill>
                </a:rPr>
                <a:t>, where </a:t>
              </a:r>
              <a:r>
                <a:rPr lang="en-US" sz="1400" b="1">
                  <a:solidFill>
                    <a:schemeClr val="tx2"/>
                  </a:solidFill>
                </a:rPr>
                <a:t>events</a:t>
              </a:r>
              <a:r>
                <a:rPr lang="en-US" sz="1400">
                  <a:solidFill>
                    <a:schemeClr val="tx2"/>
                  </a:solidFill>
                </a:rPr>
                <a:t> are the </a:t>
              </a:r>
              <a:r>
                <a:rPr lang="en-US" sz="1400" b="1">
                  <a:solidFill>
                    <a:schemeClr val="tx2"/>
                  </a:solidFill>
                </a:rPr>
                <a:t>primary source of truth</a:t>
              </a:r>
              <a:endParaRPr lang="en-DK" sz="1400" b="1">
                <a:solidFill>
                  <a:schemeClr val="tx2"/>
                </a:solidFill>
              </a:endParaRPr>
            </a:p>
          </p:txBody>
        </p:sp>
        <p:pic>
          <p:nvPicPr>
            <p:cNvPr id="29" name="Graphic 28" descr="Chevron arrows with solid fill">
              <a:extLst>
                <a:ext uri="{FF2B5EF4-FFF2-40B4-BE49-F238E27FC236}">
                  <a16:creationId xmlns:a16="http://schemas.microsoft.com/office/drawing/2014/main" id="{CDBDA67E-9116-E9C6-1836-D4A820DB7B9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2773" y="2945057"/>
              <a:ext cx="396000" cy="396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34766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AFDDDA-4D68-DF96-CBA8-D58B2BC375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Event Modeling</a:t>
            </a:r>
          </a:p>
        </p:txBody>
      </p:sp>
      <p:pic>
        <p:nvPicPr>
          <p:cNvPr id="1026" name="Picture 2" descr="blueprint">
            <a:extLst>
              <a:ext uri="{FF2B5EF4-FFF2-40B4-BE49-F238E27FC236}">
                <a16:creationId xmlns:a16="http://schemas.microsoft.com/office/drawing/2014/main" id="{AB244770-37A0-0144-BCA5-F79DF22B82BA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2797" y="1355651"/>
            <a:ext cx="8246406" cy="4821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B1277CE-FCAA-6142-B658-5D25E9F86038}"/>
              </a:ext>
            </a:extLst>
          </p:cNvPr>
          <p:cNvSpPr/>
          <p:nvPr/>
        </p:nvSpPr>
        <p:spPr>
          <a:xfrm>
            <a:off x="2770632" y="6194276"/>
            <a:ext cx="665073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DK" sz="1400" dirty="0">
                <a:solidFill>
                  <a:schemeClr val="accent2"/>
                </a:solidFill>
              </a:rPr>
              <a:t>https://eventmodeling.org/posts/what-is-event-modeling/</a:t>
            </a:r>
          </a:p>
        </p:txBody>
      </p:sp>
    </p:spTree>
    <p:extLst>
      <p:ext uri="{BB962C8B-B14F-4D97-AF65-F5344CB8AC3E}">
        <p14:creationId xmlns:p14="http://schemas.microsoft.com/office/powerpoint/2010/main" val="10130243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2C7EC7-A4A1-3539-EA56-E86AC32E276E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202530" y="63907"/>
            <a:ext cx="9786937" cy="7000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accent3"/>
                </a:solidFill>
              </a:rPr>
              <a:t>Event modeling example</a:t>
            </a:r>
            <a:endParaRPr lang="en-DK" dirty="0">
              <a:solidFill>
                <a:schemeClr val="accent3"/>
              </a:solidFill>
            </a:endParaRPr>
          </a:p>
        </p:txBody>
      </p:sp>
      <p:pic>
        <p:nvPicPr>
          <p:cNvPr id="2" name="Picture 2" descr="blueprint">
            <a:extLst>
              <a:ext uri="{FF2B5EF4-FFF2-40B4-BE49-F238E27FC236}">
                <a16:creationId xmlns:a16="http://schemas.microsoft.com/office/drawing/2014/main" id="{A2969ED6-D10E-D8D8-F03A-B8C1F73842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081" y="478972"/>
            <a:ext cx="10757837" cy="6289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EA69446-EB0A-E807-E381-8929AB68264B}"/>
              </a:ext>
            </a:extLst>
          </p:cNvPr>
          <p:cNvSpPr/>
          <p:nvPr/>
        </p:nvSpPr>
        <p:spPr>
          <a:xfrm>
            <a:off x="2218268" y="1540933"/>
            <a:ext cx="832078" cy="2455334"/>
          </a:xfrm>
          <a:prstGeom prst="roundRect">
            <a:avLst/>
          </a:prstGeom>
          <a:noFill/>
          <a:ln w="31750">
            <a:solidFill>
              <a:srgbClr val="FF85FF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DF93BCA-DFB2-AA89-00C0-2AEBD290E57C}"/>
              </a:ext>
            </a:extLst>
          </p:cNvPr>
          <p:cNvSpPr/>
          <p:nvPr/>
        </p:nvSpPr>
        <p:spPr>
          <a:xfrm>
            <a:off x="3057743" y="832919"/>
            <a:ext cx="636949" cy="3163348"/>
          </a:xfrm>
          <a:prstGeom prst="roundRect">
            <a:avLst/>
          </a:prstGeom>
          <a:noFill/>
          <a:ln w="31750">
            <a:solidFill>
              <a:srgbClr val="FF85FF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5EE4E9C-73C0-C07F-FFF7-FFAF45FB8CBD}"/>
              </a:ext>
            </a:extLst>
          </p:cNvPr>
          <p:cNvSpPr/>
          <p:nvPr/>
        </p:nvSpPr>
        <p:spPr>
          <a:xfrm>
            <a:off x="3739082" y="1540933"/>
            <a:ext cx="479834" cy="2455334"/>
          </a:xfrm>
          <a:prstGeom prst="roundRect">
            <a:avLst/>
          </a:prstGeom>
          <a:noFill/>
          <a:ln w="31750">
            <a:solidFill>
              <a:srgbClr val="FF85FF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2C5DFC7-462D-CC8A-BB90-A04C3BC0B874}"/>
              </a:ext>
            </a:extLst>
          </p:cNvPr>
          <p:cNvSpPr/>
          <p:nvPr/>
        </p:nvSpPr>
        <p:spPr>
          <a:xfrm>
            <a:off x="4218916" y="1540933"/>
            <a:ext cx="479834" cy="2455334"/>
          </a:xfrm>
          <a:prstGeom prst="roundRect">
            <a:avLst/>
          </a:prstGeom>
          <a:noFill/>
          <a:ln w="31750">
            <a:solidFill>
              <a:srgbClr val="FF85FF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09C73B3-6AA2-49F9-3A3F-3AA4C0AECDDC}"/>
              </a:ext>
            </a:extLst>
          </p:cNvPr>
          <p:cNvSpPr/>
          <p:nvPr/>
        </p:nvSpPr>
        <p:spPr>
          <a:xfrm>
            <a:off x="4698750" y="700425"/>
            <a:ext cx="479834" cy="3295842"/>
          </a:xfrm>
          <a:prstGeom prst="roundRect">
            <a:avLst/>
          </a:prstGeom>
          <a:noFill/>
          <a:ln w="31750">
            <a:solidFill>
              <a:srgbClr val="FF85FF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B74DAEF-33AA-90A4-3D49-4677093513A7}"/>
              </a:ext>
            </a:extLst>
          </p:cNvPr>
          <p:cNvSpPr/>
          <p:nvPr/>
        </p:nvSpPr>
        <p:spPr>
          <a:xfrm>
            <a:off x="5178584" y="700425"/>
            <a:ext cx="479834" cy="3295842"/>
          </a:xfrm>
          <a:prstGeom prst="roundRect">
            <a:avLst/>
          </a:prstGeom>
          <a:noFill/>
          <a:ln w="31750">
            <a:solidFill>
              <a:srgbClr val="FF85FF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277202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C81AB-BF41-9046-E014-AB5838D91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B273D08-F4F2-3780-2AA9-B1BE15A44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754062"/>
            <a:ext cx="11472001" cy="390235"/>
          </a:xfrm>
        </p:spPr>
        <p:txBody>
          <a:bodyPr/>
          <a:lstStyle/>
          <a:p>
            <a:r>
              <a:rPr lang="en-US" sz="2800" dirty="0"/>
              <a:t>Slices: The Units of Business Value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61F8A3-FC02-392D-3179-2DF0AD6DFE7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789235-7CDD-2502-1AA7-D890DF8165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Privat/Fortroligt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D6702B-0125-5D75-0CF4-F8F089325CC5}"/>
              </a:ext>
            </a:extLst>
          </p:cNvPr>
          <p:cNvSpPr txBox="1"/>
          <p:nvPr/>
        </p:nvSpPr>
        <p:spPr>
          <a:xfrm>
            <a:off x="2120238" y="1963271"/>
            <a:ext cx="10451683" cy="3754874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l">
              <a:buNone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</a:rPr>
              <a:t>Complete End-to-End Functionality</a:t>
            </a:r>
            <a:endParaRPr lang="en-US" sz="1400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From user action to stored data and back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Self-contained units of business value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Independently implementable</a:t>
            </a:r>
          </a:p>
          <a:p>
            <a:pPr algn="l"/>
            <a:endParaRPr lang="en-US" sz="1400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None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</a:rPr>
              <a:t>The Perfect Unit of Work</a:t>
            </a:r>
            <a:endParaRPr lang="en-US" sz="1400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Clear scope boundaries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Testable with clear acceptance criteria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Can be owned by a single team or developer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1400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None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</a:rPr>
              <a:t>Examples of Slices:</a:t>
            </a:r>
            <a:endParaRPr lang="en-US" sz="1400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Place an order for products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Cancel an existing order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View order history by customer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Process payment for an order</a:t>
            </a:r>
          </a:p>
          <a:p>
            <a:pPr algn="l"/>
            <a:endParaRPr lang="en-US" sz="1400" b="0" i="0" u="none" strike="noStrike" dirty="0">
              <a:solidFill>
                <a:srgbClr val="000000"/>
              </a:solidFill>
              <a:effectLst/>
            </a:endParaRPr>
          </a:p>
          <a:p>
            <a:r>
              <a:rPr lang="en-US" sz="1400" i="1" dirty="0"/>
              <a:t>"Slices are the perfect unit of work - small enough to implement quickly, but complete enough to deliver real business value."</a:t>
            </a:r>
            <a:endParaRPr lang="en-US" sz="1400" dirty="0"/>
          </a:p>
        </p:txBody>
      </p:sp>
      <p:pic>
        <p:nvPicPr>
          <p:cNvPr id="7" name="Graphic 6" descr="Inbox Check with solid fill">
            <a:extLst>
              <a:ext uri="{FF2B5EF4-FFF2-40B4-BE49-F238E27FC236}">
                <a16:creationId xmlns:a16="http://schemas.microsoft.com/office/drawing/2014/main" id="{B46B9710-E41F-803C-57CA-787B8C2795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1306" y="3001840"/>
            <a:ext cx="914400" cy="914400"/>
          </a:xfrm>
          <a:prstGeom prst="rect">
            <a:avLst/>
          </a:prstGeom>
        </p:spPr>
      </p:pic>
      <p:pic>
        <p:nvPicPr>
          <p:cNvPr id="12" name="Graphic 11" descr="Clipboard Partially Checked with solid fill">
            <a:extLst>
              <a:ext uri="{FF2B5EF4-FFF2-40B4-BE49-F238E27FC236}">
                <a16:creationId xmlns:a16="http://schemas.microsoft.com/office/drawing/2014/main" id="{28D464C0-C500-9FC7-1ED6-804A6C2CBA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1306" y="4278014"/>
            <a:ext cx="914400" cy="914400"/>
          </a:xfrm>
          <a:prstGeom prst="rect">
            <a:avLst/>
          </a:prstGeom>
        </p:spPr>
      </p:pic>
      <p:pic>
        <p:nvPicPr>
          <p:cNvPr id="14" name="Graphic 13" descr="Fingerprint with solid fill">
            <a:extLst>
              <a:ext uri="{FF2B5EF4-FFF2-40B4-BE49-F238E27FC236}">
                <a16:creationId xmlns:a16="http://schemas.microsoft.com/office/drawing/2014/main" id="{C7E909D9-0061-2B12-DE23-DFB85BE452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1306" y="187743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9299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E95CD-9EA6-7FB2-FEB6-D1D46114F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FC87E7E-5A7A-63B2-F747-2CF6E10D6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754062"/>
            <a:ext cx="11472001" cy="390235"/>
          </a:xfrm>
        </p:spPr>
        <p:txBody>
          <a:bodyPr/>
          <a:lstStyle/>
          <a:p>
            <a:r>
              <a:rPr lang="en-US" sz="2800" dirty="0"/>
              <a:t>Autonomous Business Capabilities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1EC4DB-F164-71A1-F765-6AF0B1CDB4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7DEBA-FE51-5FB9-7C36-0133416FC0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Privat/Fortroligt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B54BE7-CB46-62E5-3938-9281967E566D}"/>
              </a:ext>
            </a:extLst>
          </p:cNvPr>
          <p:cNvSpPr txBox="1"/>
          <p:nvPr/>
        </p:nvSpPr>
        <p:spPr>
          <a:xfrm>
            <a:off x="1262912" y="1429076"/>
            <a:ext cx="5915654" cy="3970318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l">
              <a:buNone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</a:rPr>
              <a:t>Business-Aligned Components</a:t>
            </a:r>
            <a:endParaRPr lang="en-US" sz="1400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Software organized around business functions, not technical layers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Clear ownership boundaries that match organizational structure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Independent evolution at different rates as business needs change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00000"/>
                </a:solidFill>
              </a:rPr>
              <a:t>These are the </a:t>
            </a:r>
            <a:r>
              <a:rPr lang="en-US" sz="1400" b="1" dirty="0" err="1">
                <a:solidFill>
                  <a:srgbClr val="000000"/>
                </a:solidFill>
              </a:rPr>
              <a:t>swimlanes</a:t>
            </a:r>
            <a:r>
              <a:rPr lang="en-US" sz="1400" b="1" dirty="0">
                <a:solidFill>
                  <a:srgbClr val="000000"/>
                </a:solidFill>
              </a:rPr>
              <a:t> in Event Modeling</a:t>
            </a:r>
            <a:endParaRPr lang="en-US" sz="1400" b="1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None/>
            </a:pPr>
            <a:endParaRPr lang="en-US" sz="1400" b="1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None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</a:rPr>
              <a:t>What Makes a Capability "Autonomous"?</a:t>
            </a:r>
            <a:endParaRPr lang="en-US" sz="1400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Owns its data and business rules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Makes decisions independently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Communicates through well-defined interfaces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Can be deployed and scaled independently</a:t>
            </a:r>
          </a:p>
          <a:p>
            <a:pPr algn="l">
              <a:buNone/>
            </a:pPr>
            <a:endParaRPr lang="en-US" sz="1400" b="1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None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</a:rPr>
              <a:t>Example Capabilities:</a:t>
            </a:r>
            <a:endParaRPr lang="en-US" sz="1400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Order Management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Customer Account Management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Inventory Management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Payment Processing</a:t>
            </a:r>
          </a:p>
          <a:p>
            <a:endParaRPr lang="en-US" sz="1400" i="1" dirty="0"/>
          </a:p>
        </p:txBody>
      </p:sp>
      <p:pic>
        <p:nvPicPr>
          <p:cNvPr id="7" name="Graphic 6" descr="Gears with solid fill">
            <a:extLst>
              <a:ext uri="{FF2B5EF4-FFF2-40B4-BE49-F238E27FC236}">
                <a16:creationId xmlns:a16="http://schemas.microsoft.com/office/drawing/2014/main" id="{744099F3-56B2-A2D2-922C-B36BB49DC6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1750" y="1523690"/>
            <a:ext cx="914400" cy="914400"/>
          </a:xfrm>
          <a:prstGeom prst="rect">
            <a:avLst/>
          </a:prstGeom>
        </p:spPr>
      </p:pic>
      <p:pic>
        <p:nvPicPr>
          <p:cNvPr id="10" name="Graphic 9" descr="Box with solid fill">
            <a:extLst>
              <a:ext uri="{FF2B5EF4-FFF2-40B4-BE49-F238E27FC236}">
                <a16:creationId xmlns:a16="http://schemas.microsoft.com/office/drawing/2014/main" id="{554F35FF-1E57-CC30-10EE-A350A3827B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1750" y="2817483"/>
            <a:ext cx="914400" cy="914400"/>
          </a:xfrm>
          <a:prstGeom prst="rect">
            <a:avLst/>
          </a:prstGeom>
        </p:spPr>
      </p:pic>
      <p:pic>
        <p:nvPicPr>
          <p:cNvPr id="12" name="Graphic 11" descr="Bento Box outline">
            <a:extLst>
              <a:ext uri="{FF2B5EF4-FFF2-40B4-BE49-F238E27FC236}">
                <a16:creationId xmlns:a16="http://schemas.microsoft.com/office/drawing/2014/main" id="{0D9DB49C-6F97-9529-D661-3B4725C065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7168" y="4090346"/>
            <a:ext cx="914400" cy="914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4F1BE59-2A92-9216-770E-0D16FF3082AB}"/>
              </a:ext>
            </a:extLst>
          </p:cNvPr>
          <p:cNvSpPr txBox="1"/>
          <p:nvPr/>
        </p:nvSpPr>
        <p:spPr>
          <a:xfrm>
            <a:off x="3013842" y="5399394"/>
            <a:ext cx="67292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i="1" dirty="0"/>
              <a:t>"Autonomous capabilities allow your organization to evolve different parts of the system at different rates, based on business priorities."</a:t>
            </a:r>
            <a:endParaRPr lang="en-US" sz="1800" dirty="0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DB1872F6-8587-34FA-C8DB-4D2D5EB124AC}"/>
              </a:ext>
            </a:extLst>
          </p:cNvPr>
          <p:cNvGrpSpPr/>
          <p:nvPr/>
        </p:nvGrpSpPr>
        <p:grpSpPr>
          <a:xfrm>
            <a:off x="6688596" y="2565297"/>
            <a:ext cx="5143405" cy="2197175"/>
            <a:chOff x="228600" y="1576039"/>
            <a:chExt cx="11420708" cy="5084956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162F0E6A-522A-8A9A-E1D4-D84D62BB2723}"/>
                </a:ext>
              </a:extLst>
            </p:cNvPr>
            <p:cNvSpPr/>
            <p:nvPr/>
          </p:nvSpPr>
          <p:spPr>
            <a:xfrm>
              <a:off x="228600" y="1576039"/>
              <a:ext cx="11420708" cy="5084956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 sz="900" dirty="0"/>
            </a:p>
          </p:txBody>
        </p: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03031E00-32ED-CC2E-40D0-685540B04E46}"/>
                </a:ext>
              </a:extLst>
            </p:cNvPr>
            <p:cNvCxnSpPr>
              <a:cxnSpLocks/>
            </p:cNvCxnSpPr>
            <p:nvPr/>
          </p:nvCxnSpPr>
          <p:spPr>
            <a:xfrm>
              <a:off x="670784" y="4924520"/>
              <a:ext cx="9798205" cy="0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39C067D1-826E-368E-6099-0CA797F37353}"/>
                </a:ext>
              </a:extLst>
            </p:cNvPr>
            <p:cNvCxnSpPr>
              <a:cxnSpLocks/>
            </p:cNvCxnSpPr>
            <p:nvPr/>
          </p:nvCxnSpPr>
          <p:spPr>
            <a:xfrm>
              <a:off x="670784" y="5723692"/>
              <a:ext cx="9798205" cy="0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3D5882B2-567A-19A0-9183-25ABC4D52683}"/>
                </a:ext>
              </a:extLst>
            </p:cNvPr>
            <p:cNvCxnSpPr>
              <a:cxnSpLocks/>
            </p:cNvCxnSpPr>
            <p:nvPr/>
          </p:nvCxnSpPr>
          <p:spPr>
            <a:xfrm>
              <a:off x="670784" y="4158803"/>
              <a:ext cx="9798205" cy="0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0185E91A-F9BC-7349-9221-EF5EA95BA3FD}"/>
                </a:ext>
              </a:extLst>
            </p:cNvPr>
            <p:cNvCxnSpPr>
              <a:cxnSpLocks/>
            </p:cNvCxnSpPr>
            <p:nvPr/>
          </p:nvCxnSpPr>
          <p:spPr>
            <a:xfrm>
              <a:off x="670784" y="3140326"/>
              <a:ext cx="9798205" cy="0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20567C19-1E8E-A90C-BF62-A9D85497864D}"/>
                </a:ext>
              </a:extLst>
            </p:cNvPr>
            <p:cNvSpPr txBox="1"/>
            <p:nvPr/>
          </p:nvSpPr>
          <p:spPr>
            <a:xfrm>
              <a:off x="360984" y="4408423"/>
              <a:ext cx="1390186" cy="427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DK" sz="600" b="1" dirty="0"/>
                <a:t>Sales</a:t>
              </a:r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8A89DF4A-9E46-F638-81AD-35DFCA6306B2}"/>
                </a:ext>
              </a:extLst>
            </p:cNvPr>
            <p:cNvCxnSpPr>
              <a:cxnSpLocks/>
              <a:stCxn id="93" idx="2"/>
              <a:endCxn id="91" idx="0"/>
            </p:cNvCxnSpPr>
            <p:nvPr/>
          </p:nvCxnSpPr>
          <p:spPr>
            <a:xfrm>
              <a:off x="2376137" y="3024731"/>
              <a:ext cx="1" cy="15244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FA57DE1F-8810-6FAB-D304-F48BFC12FDF0}"/>
                </a:ext>
              </a:extLst>
            </p:cNvPr>
            <p:cNvCxnSpPr>
              <a:cxnSpLocks/>
              <a:stCxn id="91" idx="2"/>
              <a:endCxn id="92" idx="0"/>
            </p:cNvCxnSpPr>
            <p:nvPr/>
          </p:nvCxnSpPr>
          <p:spPr>
            <a:xfrm>
              <a:off x="2376138" y="4072837"/>
              <a:ext cx="582620" cy="1180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Folded Corner 64">
              <a:extLst>
                <a:ext uri="{FF2B5EF4-FFF2-40B4-BE49-F238E27FC236}">
                  <a16:creationId xmlns:a16="http://schemas.microsoft.com/office/drawing/2014/main" id="{38D19D14-9BA2-AE20-975C-CEBFF7E48D1C}"/>
                </a:ext>
              </a:extLst>
            </p:cNvPr>
            <p:cNvSpPr/>
            <p:nvPr/>
          </p:nvSpPr>
          <p:spPr>
            <a:xfrm>
              <a:off x="3098038" y="3373374"/>
              <a:ext cx="1115852" cy="524826"/>
            </a:xfrm>
            <a:prstGeom prst="foldedCorner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DK" sz="300" dirty="0">
                  <a:solidFill>
                    <a:schemeClr val="tx1"/>
                  </a:solidFill>
                </a:rPr>
                <a:t>Shopping Basket</a:t>
              </a:r>
            </a:p>
            <a:p>
              <a:pPr algn="ctr"/>
              <a:r>
                <a:rPr lang="en-DK" sz="3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(basketId,…)</a:t>
              </a:r>
              <a:endParaRPr lang="en-DK" sz="300" dirty="0">
                <a:solidFill>
                  <a:schemeClr val="tx1"/>
                </a:solidFill>
              </a:endParaRPr>
            </a:p>
          </p:txBody>
        </p: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E98C0D49-E4E7-8010-9F07-C416F2060BEE}"/>
                </a:ext>
              </a:extLst>
            </p:cNvPr>
            <p:cNvCxnSpPr>
              <a:cxnSpLocks/>
              <a:endCxn id="65" idx="2"/>
            </p:cNvCxnSpPr>
            <p:nvPr/>
          </p:nvCxnSpPr>
          <p:spPr>
            <a:xfrm flipV="1">
              <a:off x="3086047" y="3898200"/>
              <a:ext cx="569917" cy="27434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F906EF2-01FA-49D5-A42F-04EFEFA34269}"/>
                </a:ext>
              </a:extLst>
            </p:cNvPr>
            <p:cNvSpPr txBox="1"/>
            <p:nvPr/>
          </p:nvSpPr>
          <p:spPr>
            <a:xfrm>
              <a:off x="351298" y="5190671"/>
              <a:ext cx="1390186" cy="427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DK" sz="600" b="1" dirty="0"/>
                <a:t>Shipping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25DF944B-FA19-FF7B-85FA-0D6C803F1C72}"/>
                </a:ext>
              </a:extLst>
            </p:cNvPr>
            <p:cNvSpPr txBox="1"/>
            <p:nvPr/>
          </p:nvSpPr>
          <p:spPr>
            <a:xfrm>
              <a:off x="351300" y="2282706"/>
              <a:ext cx="1390186" cy="427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DK" sz="600" dirty="0"/>
                <a:t>Web App</a:t>
              </a:r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1109A50F-4256-0AE2-CFE9-AC39A3050285}"/>
                </a:ext>
              </a:extLst>
            </p:cNvPr>
            <p:cNvGrpSpPr/>
            <p:nvPr/>
          </p:nvGrpSpPr>
          <p:grpSpPr>
            <a:xfrm>
              <a:off x="1495975" y="1690688"/>
              <a:ext cx="2064084" cy="3222579"/>
              <a:chOff x="1495975" y="1690688"/>
              <a:chExt cx="2064084" cy="3222579"/>
            </a:xfrm>
            <a:solidFill>
              <a:srgbClr val="FFC000"/>
            </a:solidFill>
          </p:grpSpPr>
          <p:sp>
            <p:nvSpPr>
              <p:cNvPr id="91" name="Folded Corner 90">
                <a:extLst>
                  <a:ext uri="{FF2B5EF4-FFF2-40B4-BE49-F238E27FC236}">
                    <a16:creationId xmlns:a16="http://schemas.microsoft.com/office/drawing/2014/main" id="{A00D6BA8-FDD3-A68E-E515-CB9CDBCB121E}"/>
                  </a:ext>
                </a:extLst>
              </p:cNvPr>
              <p:cNvSpPr/>
              <p:nvPr/>
            </p:nvSpPr>
            <p:spPr>
              <a:xfrm>
                <a:off x="1848167" y="3177172"/>
                <a:ext cx="1055941" cy="895665"/>
              </a:xfrm>
              <a:prstGeom prst="foldedCorner">
                <a:avLst/>
              </a:prstGeom>
              <a:solidFill>
                <a:srgbClr val="8497B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DK" sz="300" dirty="0">
                    <a:solidFill>
                      <a:schemeClr val="tx1"/>
                    </a:solidFill>
                  </a:rPr>
                  <a:t>Add Item to</a:t>
                </a:r>
              </a:p>
              <a:p>
                <a:pPr algn="ctr"/>
                <a:r>
                  <a:rPr lang="en-DK" sz="300" dirty="0">
                    <a:solidFill>
                      <a:schemeClr val="tx1"/>
                    </a:solidFill>
                  </a:rPr>
                  <a:t>Shopping Basket</a:t>
                </a:r>
              </a:p>
              <a:p>
                <a:pPr algn="ctr"/>
                <a:r>
                  <a:rPr lang="en-DK" sz="3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(basketId, productId)</a:t>
                </a:r>
              </a:p>
            </p:txBody>
          </p:sp>
          <p:sp>
            <p:nvSpPr>
              <p:cNvPr id="92" name="Folded Corner 91">
                <a:extLst>
                  <a:ext uri="{FF2B5EF4-FFF2-40B4-BE49-F238E27FC236}">
                    <a16:creationId xmlns:a16="http://schemas.microsoft.com/office/drawing/2014/main" id="{CC743390-DE14-2DDA-86DD-4C3BD508FB7C}"/>
                  </a:ext>
                </a:extLst>
              </p:cNvPr>
              <p:cNvSpPr/>
              <p:nvPr/>
            </p:nvSpPr>
            <p:spPr>
              <a:xfrm>
                <a:off x="2357457" y="4190870"/>
                <a:ext cx="1202602" cy="722397"/>
              </a:xfrm>
              <a:prstGeom prst="foldedCorner">
                <a:avLst/>
              </a:prstGeom>
              <a:grpFill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DK" sz="300" dirty="0">
                    <a:solidFill>
                      <a:schemeClr val="tx1"/>
                    </a:solidFill>
                  </a:rPr>
                  <a:t>Item Added to Shopping Basket</a:t>
                </a:r>
              </a:p>
              <a:p>
                <a:pPr algn="ctr"/>
                <a:r>
                  <a:rPr lang="en-DK" sz="3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(basketId, productId)</a:t>
                </a:r>
              </a:p>
            </p:txBody>
          </p:sp>
          <p:pic>
            <p:nvPicPr>
              <p:cNvPr id="93" name="Picture 92">
                <a:extLst>
                  <a:ext uri="{FF2B5EF4-FFF2-40B4-BE49-F238E27FC236}">
                    <a16:creationId xmlns:a16="http://schemas.microsoft.com/office/drawing/2014/main" id="{E4319F1C-61FB-9CBC-25F7-C5D1987AAA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95975" y="1690688"/>
                <a:ext cx="1760323" cy="1334043"/>
              </a:xfrm>
              <a:prstGeom prst="rect">
                <a:avLst/>
              </a:prstGeom>
              <a:grpFill/>
            </p:spPr>
          </p:pic>
        </p:grpSp>
        <p:sp>
          <p:nvSpPr>
            <p:cNvPr id="70" name="Folded Corner 69">
              <a:extLst>
                <a:ext uri="{FF2B5EF4-FFF2-40B4-BE49-F238E27FC236}">
                  <a16:creationId xmlns:a16="http://schemas.microsoft.com/office/drawing/2014/main" id="{69FC90A4-1E42-858F-2F6D-1D038B7E1D84}"/>
                </a:ext>
              </a:extLst>
            </p:cNvPr>
            <p:cNvSpPr/>
            <p:nvPr/>
          </p:nvSpPr>
          <p:spPr>
            <a:xfrm>
              <a:off x="4542248" y="3204743"/>
              <a:ext cx="1062527" cy="868098"/>
            </a:xfrm>
            <a:prstGeom prst="foldedCorner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DK" sz="200" dirty="0">
                  <a:solidFill>
                    <a:schemeClr val="tx1"/>
                  </a:solidFill>
                </a:rPr>
                <a:t>Request CheckOut</a:t>
              </a:r>
            </a:p>
            <a:p>
              <a:pPr algn="ctr"/>
              <a:r>
                <a:rPr lang="en-DK" sz="2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(baskedId, orderId)</a:t>
              </a:r>
            </a:p>
          </p:txBody>
        </p:sp>
        <p:sp>
          <p:nvSpPr>
            <p:cNvPr id="71" name="Folded Corner 70">
              <a:extLst>
                <a:ext uri="{FF2B5EF4-FFF2-40B4-BE49-F238E27FC236}">
                  <a16:creationId xmlns:a16="http://schemas.microsoft.com/office/drawing/2014/main" id="{D1840DE8-D43A-47CA-FE64-20C110836722}"/>
                </a:ext>
              </a:extLst>
            </p:cNvPr>
            <p:cNvSpPr/>
            <p:nvPr/>
          </p:nvSpPr>
          <p:spPr>
            <a:xfrm>
              <a:off x="5668219" y="3398455"/>
              <a:ext cx="1278236" cy="568959"/>
            </a:xfrm>
            <a:prstGeom prst="foldedCorner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DK" sz="400" dirty="0">
                  <a:solidFill>
                    <a:schemeClr val="tx1"/>
                  </a:solidFill>
                </a:rPr>
                <a:t>Shopping Basket</a:t>
              </a:r>
            </a:p>
            <a:p>
              <a:pPr algn="ctr"/>
              <a:r>
                <a:rPr lang="da-DK" sz="4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</a:t>
              </a:r>
              <a:r>
                <a:rPr lang="en-DK" sz="4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basketId, </a:t>
              </a:r>
              <a:r>
                <a:rPr lang="da-DK" sz="4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orderId</a:t>
              </a:r>
              <a:r>
                <a:rPr lang="da-DK" sz="4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,</a:t>
              </a:r>
              <a:r>
                <a:rPr lang="en-DK" sz="4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…)</a:t>
              </a:r>
              <a:endParaRPr lang="en-DK" sz="400" dirty="0">
                <a:solidFill>
                  <a:schemeClr val="tx1"/>
                </a:solidFill>
              </a:endParaRPr>
            </a:p>
          </p:txBody>
        </p: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C26F9FC1-BD62-7F21-E945-393C3EBD0258}"/>
                </a:ext>
              </a:extLst>
            </p:cNvPr>
            <p:cNvCxnSpPr>
              <a:cxnSpLocks/>
              <a:stCxn id="70" idx="2"/>
            </p:cNvCxnSpPr>
            <p:nvPr/>
          </p:nvCxnSpPr>
          <p:spPr>
            <a:xfrm>
              <a:off x="5073512" y="4072841"/>
              <a:ext cx="594707" cy="11802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6FEB54E3-F27B-2ECE-5576-A57DFD1A8A6C}"/>
                </a:ext>
              </a:extLst>
            </p:cNvPr>
            <p:cNvCxnSpPr>
              <a:cxnSpLocks/>
              <a:endCxn id="71" idx="2"/>
            </p:cNvCxnSpPr>
            <p:nvPr/>
          </p:nvCxnSpPr>
          <p:spPr>
            <a:xfrm flipV="1">
              <a:off x="5878286" y="3967414"/>
              <a:ext cx="429051" cy="22345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88F40590-F210-8A3A-5823-1C16071C371D}"/>
                </a:ext>
              </a:extLst>
            </p:cNvPr>
            <p:cNvCxnSpPr>
              <a:cxnSpLocks/>
              <a:endCxn id="70" idx="0"/>
            </p:cNvCxnSpPr>
            <p:nvPr/>
          </p:nvCxnSpPr>
          <p:spPr>
            <a:xfrm>
              <a:off x="5037922" y="2933077"/>
              <a:ext cx="35590" cy="27166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51E4062E-2858-D0F1-8CF4-B22631EAEBEA}"/>
                </a:ext>
              </a:extLst>
            </p:cNvPr>
            <p:cNvSpPr txBox="1"/>
            <p:nvPr/>
          </p:nvSpPr>
          <p:spPr>
            <a:xfrm>
              <a:off x="351298" y="6043781"/>
              <a:ext cx="1390186" cy="427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DK" sz="600" b="1" dirty="0"/>
                <a:t>Payment</a:t>
              </a:r>
            </a:p>
          </p:txBody>
        </p: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2756CE0B-B1C8-E4DA-8A5B-49B3AA82393F}"/>
                </a:ext>
              </a:extLst>
            </p:cNvPr>
            <p:cNvGrpSpPr/>
            <p:nvPr/>
          </p:nvGrpSpPr>
          <p:grpSpPr>
            <a:xfrm>
              <a:off x="5596918" y="1706054"/>
              <a:ext cx="1679526" cy="1692401"/>
              <a:chOff x="5596918" y="1706054"/>
              <a:chExt cx="1679526" cy="1692401"/>
            </a:xfrm>
          </p:grpSpPr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B0102DCF-E55F-DA0C-6C45-77FFF5DB0DCC}"/>
                  </a:ext>
                </a:extLst>
              </p:cNvPr>
              <p:cNvCxnSpPr>
                <a:cxnSpLocks/>
                <a:stCxn id="71" idx="0"/>
                <a:endCxn id="90" idx="2"/>
              </p:cNvCxnSpPr>
              <p:nvPr/>
            </p:nvCxnSpPr>
            <p:spPr>
              <a:xfrm flipV="1">
                <a:off x="6307337" y="3052218"/>
                <a:ext cx="129344" cy="346237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90" name="Picture 89">
                <a:extLst>
                  <a:ext uri="{FF2B5EF4-FFF2-40B4-BE49-F238E27FC236}">
                    <a16:creationId xmlns:a16="http://schemas.microsoft.com/office/drawing/2014/main" id="{0D0BDE59-AF70-B4AB-365A-157A3E8E02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596918" y="1706054"/>
                <a:ext cx="1679526" cy="1346164"/>
              </a:xfrm>
              <a:prstGeom prst="rect">
                <a:avLst/>
              </a:prstGeom>
            </p:spPr>
          </p:pic>
        </p:grpSp>
        <p:sp>
          <p:nvSpPr>
            <p:cNvPr id="77" name="Folded Corner 76">
              <a:extLst>
                <a:ext uri="{FF2B5EF4-FFF2-40B4-BE49-F238E27FC236}">
                  <a16:creationId xmlns:a16="http://schemas.microsoft.com/office/drawing/2014/main" id="{3163755D-04F7-EEB1-DD6F-A99617707322}"/>
                </a:ext>
              </a:extLst>
            </p:cNvPr>
            <p:cNvSpPr/>
            <p:nvPr/>
          </p:nvSpPr>
          <p:spPr>
            <a:xfrm>
              <a:off x="6999773" y="3169395"/>
              <a:ext cx="1445409" cy="962937"/>
            </a:xfrm>
            <a:prstGeom prst="foldedCorner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sz="300" dirty="0" err="1">
                  <a:solidFill>
                    <a:schemeClr val="tx1"/>
                  </a:solidFill>
                </a:rPr>
                <a:t>Add</a:t>
              </a:r>
              <a:r>
                <a:rPr lang="da-DK" sz="300" dirty="0">
                  <a:solidFill>
                    <a:schemeClr val="tx1"/>
                  </a:solidFill>
                </a:rPr>
                <a:t> Shipping </a:t>
              </a:r>
              <a:r>
                <a:rPr lang="da-DK" sz="300" dirty="0" err="1">
                  <a:solidFill>
                    <a:schemeClr val="tx1"/>
                  </a:solidFill>
                </a:rPr>
                <a:t>Details</a:t>
              </a:r>
              <a:r>
                <a:rPr lang="da-DK" sz="300" dirty="0">
                  <a:solidFill>
                    <a:schemeClr val="tx1"/>
                  </a:solidFill>
                </a:rPr>
                <a:t> to Order</a:t>
              </a:r>
            </a:p>
            <a:p>
              <a:pPr algn="ctr"/>
              <a:r>
                <a:rPr lang="da-DK" sz="3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</a:t>
              </a:r>
              <a:r>
                <a:rPr lang="da-DK" sz="3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orderId</a:t>
              </a:r>
              <a:r>
                <a:rPr lang="da-DK" sz="3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, </a:t>
              </a:r>
            </a:p>
            <a:p>
              <a:pPr algn="ctr"/>
              <a:r>
                <a:rPr lang="da-DK" sz="3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shippingAddress</a:t>
              </a:r>
              <a:r>
                <a:rPr lang="da-DK" sz="3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,</a:t>
              </a:r>
            </a:p>
            <a:p>
              <a:pPr algn="ctr"/>
              <a:r>
                <a:rPr lang="da-DK" sz="3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shippingMethod</a:t>
              </a:r>
              <a:r>
                <a:rPr lang="da-DK" sz="3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  <a:endParaRPr lang="en-DK" sz="3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8" name="Folded Corner 77">
              <a:extLst>
                <a:ext uri="{FF2B5EF4-FFF2-40B4-BE49-F238E27FC236}">
                  <a16:creationId xmlns:a16="http://schemas.microsoft.com/office/drawing/2014/main" id="{CBB8819F-C519-43FA-90D3-A66675AE4259}"/>
                </a:ext>
              </a:extLst>
            </p:cNvPr>
            <p:cNvSpPr/>
            <p:nvPr/>
          </p:nvSpPr>
          <p:spPr>
            <a:xfrm>
              <a:off x="7527225" y="4929966"/>
              <a:ext cx="1916762" cy="751409"/>
            </a:xfrm>
            <a:prstGeom prst="foldedCorner">
              <a:avLst/>
            </a:prstGeom>
            <a:solidFill>
              <a:srgbClr val="FFC000"/>
            </a:solidFill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DK" sz="300" dirty="0">
                  <a:solidFill>
                    <a:schemeClr val="tx1"/>
                  </a:solidFill>
                </a:rPr>
                <a:t>ShippingDetailsAdded</a:t>
              </a:r>
            </a:p>
            <a:p>
              <a:pPr algn="ctr"/>
              <a:r>
                <a:rPr lang="da-DK" sz="3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</a:t>
              </a:r>
              <a:r>
                <a:rPr lang="da-DK" sz="3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orderId</a:t>
              </a:r>
              <a:r>
                <a:rPr lang="da-DK" sz="3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, </a:t>
              </a:r>
            </a:p>
            <a:p>
              <a:pPr algn="ctr"/>
              <a:r>
                <a:rPr lang="da-DK" sz="3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shippingAddress</a:t>
              </a:r>
              <a:r>
                <a:rPr lang="da-DK" sz="3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,</a:t>
              </a:r>
            </a:p>
            <a:p>
              <a:pPr algn="ctr"/>
              <a:r>
                <a:rPr lang="da-DK" sz="3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shippingMethod</a:t>
              </a:r>
              <a:r>
                <a:rPr lang="da-DK" sz="3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  <a:endParaRPr lang="en-DK" sz="3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F0EA5EDA-692C-44C3-3AA9-A20B36912CAF}"/>
                </a:ext>
              </a:extLst>
            </p:cNvPr>
            <p:cNvCxnSpPr>
              <a:cxnSpLocks/>
              <a:stCxn id="77" idx="2"/>
              <a:endCxn id="78" idx="0"/>
            </p:cNvCxnSpPr>
            <p:nvPr/>
          </p:nvCxnSpPr>
          <p:spPr>
            <a:xfrm>
              <a:off x="7722478" y="4132332"/>
              <a:ext cx="763128" cy="79763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Folded Corner 79">
              <a:extLst>
                <a:ext uri="{FF2B5EF4-FFF2-40B4-BE49-F238E27FC236}">
                  <a16:creationId xmlns:a16="http://schemas.microsoft.com/office/drawing/2014/main" id="{05C06576-DEFD-E6F2-D46B-D7AC1ABB8479}"/>
                </a:ext>
              </a:extLst>
            </p:cNvPr>
            <p:cNvSpPr/>
            <p:nvPr/>
          </p:nvSpPr>
          <p:spPr>
            <a:xfrm>
              <a:off x="8551818" y="3378197"/>
              <a:ext cx="1680753" cy="624282"/>
            </a:xfrm>
            <a:prstGeom prst="foldedCorner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DK" sz="500" dirty="0">
                  <a:solidFill>
                    <a:schemeClr val="tx1"/>
                  </a:solidFill>
                </a:rPr>
                <a:t>Order</a:t>
              </a:r>
            </a:p>
            <a:p>
              <a:pPr algn="ctr"/>
              <a:r>
                <a:rPr lang="en-DK" sz="500" dirty="0">
                  <a:solidFill>
                    <a:schemeClr val="tx1"/>
                  </a:solidFill>
                </a:rPr>
                <a:t>Shipping Details</a:t>
              </a:r>
            </a:p>
            <a:p>
              <a:pPr algn="ctr"/>
              <a:r>
                <a:rPr lang="da-DK" sz="5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</a:t>
              </a:r>
              <a:r>
                <a:rPr lang="da-DK" sz="5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orderId</a:t>
              </a:r>
              <a:r>
                <a:rPr lang="da-DK" sz="5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,</a:t>
              </a:r>
              <a:r>
                <a:rPr lang="en-DK" sz="5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…)</a:t>
              </a:r>
              <a:endParaRPr lang="en-DK" sz="500" dirty="0">
                <a:solidFill>
                  <a:schemeClr val="tx1"/>
                </a:solidFill>
              </a:endParaRPr>
            </a:p>
          </p:txBody>
        </p: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04C854FE-F127-7661-97D2-5C0008BED48E}"/>
                </a:ext>
              </a:extLst>
            </p:cNvPr>
            <p:cNvCxnSpPr>
              <a:cxnSpLocks/>
              <a:stCxn id="78" idx="0"/>
              <a:endCxn id="80" idx="2"/>
            </p:cNvCxnSpPr>
            <p:nvPr/>
          </p:nvCxnSpPr>
          <p:spPr>
            <a:xfrm flipV="1">
              <a:off x="8485606" y="4002479"/>
              <a:ext cx="906589" cy="9274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3A3FC01A-3226-57A0-6E3A-3023BBF11ECE}"/>
                </a:ext>
              </a:extLst>
            </p:cNvPr>
            <p:cNvCxnSpPr>
              <a:cxnSpLocks/>
              <a:endCxn id="77" idx="0"/>
            </p:cNvCxnSpPr>
            <p:nvPr/>
          </p:nvCxnSpPr>
          <p:spPr>
            <a:xfrm>
              <a:off x="7009669" y="2940063"/>
              <a:ext cx="712809" cy="22933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974EA2AC-B1EF-7C4C-A65D-DBF0FA6CEC77}"/>
                </a:ext>
              </a:extLst>
            </p:cNvPr>
            <p:cNvCxnSpPr>
              <a:cxnSpLocks/>
              <a:stCxn id="80" idx="0"/>
            </p:cNvCxnSpPr>
            <p:nvPr/>
          </p:nvCxnSpPr>
          <p:spPr>
            <a:xfrm flipV="1">
              <a:off x="9392195" y="3065177"/>
              <a:ext cx="45364" cy="31302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94C0941F-E6C8-A21F-8F2F-6C517CFB776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366543" y="1677819"/>
              <a:ext cx="1784338" cy="1352242"/>
            </a:xfrm>
            <a:prstGeom prst="rect">
              <a:avLst/>
            </a:prstGeom>
          </p:spPr>
        </p:pic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3776D458-F2A8-D82C-053A-284BF7C5EB3D}"/>
                </a:ext>
              </a:extLst>
            </p:cNvPr>
            <p:cNvCxnSpPr>
              <a:cxnSpLocks/>
              <a:stCxn id="65" idx="0"/>
            </p:cNvCxnSpPr>
            <p:nvPr/>
          </p:nvCxnSpPr>
          <p:spPr>
            <a:xfrm flipV="1">
              <a:off x="3655964" y="2559704"/>
              <a:ext cx="281958" cy="81367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54FD9F00-ACB4-317B-CF9A-751DB6C99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551818" y="1702085"/>
              <a:ext cx="1784338" cy="1352242"/>
            </a:xfrm>
            <a:prstGeom prst="rect">
              <a:avLst/>
            </a:prstGeom>
          </p:spPr>
        </p:pic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C20EE84E-3F17-E688-B949-8AACCDB61057}"/>
                </a:ext>
              </a:extLst>
            </p:cNvPr>
            <p:cNvCxnSpPr>
              <a:cxnSpLocks/>
            </p:cNvCxnSpPr>
            <p:nvPr/>
          </p:nvCxnSpPr>
          <p:spPr>
            <a:xfrm>
              <a:off x="10373687" y="2440895"/>
              <a:ext cx="443086" cy="176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Folded Corner 87">
              <a:extLst>
                <a:ext uri="{FF2B5EF4-FFF2-40B4-BE49-F238E27FC236}">
                  <a16:creationId xmlns:a16="http://schemas.microsoft.com/office/drawing/2014/main" id="{9980AFFC-24A4-1BC7-8051-095774C74AFA}"/>
                </a:ext>
              </a:extLst>
            </p:cNvPr>
            <p:cNvSpPr/>
            <p:nvPr/>
          </p:nvSpPr>
          <p:spPr>
            <a:xfrm>
              <a:off x="4790665" y="4211090"/>
              <a:ext cx="1930979" cy="675332"/>
            </a:xfrm>
            <a:prstGeom prst="foldedCorner">
              <a:avLst/>
            </a:prstGeom>
            <a:solidFill>
              <a:srgbClr val="FFC000"/>
            </a:solidFill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DK" sz="300" dirty="0">
                  <a:solidFill>
                    <a:schemeClr val="tx1"/>
                  </a:solidFill>
                </a:rPr>
                <a:t>CheckOut</a:t>
              </a:r>
            </a:p>
            <a:p>
              <a:pPr algn="ctr"/>
              <a:r>
                <a:rPr lang="en-DK" sz="300" dirty="0">
                  <a:solidFill>
                    <a:schemeClr val="tx1"/>
                  </a:solidFill>
                </a:rPr>
                <a:t>Requested</a:t>
              </a:r>
            </a:p>
            <a:p>
              <a:pPr algn="ctr"/>
              <a:r>
                <a:rPr lang="en-DK" sz="3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(basketId, orderId)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922251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A1182-48C6-C152-6C03-A3A16284D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3C6F18E-00C7-1D09-BB9D-591B02338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754062"/>
            <a:ext cx="11472001" cy="778034"/>
          </a:xfrm>
        </p:spPr>
        <p:txBody>
          <a:bodyPr/>
          <a:lstStyle/>
          <a:p>
            <a:r>
              <a:rPr lang="en-US" sz="2800" dirty="0"/>
              <a:t>Estimation Certainty: Finally Predictable Development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84F722-A351-CC80-2034-6A0D5C1ED3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da-DK" dirty="0"/>
              <a:t> </a:t>
            </a:r>
          </a:p>
          <a:p>
            <a:endParaRPr lang="da-DK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9233A-627A-55A8-89DD-92CB9C2156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Privat/Fortroligt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437DBE-DD26-BA4E-8F70-8C218FBD589F}"/>
              </a:ext>
            </a:extLst>
          </p:cNvPr>
          <p:cNvSpPr txBox="1"/>
          <p:nvPr/>
        </p:nvSpPr>
        <p:spPr>
          <a:xfrm>
            <a:off x="1189840" y="1659285"/>
            <a:ext cx="6329680" cy="353943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l">
              <a:buNone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</a:rPr>
              <a:t>Why Estimation Works with Slices</a:t>
            </a:r>
            <a:endParaRPr lang="en-US" sz="1400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Clearly defined inputs and outputs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Limited scope with visible boundaries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Standard patterns with predictable implementations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No hidden dependencies between components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400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None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</a:rPr>
              <a:t>Comparison to Traditional Estimation</a:t>
            </a:r>
            <a:endParaRPr lang="en-US" sz="1400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Traditional projects: +/- 50-100% accuracy common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Slice-based projects: +/- 15-25% accuracy achievable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Team confidence in estimates increases dramatically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400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None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</a:rPr>
              <a:t>The Mathematics of Better Estimation</a:t>
            </a:r>
            <a:endParaRPr lang="en-US" sz="1400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Smaller units of work have less variability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Standard patterns reduce unknown factors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Parallelization reduces critical path dependencies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Historical data becomes more relevant and applicable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39B6FA-0800-C801-C360-38CF55BAE27B}"/>
              </a:ext>
            </a:extLst>
          </p:cNvPr>
          <p:cNvSpPr txBox="1"/>
          <p:nvPr/>
        </p:nvSpPr>
        <p:spPr>
          <a:xfrm>
            <a:off x="1726080" y="5544751"/>
            <a:ext cx="84584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i="1" dirty="0"/>
              <a:t>"When you're estimating a well-defined slice with clear boundaries, you're no longer guessing - you're calculating based on real knowledge."</a:t>
            </a:r>
            <a:endParaRPr lang="en-US" sz="1800" dirty="0"/>
          </a:p>
        </p:txBody>
      </p:sp>
      <p:pic>
        <p:nvPicPr>
          <p:cNvPr id="11" name="Graphic 10" descr="Calculator with solid fill">
            <a:extLst>
              <a:ext uri="{FF2B5EF4-FFF2-40B4-BE49-F238E27FC236}">
                <a16:creationId xmlns:a16="http://schemas.microsoft.com/office/drawing/2014/main" id="{33552635-BE46-ADDD-8803-3A15BB689A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1750" y="4101353"/>
            <a:ext cx="914400" cy="914400"/>
          </a:xfrm>
          <a:prstGeom prst="rect">
            <a:avLst/>
          </a:prstGeom>
        </p:spPr>
      </p:pic>
      <p:pic>
        <p:nvPicPr>
          <p:cNvPr id="13" name="Graphic 12" descr="Bar graph with downward trend with solid fill">
            <a:extLst>
              <a:ext uri="{FF2B5EF4-FFF2-40B4-BE49-F238E27FC236}">
                <a16:creationId xmlns:a16="http://schemas.microsoft.com/office/drawing/2014/main" id="{E772D42E-F562-83F9-9D55-75025667CA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9588" y="2903617"/>
            <a:ext cx="914400" cy="914400"/>
          </a:xfrm>
          <a:prstGeom prst="rect">
            <a:avLst/>
          </a:prstGeom>
        </p:spPr>
      </p:pic>
      <p:pic>
        <p:nvPicPr>
          <p:cNvPr id="15" name="Graphic 14" descr="Thought with solid fill">
            <a:extLst>
              <a:ext uri="{FF2B5EF4-FFF2-40B4-BE49-F238E27FC236}">
                <a16:creationId xmlns:a16="http://schemas.microsoft.com/office/drawing/2014/main" id="{28DE460C-0772-E998-DB73-C7659EB570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5439" y="173902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530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166C2-2D49-D49C-9AB1-9A8016B1F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 descr="Clipboard Checked with solid fill">
            <a:extLst>
              <a:ext uri="{FF2B5EF4-FFF2-40B4-BE49-F238E27FC236}">
                <a16:creationId xmlns:a16="http://schemas.microsoft.com/office/drawing/2014/main" id="{202BFAC9-B116-D768-B8CB-060A6208FE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726" y="3958077"/>
            <a:ext cx="914400" cy="730123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2701948-C358-E890-4F42-2A6A7EFAD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754062"/>
            <a:ext cx="11472001" cy="390235"/>
          </a:xfrm>
        </p:spPr>
        <p:txBody>
          <a:bodyPr/>
          <a:lstStyle/>
          <a:p>
            <a:r>
              <a:rPr lang="en-US" sz="2800" dirty="0"/>
              <a:t>Testing: Built-In Quality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3B2484-D4EB-DC23-7092-4BC232E9499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34389-D877-D55A-6015-209933D369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Privat/Fortroligt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573836-5BA4-F6C8-EB5B-5372FD4B483F}"/>
              </a:ext>
            </a:extLst>
          </p:cNvPr>
          <p:cNvSpPr txBox="1"/>
          <p:nvPr/>
        </p:nvSpPr>
        <p:spPr>
          <a:xfrm>
            <a:off x="875459" y="1690967"/>
            <a:ext cx="6329680" cy="3108543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l">
              <a:buNone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</a:rPr>
              <a:t>Given/When/Then from the Model</a:t>
            </a:r>
            <a:endParaRPr lang="en-US" sz="1400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Tests derived directly from the event model (Given/When/Then test cases)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Each slice has clear acceptance criteria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Tests written before implementation begins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400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None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</a:rPr>
              <a:t>Complete Test Coverage</a:t>
            </a:r>
            <a:endParaRPr lang="en-US" sz="1400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Unit tests for command handling and business rules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Integration tests for views and projections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End-to-end tests for complete slices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400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None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</a:rPr>
              <a:t>Example Test Scenario:</a:t>
            </a:r>
            <a:endParaRPr lang="en-US" sz="1400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</a:rPr>
              <a:t>Given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: A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Customer</a:t>
            </a:r>
            <a:r>
              <a:rPr lang="en-US" sz="1400" b="0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IsRegistered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 and a </a:t>
            </a:r>
            <a:r>
              <a:rPr lang="en-US" sz="1400" b="0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RoomAdded</a:t>
            </a:r>
            <a:endParaRPr lang="en-US" sz="1400" b="0" i="0" u="none" strike="noStrike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</a:rPr>
              <a:t>When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: The Customer tries to </a:t>
            </a:r>
            <a:r>
              <a:rPr lang="en-US" sz="1400" b="0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BookRoom</a:t>
            </a:r>
            <a:endParaRPr lang="en-US" sz="1400" b="0" i="0" u="none" strike="noStrike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</a:rPr>
              <a:t>Then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: An </a:t>
            </a:r>
            <a:r>
              <a:rPr lang="en-US" sz="1400" b="0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RoomBooked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 event is emitted with correct details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CBF1D3-3322-6C38-82EC-D933E795B2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8317" y="949179"/>
            <a:ext cx="3377533" cy="4161232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2A546A1-3BD2-73A9-519A-53D67A719586}"/>
              </a:ext>
            </a:extLst>
          </p:cNvPr>
          <p:cNvSpPr txBox="1"/>
          <p:nvPr/>
        </p:nvSpPr>
        <p:spPr>
          <a:xfrm>
            <a:off x="875459" y="5345149"/>
            <a:ext cx="6098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i="1" dirty="0"/>
              <a:t>"Quality isn't added later - it's built in from the beginning through tests that directly reflect business requirements."</a:t>
            </a:r>
            <a:endParaRPr lang="en-US" sz="1800" dirty="0"/>
          </a:p>
        </p:txBody>
      </p:sp>
      <p:pic>
        <p:nvPicPr>
          <p:cNvPr id="10" name="Graphic 9" descr="Shield Tick with solid fill">
            <a:extLst>
              <a:ext uri="{FF2B5EF4-FFF2-40B4-BE49-F238E27FC236}">
                <a16:creationId xmlns:a16="http://schemas.microsoft.com/office/drawing/2014/main" id="{A894893F-D426-541E-A38B-4887B35B88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26" y="2787523"/>
            <a:ext cx="914400" cy="914400"/>
          </a:xfrm>
          <a:prstGeom prst="rect">
            <a:avLst/>
          </a:prstGeom>
        </p:spPr>
      </p:pic>
      <p:pic>
        <p:nvPicPr>
          <p:cNvPr id="12" name="Graphic 11" descr="Magnifying glass with solid fill">
            <a:extLst>
              <a:ext uri="{FF2B5EF4-FFF2-40B4-BE49-F238E27FC236}">
                <a16:creationId xmlns:a16="http://schemas.microsoft.com/office/drawing/2014/main" id="{014F136E-1507-ECCB-F667-EA353450B5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986" y="3846767"/>
            <a:ext cx="508140" cy="508140"/>
          </a:xfrm>
          <a:prstGeom prst="rect">
            <a:avLst/>
          </a:prstGeom>
        </p:spPr>
      </p:pic>
      <p:pic>
        <p:nvPicPr>
          <p:cNvPr id="14" name="Graphic 13" descr="Clipboard Checked with solid fill">
            <a:extLst>
              <a:ext uri="{FF2B5EF4-FFF2-40B4-BE49-F238E27FC236}">
                <a16:creationId xmlns:a16="http://schemas.microsoft.com/office/drawing/2014/main" id="{1C05D223-CC25-C6D6-A049-8D0FC7B984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726" y="1784065"/>
            <a:ext cx="914400" cy="730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2785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6EAAC-863A-A6BA-71BE-94E5A9356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>
                <a:solidFill>
                  <a:schemeClr val="accent5"/>
                </a:solidFill>
              </a:rPr>
              <a:t>Event </a:t>
            </a:r>
            <a:r>
              <a:rPr lang="da-DK" dirty="0" err="1">
                <a:solidFill>
                  <a:schemeClr val="accent5"/>
                </a:solidFill>
              </a:rPr>
              <a:t>modeling</a:t>
            </a:r>
            <a:r>
              <a:rPr lang="da-DK" dirty="0">
                <a:solidFill>
                  <a:schemeClr val="accent5"/>
                </a:solidFill>
              </a:rPr>
              <a:t> by </a:t>
            </a:r>
            <a:r>
              <a:rPr lang="da-DK" dirty="0" err="1">
                <a:solidFill>
                  <a:schemeClr val="accent5"/>
                </a:solidFill>
              </a:rPr>
              <a:t>example</a:t>
            </a:r>
            <a:endParaRPr lang="en-DK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98613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4662ADD-E0F7-BDA6-DA85-425E1964A6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a-DK" dirty="0"/>
              <a:t>Sales</a:t>
            </a:r>
            <a:r>
              <a:rPr lang="en-DK" dirty="0"/>
              <a:t> system – order completion flow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DB9E50-B2EA-25BD-F036-C32699D65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3582" y="1348524"/>
            <a:ext cx="2395046" cy="181506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0B3423D8-66BB-5771-41FE-AB873B28E4E0}"/>
              </a:ext>
            </a:extLst>
          </p:cNvPr>
          <p:cNvGrpSpPr/>
          <p:nvPr/>
        </p:nvGrpSpPr>
        <p:grpSpPr>
          <a:xfrm>
            <a:off x="2677393" y="3430396"/>
            <a:ext cx="3114795" cy="1971747"/>
            <a:chOff x="2677393" y="3430396"/>
            <a:chExt cx="3114795" cy="1971747"/>
          </a:xfrm>
        </p:grpSpPr>
        <p:sp>
          <p:nvSpPr>
            <p:cNvPr id="14" name="Right Arrow 13">
              <a:extLst>
                <a:ext uri="{FF2B5EF4-FFF2-40B4-BE49-F238E27FC236}">
                  <a16:creationId xmlns:a16="http://schemas.microsoft.com/office/drawing/2014/main" id="{17F263FC-C9AE-D784-4DA8-2101D695DA4E}"/>
                </a:ext>
              </a:extLst>
            </p:cNvPr>
            <p:cNvSpPr/>
            <p:nvPr/>
          </p:nvSpPr>
          <p:spPr>
            <a:xfrm>
              <a:off x="2677393" y="4274783"/>
              <a:ext cx="486246" cy="375334"/>
            </a:xfrm>
            <a:prstGeom prst="rightArrow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83B0049-3B27-E328-564F-FACAA28B8F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90388" y="3430396"/>
              <a:ext cx="2601800" cy="1971747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95801B8-FB0E-11E6-342E-D9104FB67274}"/>
              </a:ext>
            </a:extLst>
          </p:cNvPr>
          <p:cNvGrpSpPr/>
          <p:nvPr/>
        </p:nvGrpSpPr>
        <p:grpSpPr>
          <a:xfrm>
            <a:off x="5658112" y="1392099"/>
            <a:ext cx="3030776" cy="1815061"/>
            <a:chOff x="5658112" y="1392099"/>
            <a:chExt cx="3030776" cy="1815061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86CF2B9-228E-3251-FB0C-C20F153FACB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93842" y="1392099"/>
              <a:ext cx="2395046" cy="1815061"/>
            </a:xfrm>
            <a:prstGeom prst="rect">
              <a:avLst/>
            </a:prstGeom>
          </p:spPr>
        </p:pic>
        <p:sp>
          <p:nvSpPr>
            <p:cNvPr id="11" name="Right Arrow 10">
              <a:extLst>
                <a:ext uri="{FF2B5EF4-FFF2-40B4-BE49-F238E27FC236}">
                  <a16:creationId xmlns:a16="http://schemas.microsoft.com/office/drawing/2014/main" id="{CE50FB5D-ED7F-59BB-52BA-28364C47800C}"/>
                </a:ext>
              </a:extLst>
            </p:cNvPr>
            <p:cNvSpPr/>
            <p:nvPr/>
          </p:nvSpPr>
          <p:spPr>
            <a:xfrm>
              <a:off x="5658112" y="2102299"/>
              <a:ext cx="486246" cy="375334"/>
            </a:xfrm>
            <a:prstGeom prst="rightArrow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2E5E229-8767-3CC1-8F2D-D6FFFD49C369}"/>
              </a:ext>
            </a:extLst>
          </p:cNvPr>
          <p:cNvGrpSpPr/>
          <p:nvPr/>
        </p:nvGrpSpPr>
        <p:grpSpPr>
          <a:xfrm>
            <a:off x="144967" y="2145237"/>
            <a:ext cx="9398563" cy="3256908"/>
            <a:chOff x="144967" y="2145237"/>
            <a:chExt cx="9398563" cy="3256908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F0F25679-64AC-D627-A28C-4CB06687062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4967" y="3430398"/>
              <a:ext cx="2460028" cy="1971747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2" name="Right Arrow 11">
              <a:extLst>
                <a:ext uri="{FF2B5EF4-FFF2-40B4-BE49-F238E27FC236}">
                  <a16:creationId xmlns:a16="http://schemas.microsoft.com/office/drawing/2014/main" id="{4F2EB031-0BA7-736A-21F2-BC85D763AAD1}"/>
                </a:ext>
              </a:extLst>
            </p:cNvPr>
            <p:cNvSpPr/>
            <p:nvPr/>
          </p:nvSpPr>
          <p:spPr>
            <a:xfrm>
              <a:off x="9057284" y="2145237"/>
              <a:ext cx="486246" cy="375334"/>
            </a:xfrm>
            <a:prstGeom prst="rightArrow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64E9157-0022-4EDF-62A9-A1B3AAB2A234}"/>
              </a:ext>
            </a:extLst>
          </p:cNvPr>
          <p:cNvGrpSpPr/>
          <p:nvPr/>
        </p:nvGrpSpPr>
        <p:grpSpPr>
          <a:xfrm>
            <a:off x="5854191" y="3437611"/>
            <a:ext cx="3088046" cy="1971747"/>
            <a:chOff x="5854191" y="3437611"/>
            <a:chExt cx="3088046" cy="1971747"/>
          </a:xfrm>
        </p:grpSpPr>
        <p:sp>
          <p:nvSpPr>
            <p:cNvPr id="28" name="Right Arrow 27">
              <a:extLst>
                <a:ext uri="{FF2B5EF4-FFF2-40B4-BE49-F238E27FC236}">
                  <a16:creationId xmlns:a16="http://schemas.microsoft.com/office/drawing/2014/main" id="{56912BC8-B21E-B90C-82E1-C9C6F9E67A8C}"/>
                </a:ext>
              </a:extLst>
            </p:cNvPr>
            <p:cNvSpPr/>
            <p:nvPr/>
          </p:nvSpPr>
          <p:spPr>
            <a:xfrm>
              <a:off x="5854191" y="4228604"/>
              <a:ext cx="486246" cy="375334"/>
            </a:xfrm>
            <a:prstGeom prst="rightArrow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DC487562-DEA4-3B17-C358-9B49CB658F0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40437" y="3437611"/>
              <a:ext cx="2601800" cy="1971747"/>
            </a:xfrm>
            <a:prstGeom prst="rect">
              <a:avLst/>
            </a:prstGeom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67F57AD-BB3A-4DDA-56B7-C1EBB1659FEA}"/>
              </a:ext>
            </a:extLst>
          </p:cNvPr>
          <p:cNvGrpSpPr/>
          <p:nvPr/>
        </p:nvGrpSpPr>
        <p:grpSpPr>
          <a:xfrm>
            <a:off x="8994789" y="3476576"/>
            <a:ext cx="3068623" cy="1971748"/>
            <a:chOff x="8994789" y="3476576"/>
            <a:chExt cx="3068623" cy="1971748"/>
          </a:xfrm>
        </p:grpSpPr>
        <p:sp>
          <p:nvSpPr>
            <p:cNvPr id="13" name="Right Arrow 12">
              <a:extLst>
                <a:ext uri="{FF2B5EF4-FFF2-40B4-BE49-F238E27FC236}">
                  <a16:creationId xmlns:a16="http://schemas.microsoft.com/office/drawing/2014/main" id="{F879FABA-0315-58D3-569B-5214C61A405E}"/>
                </a:ext>
              </a:extLst>
            </p:cNvPr>
            <p:cNvSpPr/>
            <p:nvPr/>
          </p:nvSpPr>
          <p:spPr>
            <a:xfrm>
              <a:off x="8994789" y="4235818"/>
              <a:ext cx="486246" cy="375334"/>
            </a:xfrm>
            <a:prstGeom prst="rightArrow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C632483A-8766-EC34-03E7-89065EE64A0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461611" y="3476576"/>
              <a:ext cx="2601801" cy="19717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81965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4662ADD-E0F7-BDA6-DA85-425E1964A6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a-DK"/>
              <a:t>Sales</a:t>
            </a:r>
            <a:r>
              <a:rPr lang="en-DK"/>
              <a:t> system – Find PRODUCT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991BBD-CEB6-7528-A893-C07A7350146C}"/>
              </a:ext>
            </a:extLst>
          </p:cNvPr>
          <p:cNvSpPr/>
          <p:nvPr/>
        </p:nvSpPr>
        <p:spPr>
          <a:xfrm>
            <a:off x="228600" y="1576039"/>
            <a:ext cx="11420708" cy="5084956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779FA08-E607-C1B5-5A3C-0F2B48123D5B}"/>
              </a:ext>
            </a:extLst>
          </p:cNvPr>
          <p:cNvCxnSpPr>
            <a:cxnSpLocks/>
          </p:cNvCxnSpPr>
          <p:nvPr/>
        </p:nvCxnSpPr>
        <p:spPr>
          <a:xfrm>
            <a:off x="670784" y="4924520"/>
            <a:ext cx="9798205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CE659B-FC5F-BBAC-6EA9-8F185CDA8B77}"/>
              </a:ext>
            </a:extLst>
          </p:cNvPr>
          <p:cNvCxnSpPr>
            <a:cxnSpLocks/>
          </p:cNvCxnSpPr>
          <p:nvPr/>
        </p:nvCxnSpPr>
        <p:spPr>
          <a:xfrm>
            <a:off x="670784" y="5723692"/>
            <a:ext cx="9798205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F24B92F-64C2-B2F9-0813-9ED060AB2CC1}"/>
              </a:ext>
            </a:extLst>
          </p:cNvPr>
          <p:cNvCxnSpPr>
            <a:cxnSpLocks/>
          </p:cNvCxnSpPr>
          <p:nvPr/>
        </p:nvCxnSpPr>
        <p:spPr>
          <a:xfrm>
            <a:off x="670784" y="4158803"/>
            <a:ext cx="9798205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3E63704-6FD6-BB2A-3359-14DC3B98B7BE}"/>
              </a:ext>
            </a:extLst>
          </p:cNvPr>
          <p:cNvCxnSpPr>
            <a:cxnSpLocks/>
          </p:cNvCxnSpPr>
          <p:nvPr/>
        </p:nvCxnSpPr>
        <p:spPr>
          <a:xfrm>
            <a:off x="670784" y="3140326"/>
            <a:ext cx="9798205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8509AED-B111-55F9-2F76-B3A3F4A909F9}"/>
              </a:ext>
            </a:extLst>
          </p:cNvPr>
          <p:cNvSpPr txBox="1"/>
          <p:nvPr/>
        </p:nvSpPr>
        <p:spPr>
          <a:xfrm>
            <a:off x="360983" y="4408424"/>
            <a:ext cx="13901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sz="1200"/>
              <a:t>Sales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626D3AF-04DC-31E8-BBFE-D55B2E590B03}"/>
              </a:ext>
            </a:extLst>
          </p:cNvPr>
          <p:cNvSpPr txBox="1"/>
          <p:nvPr/>
        </p:nvSpPr>
        <p:spPr>
          <a:xfrm>
            <a:off x="351299" y="5190671"/>
            <a:ext cx="13901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sz="1200"/>
              <a:t>Shipping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96391DF-FD8B-0A2A-1624-E53D433D82A1}"/>
              </a:ext>
            </a:extLst>
          </p:cNvPr>
          <p:cNvSpPr txBox="1"/>
          <p:nvPr/>
        </p:nvSpPr>
        <p:spPr>
          <a:xfrm>
            <a:off x="351300" y="2282705"/>
            <a:ext cx="13901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sz="1200"/>
              <a:t>Web App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6A97F38-DE35-EB52-A6DF-E28F201BE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5838" y="1686734"/>
            <a:ext cx="1760323" cy="1334043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5A7533AD-2C0F-C78F-204B-048645219415}"/>
              </a:ext>
            </a:extLst>
          </p:cNvPr>
          <p:cNvSpPr txBox="1"/>
          <p:nvPr/>
        </p:nvSpPr>
        <p:spPr>
          <a:xfrm>
            <a:off x="351298" y="6043782"/>
            <a:ext cx="13901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sz="1200"/>
              <a:t>Payment</a:t>
            </a:r>
          </a:p>
        </p:txBody>
      </p:sp>
      <p:sp>
        <p:nvSpPr>
          <p:cNvPr id="54" name="Folded Corner 53">
            <a:extLst>
              <a:ext uri="{FF2B5EF4-FFF2-40B4-BE49-F238E27FC236}">
                <a16:creationId xmlns:a16="http://schemas.microsoft.com/office/drawing/2014/main" id="{41E9D2E2-D999-F9C9-CC1F-3510213087E9}"/>
              </a:ext>
            </a:extLst>
          </p:cNvPr>
          <p:cNvSpPr/>
          <p:nvPr/>
        </p:nvSpPr>
        <p:spPr>
          <a:xfrm>
            <a:off x="1046390" y="4276012"/>
            <a:ext cx="1129601" cy="524826"/>
          </a:xfrm>
          <a:prstGeom prst="foldedCorner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K" sz="1000">
                <a:solidFill>
                  <a:schemeClr val="tx1"/>
                </a:solidFill>
              </a:rPr>
              <a:t>Product Added</a:t>
            </a:r>
          </a:p>
        </p:txBody>
      </p:sp>
      <p:sp>
        <p:nvSpPr>
          <p:cNvPr id="55" name="Folded Corner 54">
            <a:extLst>
              <a:ext uri="{FF2B5EF4-FFF2-40B4-BE49-F238E27FC236}">
                <a16:creationId xmlns:a16="http://schemas.microsoft.com/office/drawing/2014/main" id="{6B7476EF-819B-7498-4A50-54F4C441DC17}"/>
              </a:ext>
            </a:extLst>
          </p:cNvPr>
          <p:cNvSpPr/>
          <p:nvPr/>
        </p:nvSpPr>
        <p:spPr>
          <a:xfrm>
            <a:off x="2296597" y="4259569"/>
            <a:ext cx="1129601" cy="524826"/>
          </a:xfrm>
          <a:prstGeom prst="foldedCorner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K" sz="1000">
                <a:solidFill>
                  <a:schemeClr val="tx1"/>
                </a:solidFill>
              </a:rPr>
              <a:t>Product Price Changed</a:t>
            </a:r>
          </a:p>
        </p:txBody>
      </p:sp>
      <p:sp>
        <p:nvSpPr>
          <p:cNvPr id="56" name="Folded Corner 55">
            <a:extLst>
              <a:ext uri="{FF2B5EF4-FFF2-40B4-BE49-F238E27FC236}">
                <a16:creationId xmlns:a16="http://schemas.microsoft.com/office/drawing/2014/main" id="{AEE34BB4-4423-0AFD-CE3B-865F092AD405}"/>
              </a:ext>
            </a:extLst>
          </p:cNvPr>
          <p:cNvSpPr/>
          <p:nvPr/>
        </p:nvSpPr>
        <p:spPr>
          <a:xfrm>
            <a:off x="4283531" y="3396348"/>
            <a:ext cx="1531704" cy="590861"/>
          </a:xfrm>
          <a:prstGeom prst="foldedCorner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K" sz="1600" dirty="0">
                <a:solidFill>
                  <a:schemeClr val="tx1"/>
                </a:solidFill>
              </a:rPr>
              <a:t>Products For</a:t>
            </a:r>
          </a:p>
          <a:p>
            <a:pPr algn="ctr"/>
            <a:r>
              <a:rPr lang="en-DK" sz="1600" dirty="0">
                <a:solidFill>
                  <a:schemeClr val="tx1"/>
                </a:solidFill>
              </a:rPr>
              <a:t>Sale View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65708C0-D77A-CC3E-E4E1-01BF33B32D09}"/>
              </a:ext>
            </a:extLst>
          </p:cNvPr>
          <p:cNvCxnSpPr>
            <a:stCxn id="54" idx="0"/>
          </p:cNvCxnSpPr>
          <p:nvPr/>
        </p:nvCxnSpPr>
        <p:spPr>
          <a:xfrm flipV="1">
            <a:off x="1611191" y="3987209"/>
            <a:ext cx="3442440" cy="2888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C12013A-816D-CA8D-F008-21FF49B3606C}"/>
              </a:ext>
            </a:extLst>
          </p:cNvPr>
          <p:cNvCxnSpPr>
            <a:cxnSpLocks/>
            <a:stCxn id="55" idx="3"/>
            <a:endCxn id="56" idx="2"/>
          </p:cNvCxnSpPr>
          <p:nvPr/>
        </p:nvCxnSpPr>
        <p:spPr>
          <a:xfrm flipV="1">
            <a:off x="3426198" y="3987209"/>
            <a:ext cx="1623185" cy="5347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00B9B191-1CF6-5011-E0F5-6D27A3B2B732}"/>
              </a:ext>
            </a:extLst>
          </p:cNvPr>
          <p:cNvCxnSpPr>
            <a:cxnSpLocks/>
            <a:stCxn id="56" idx="0"/>
          </p:cNvCxnSpPr>
          <p:nvPr/>
        </p:nvCxnSpPr>
        <p:spPr>
          <a:xfrm flipV="1">
            <a:off x="5049383" y="2682240"/>
            <a:ext cx="668665" cy="7141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37215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CD95EF-366B-E012-36DB-276BE385429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Event sourcing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3090C4D-D2FC-02B4-3A9F-E23C11D7BAF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What is it?</a:t>
            </a: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9FC916-9372-A262-C832-14B6BD37ACF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Benefits of event sourcing</a:t>
            </a:r>
          </a:p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639444-ADA1-7D52-5037-112CB38DF3C1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GB" b="1" dirty="0"/>
              <a:t>Event Sourcing</a:t>
            </a:r>
            <a:r>
              <a:rPr lang="en-GB" dirty="0"/>
              <a:t> is a software architecture pattern where the </a:t>
            </a:r>
            <a:r>
              <a:rPr lang="en-GB" b="1" dirty="0"/>
              <a:t>state</a:t>
            </a:r>
            <a:r>
              <a:rPr lang="en-GB" dirty="0"/>
              <a:t> of an application is </a:t>
            </a:r>
            <a:r>
              <a:rPr lang="en-GB" b="1" dirty="0"/>
              <a:t>determined</a:t>
            </a:r>
            <a:r>
              <a:rPr lang="en-GB" dirty="0"/>
              <a:t> by a </a:t>
            </a:r>
            <a:r>
              <a:rPr lang="en-GB" b="1" dirty="0"/>
              <a:t>sequence</a:t>
            </a:r>
            <a:r>
              <a:rPr lang="en-GB" dirty="0"/>
              <a:t> of </a:t>
            </a:r>
            <a:r>
              <a:rPr lang="en-GB" b="1" dirty="0"/>
              <a:t>events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b="1" dirty="0"/>
              <a:t>Building blocks:</a:t>
            </a:r>
          </a:p>
          <a:p>
            <a:r>
              <a:rPr lang="en-GB" b="1" dirty="0"/>
              <a:t>Events</a:t>
            </a:r>
            <a:r>
              <a:rPr lang="en-GB" dirty="0"/>
              <a:t>:  Immutable records of something that has happened in the system.</a:t>
            </a:r>
          </a:p>
          <a:p>
            <a:r>
              <a:rPr lang="en-GB" b="1" dirty="0"/>
              <a:t>Commands</a:t>
            </a:r>
            <a:r>
              <a:rPr lang="en-GB" dirty="0"/>
              <a:t>: Requests to perform an action or change state.</a:t>
            </a:r>
          </a:p>
          <a:p>
            <a:r>
              <a:rPr lang="en-GB" b="1" dirty="0"/>
              <a:t>Aggregates</a:t>
            </a:r>
            <a:r>
              <a:rPr lang="en-GB" dirty="0"/>
              <a:t>: Entities that apply business rules and generate events (used less and less)</a:t>
            </a:r>
          </a:p>
          <a:p>
            <a:r>
              <a:rPr lang="en-GB" b="1" dirty="0"/>
              <a:t>Event Store</a:t>
            </a:r>
            <a:r>
              <a:rPr lang="en-GB" dirty="0"/>
              <a:t>: A persistent log of all events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D2BCC6C-24AA-F24D-74DA-4D5CC05C0594}"/>
              </a:ext>
            </a:extLst>
          </p:cNvPr>
          <p:cNvSpPr>
            <a:spLocks noGrp="1"/>
          </p:cNvSpPr>
          <p:nvPr>
            <p:ph sz="half" idx="11"/>
          </p:nvPr>
        </p:nvSpPr>
        <p:spPr/>
        <p:txBody>
          <a:bodyPr/>
          <a:lstStyle/>
          <a:p>
            <a:r>
              <a:rPr lang="en-GB" dirty="0"/>
              <a:t>Historical Transparency: Easily trace and understand changes over time.</a:t>
            </a:r>
          </a:p>
          <a:p>
            <a:r>
              <a:rPr lang="en-GB" dirty="0"/>
              <a:t>Auditability: Every state change is recorded.</a:t>
            </a:r>
          </a:p>
          <a:p>
            <a:r>
              <a:rPr lang="en-GB" dirty="0"/>
              <a:t>Time Travel: Reconstruct past states by replaying events.</a:t>
            </a:r>
          </a:p>
          <a:p>
            <a:r>
              <a:rPr lang="en-GB" dirty="0"/>
              <a:t>Decoupling: Components can react independently to events.</a:t>
            </a:r>
            <a:endParaRPr lang="en-DK" dirty="0"/>
          </a:p>
          <a:p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0AF4734-BAA9-6F0D-88C0-22DA7423F844}"/>
              </a:ext>
            </a:extLst>
          </p:cNvPr>
          <p:cNvGrpSpPr/>
          <p:nvPr/>
        </p:nvGrpSpPr>
        <p:grpSpPr>
          <a:xfrm>
            <a:off x="94129" y="1835285"/>
            <a:ext cx="822512" cy="715174"/>
            <a:chOff x="94129" y="1835285"/>
            <a:chExt cx="822512" cy="715174"/>
          </a:xfrm>
        </p:grpSpPr>
        <p:sp>
          <p:nvSpPr>
            <p:cNvPr id="19" name="Folded Corner 6">
              <a:extLst>
                <a:ext uri="{FF2B5EF4-FFF2-40B4-BE49-F238E27FC236}">
                  <a16:creationId xmlns:a16="http://schemas.microsoft.com/office/drawing/2014/main" id="{DE95F62C-D7FE-C824-C185-AC63B1EE00EA}"/>
                </a:ext>
              </a:extLst>
            </p:cNvPr>
            <p:cNvSpPr/>
            <p:nvPr/>
          </p:nvSpPr>
          <p:spPr>
            <a:xfrm>
              <a:off x="94129" y="1835285"/>
              <a:ext cx="517712" cy="410374"/>
            </a:xfrm>
            <a:prstGeom prst="foldedCorner">
              <a:avLst/>
            </a:prstGeom>
            <a:solidFill>
              <a:srgbClr val="EDA931"/>
            </a:solidFill>
            <a:ln w="12700" cap="flat" cmpd="sng" algn="ctr">
              <a:solidFill>
                <a:srgbClr val="EDA931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D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endParaRPr>
            </a:p>
          </p:txBody>
        </p:sp>
        <p:sp>
          <p:nvSpPr>
            <p:cNvPr id="20" name="Folded Corner 7">
              <a:extLst>
                <a:ext uri="{FF2B5EF4-FFF2-40B4-BE49-F238E27FC236}">
                  <a16:creationId xmlns:a16="http://schemas.microsoft.com/office/drawing/2014/main" id="{E59C811F-D583-41E6-6AB2-192ACED7F011}"/>
                </a:ext>
              </a:extLst>
            </p:cNvPr>
            <p:cNvSpPr/>
            <p:nvPr/>
          </p:nvSpPr>
          <p:spPr>
            <a:xfrm>
              <a:off x="246529" y="1987685"/>
              <a:ext cx="517712" cy="410374"/>
            </a:xfrm>
            <a:prstGeom prst="foldedCorner">
              <a:avLst/>
            </a:prstGeom>
            <a:solidFill>
              <a:srgbClr val="EDA931"/>
            </a:solidFill>
            <a:ln w="12700" cap="flat" cmpd="sng" algn="ctr">
              <a:solidFill>
                <a:srgbClr val="EDA931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D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endParaRPr>
            </a:p>
          </p:txBody>
        </p:sp>
        <p:sp>
          <p:nvSpPr>
            <p:cNvPr id="21" name="Folded Corner 8">
              <a:extLst>
                <a:ext uri="{FF2B5EF4-FFF2-40B4-BE49-F238E27FC236}">
                  <a16:creationId xmlns:a16="http://schemas.microsoft.com/office/drawing/2014/main" id="{373EAE9E-CB69-A74C-B6A7-78C894AC020D}"/>
                </a:ext>
              </a:extLst>
            </p:cNvPr>
            <p:cNvSpPr/>
            <p:nvPr/>
          </p:nvSpPr>
          <p:spPr>
            <a:xfrm>
              <a:off x="398929" y="2140085"/>
              <a:ext cx="517712" cy="410374"/>
            </a:xfrm>
            <a:prstGeom prst="foldedCorner">
              <a:avLst/>
            </a:prstGeom>
            <a:solidFill>
              <a:srgbClr val="EDA931"/>
            </a:solidFill>
            <a:ln w="12700" cap="flat" cmpd="sng" algn="ctr">
              <a:solidFill>
                <a:srgbClr val="EDA931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D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endParaRPr>
            </a:p>
          </p:txBody>
        </p:sp>
      </p:grpSp>
      <p:sp>
        <p:nvSpPr>
          <p:cNvPr id="22" name="Folded Corner 10">
            <a:extLst>
              <a:ext uri="{FF2B5EF4-FFF2-40B4-BE49-F238E27FC236}">
                <a16:creationId xmlns:a16="http://schemas.microsoft.com/office/drawing/2014/main" id="{C3BF3512-9566-668F-F0C5-49D1739D669D}"/>
              </a:ext>
            </a:extLst>
          </p:cNvPr>
          <p:cNvSpPr/>
          <p:nvPr/>
        </p:nvSpPr>
        <p:spPr>
          <a:xfrm>
            <a:off x="219961" y="2854940"/>
            <a:ext cx="581725" cy="410374"/>
          </a:xfrm>
          <a:prstGeom prst="foldedCorner">
            <a:avLst/>
          </a:prstGeom>
          <a:solidFill>
            <a:srgbClr val="EDA931"/>
          </a:solidFill>
          <a:ln w="12700" cap="flat" cmpd="sng" algn="ctr">
            <a:solidFill>
              <a:srgbClr val="EDA931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ProductAdded</a:t>
            </a:r>
          </a:p>
        </p:txBody>
      </p:sp>
      <p:sp>
        <p:nvSpPr>
          <p:cNvPr id="23" name="Folded Corner 11">
            <a:extLst>
              <a:ext uri="{FF2B5EF4-FFF2-40B4-BE49-F238E27FC236}">
                <a16:creationId xmlns:a16="http://schemas.microsoft.com/office/drawing/2014/main" id="{7E6A2E1C-75A6-BAED-33EC-029246E0D2CC}"/>
              </a:ext>
            </a:extLst>
          </p:cNvPr>
          <p:cNvSpPr/>
          <p:nvPr/>
        </p:nvSpPr>
        <p:spPr>
          <a:xfrm>
            <a:off x="219962" y="3380574"/>
            <a:ext cx="581724" cy="410374"/>
          </a:xfrm>
          <a:prstGeom prst="foldedCorner">
            <a:avLst/>
          </a:prstGeom>
          <a:solidFill>
            <a:srgbClr val="00B0F0"/>
          </a:solidFill>
          <a:ln w="12700" cap="flat" cmpd="sng" algn="ctr">
            <a:solidFill>
              <a:srgbClr val="EDA931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Add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Product</a:t>
            </a:r>
          </a:p>
        </p:txBody>
      </p:sp>
      <p:sp>
        <p:nvSpPr>
          <p:cNvPr id="24" name="Folded Corner 12">
            <a:extLst>
              <a:ext uri="{FF2B5EF4-FFF2-40B4-BE49-F238E27FC236}">
                <a16:creationId xmlns:a16="http://schemas.microsoft.com/office/drawing/2014/main" id="{5CB4F3CF-457C-B321-AA51-F2208EAD2307}"/>
              </a:ext>
            </a:extLst>
          </p:cNvPr>
          <p:cNvSpPr/>
          <p:nvPr/>
        </p:nvSpPr>
        <p:spPr>
          <a:xfrm>
            <a:off x="215807" y="3906208"/>
            <a:ext cx="600076" cy="410374"/>
          </a:xfrm>
          <a:prstGeom prst="foldedCorner">
            <a:avLst/>
          </a:prstGeom>
          <a:solidFill>
            <a:srgbClr val="FFFF00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Product</a:t>
            </a:r>
          </a:p>
        </p:txBody>
      </p:sp>
      <p:sp>
        <p:nvSpPr>
          <p:cNvPr id="25" name="Can 13">
            <a:extLst>
              <a:ext uri="{FF2B5EF4-FFF2-40B4-BE49-F238E27FC236}">
                <a16:creationId xmlns:a16="http://schemas.microsoft.com/office/drawing/2014/main" id="{A117E122-CF59-57C7-CE79-57B815AC95F1}"/>
              </a:ext>
            </a:extLst>
          </p:cNvPr>
          <p:cNvSpPr/>
          <p:nvPr/>
        </p:nvSpPr>
        <p:spPr>
          <a:xfrm>
            <a:off x="215807" y="4365331"/>
            <a:ext cx="600076" cy="494021"/>
          </a:xfrm>
          <a:prstGeom prst="can">
            <a:avLst/>
          </a:prstGeom>
          <a:solidFill>
            <a:srgbClr val="EDA931"/>
          </a:solidFill>
          <a:ln w="12700" cap="flat" cmpd="sng" algn="ctr">
            <a:solidFill>
              <a:srgbClr val="EDA931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ProductEvents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F8045AD-5364-2709-1E52-674A0E6AD7CA}"/>
              </a:ext>
            </a:extLst>
          </p:cNvPr>
          <p:cNvSpPr txBox="1"/>
          <p:nvPr/>
        </p:nvSpPr>
        <p:spPr>
          <a:xfrm>
            <a:off x="1330542" y="5727471"/>
            <a:ext cx="9655207" cy="523220"/>
          </a:xfrm>
          <a:prstGeom prst="rect">
            <a:avLst/>
          </a:prstGeom>
          <a:noFill/>
          <a:ln w="25400"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2800" b="0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cs typeface="Arial" panose="020B0604020202020204" pitchFamily="34" charset="0"/>
              </a:rPr>
              <a:t>Pattern</a:t>
            </a:r>
            <a:r>
              <a:rPr kumimoji="0" lang="en-DK" sz="2800" b="1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cs typeface="Arial" panose="020B0604020202020204" pitchFamily="34" charset="0"/>
              </a:rPr>
              <a:t>: Command + State (Previous Events) = Event(s)</a:t>
            </a:r>
          </a:p>
        </p:txBody>
      </p:sp>
    </p:spTree>
    <p:extLst>
      <p:ext uri="{BB962C8B-B14F-4D97-AF65-F5344CB8AC3E}">
        <p14:creationId xmlns:p14="http://schemas.microsoft.com/office/powerpoint/2010/main" val="431437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780BD97-F8BC-BC03-5C88-AEF2454FAB6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Event SOURCING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5AFBF-68B3-CE4C-2322-7FFA2360F3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COMMAND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BBEAE7-4764-0B02-3EAE-C242949170D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EVENT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2F6498-5781-A980-F1C6-F414873AE19C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74713" y="1767671"/>
            <a:ext cx="5157787" cy="3684588"/>
          </a:xfrm>
        </p:spPr>
        <p:txBody>
          <a:bodyPr/>
          <a:lstStyle/>
          <a:p>
            <a:pPr marL="0" indent="0">
              <a:buNone/>
            </a:pPr>
            <a:r>
              <a:rPr lang="en-US" u="sng" dirty="0"/>
              <a:t>Imperative</a:t>
            </a:r>
            <a:r>
              <a:rPr lang="en-US" dirty="0"/>
              <a:t> naming</a:t>
            </a: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A0989B-98EB-41BB-6373-AA01D11E6FFE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208713" y="1769942"/>
            <a:ext cx="5157787" cy="368458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Always named in the </a:t>
            </a:r>
            <a:r>
              <a:rPr lang="en-US" u="sng" dirty="0"/>
              <a:t>past tense</a:t>
            </a:r>
          </a:p>
          <a:p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D5883CF-4153-A9C9-501C-58C92383FAA0}"/>
              </a:ext>
            </a:extLst>
          </p:cNvPr>
          <p:cNvSpPr txBox="1">
            <a:spLocks/>
          </p:cNvSpPr>
          <p:nvPr/>
        </p:nvSpPr>
        <p:spPr>
          <a:xfrm>
            <a:off x="874713" y="2134198"/>
            <a:ext cx="5157787" cy="176528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rgbClr val="E3DDD5"/>
                </a:solidFill>
                <a:latin typeface="Bebas Neue" panose="020B0606020202050201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Source Sans Pro" panose="020F0502020204030204" pitchFamily="34" charset="0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Source Sans Pro" panose="020F0502020204030204" pitchFamily="34" charset="0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Source Sans Pro" panose="020F0502020204030204" pitchFamily="34" charset="0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Source Sans Pro" panose="020F0502020204030204" pitchFamily="34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>
                <a:solidFill>
                  <a:srgbClr val="CC783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 class </a:t>
            </a:r>
            <a:r>
              <a:rPr lang="en-GB" sz="2000">
                <a:solidFill>
                  <a:srgbClr val="A9B7C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AddProduct(</a:t>
            </a:r>
            <a:br>
              <a:rPr lang="en-GB" sz="2000">
                <a:solidFill>
                  <a:srgbClr val="A9B7C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2000">
                <a:solidFill>
                  <a:srgbClr val="A9B7C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2000">
                <a:solidFill>
                  <a:srgbClr val="CC783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override val </a:t>
            </a:r>
            <a:r>
              <a:rPr lang="en-GB" sz="2000">
                <a:solidFill>
                  <a:srgbClr val="9876A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en-GB" sz="2000">
                <a:solidFill>
                  <a:srgbClr val="A9B7C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ProductId</a:t>
            </a:r>
            <a:r>
              <a:rPr lang="en-GB" sz="2000">
                <a:solidFill>
                  <a:srgbClr val="CC783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br>
              <a:rPr lang="en-GB" sz="2000">
                <a:solidFill>
                  <a:srgbClr val="CC783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2000">
                <a:solidFill>
                  <a:srgbClr val="CC783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val </a:t>
            </a:r>
            <a:r>
              <a:rPr lang="en-GB" sz="2000">
                <a:solidFill>
                  <a:srgbClr val="9876A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GB" sz="2000">
                <a:solidFill>
                  <a:srgbClr val="A9B7C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String</a:t>
            </a:r>
            <a:r>
              <a:rPr lang="en-GB" sz="2000">
                <a:solidFill>
                  <a:srgbClr val="CC783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br>
              <a:rPr lang="en-GB" sz="2000">
                <a:solidFill>
                  <a:srgbClr val="CC783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2000">
                <a:solidFill>
                  <a:srgbClr val="CC783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val </a:t>
            </a:r>
            <a:r>
              <a:rPr lang="en-GB" sz="2000">
                <a:solidFill>
                  <a:srgbClr val="9876A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price</a:t>
            </a:r>
            <a:r>
              <a:rPr lang="en-GB" sz="2000">
                <a:solidFill>
                  <a:srgbClr val="A9B7C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Amount</a:t>
            </a:r>
            <a:br>
              <a:rPr lang="en-GB" sz="2000">
                <a:solidFill>
                  <a:srgbClr val="A9B7C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2000">
                <a:solidFill>
                  <a:srgbClr val="A9B7C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: ProductCommand</a:t>
            </a:r>
          </a:p>
          <a:p>
            <a:endParaRPr lang="en-DK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D6E4AB8A-F320-AD76-CA4A-1E106FAE8883}"/>
              </a:ext>
            </a:extLst>
          </p:cNvPr>
          <p:cNvSpPr txBox="1">
            <a:spLocks/>
          </p:cNvSpPr>
          <p:nvPr/>
        </p:nvSpPr>
        <p:spPr>
          <a:xfrm>
            <a:off x="874713" y="4010516"/>
            <a:ext cx="5157787" cy="176528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E3DDD5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Source Sans Pro" panose="020F0502020204030204" pitchFamily="34" charset="0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Source Sans Pro" panose="020F0502020204030204" pitchFamily="34" charset="0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Source Sans Pro" panose="020F0502020204030204" pitchFamily="34" charset="0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Source Sans Pro" panose="020F0502020204030204" pitchFamily="34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data class </a:t>
            </a:r>
            <a:r>
              <a:rPr lang="en-GB" sz="20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ChangeProductPrice</a:t>
            </a:r>
            <a:r>
              <a:rPr lang="en-GB" sz="20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br>
              <a:rPr lang="en-GB" sz="20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20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20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override </a:t>
            </a:r>
            <a:r>
              <a:rPr lang="en-GB" sz="2000" dirty="0" err="1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GB" sz="20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000" dirty="0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en-GB" sz="20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GB" sz="20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ProductId</a:t>
            </a:r>
            <a:r>
              <a:rPr lang="en-GB" sz="20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br>
              <a:rPr lang="en-GB" sz="20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20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2000" dirty="0" err="1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GB" sz="20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000" dirty="0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price</a:t>
            </a:r>
            <a:r>
              <a:rPr lang="en-GB" sz="20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Amount</a:t>
            </a:r>
            <a:br>
              <a:rPr lang="en-GB" sz="20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20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: </a:t>
            </a:r>
            <a:r>
              <a:rPr lang="en-GB" sz="20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ProductCommand</a:t>
            </a:r>
            <a:endParaRPr lang="en-GB" sz="2000" dirty="0">
              <a:solidFill>
                <a:srgbClr val="A9B7C6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DK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95A6E905-0E21-54DD-4B60-3A08EC16C844}"/>
              </a:ext>
            </a:extLst>
          </p:cNvPr>
          <p:cNvSpPr txBox="1">
            <a:spLocks/>
          </p:cNvSpPr>
          <p:nvPr/>
        </p:nvSpPr>
        <p:spPr>
          <a:xfrm>
            <a:off x="6261101" y="2151514"/>
            <a:ext cx="5303837" cy="176528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E3DDD5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Source Sans Pro" panose="020F0502020204030204" pitchFamily="34" charset="0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Source Sans Pro" panose="020F0502020204030204" pitchFamily="34" charset="0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Source Sans Pro" panose="020F0502020204030204" pitchFamily="34" charset="0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Source Sans Pro" panose="020F0502020204030204" pitchFamily="34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data class </a:t>
            </a:r>
            <a:r>
              <a:rPr lang="en-GB" sz="20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ProductAdded</a:t>
            </a:r>
            <a:r>
              <a:rPr lang="en-GB" sz="20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br>
              <a:rPr lang="en-GB" sz="20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20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20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override </a:t>
            </a:r>
            <a:r>
              <a:rPr lang="en-GB" sz="2000" dirty="0" err="1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GB" sz="20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000" dirty="0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en-GB" sz="20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GB" sz="20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ProductId</a:t>
            </a:r>
            <a:r>
              <a:rPr lang="en-GB" sz="20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br>
              <a:rPr lang="en-GB" sz="20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20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2000" dirty="0" err="1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GB" sz="20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000" dirty="0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GB" sz="20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String</a:t>
            </a:r>
            <a:r>
              <a:rPr lang="en-GB" sz="20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br>
              <a:rPr lang="en-GB" sz="20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20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override </a:t>
            </a:r>
            <a:r>
              <a:rPr lang="en-GB" sz="2000" dirty="0" err="1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GB" sz="20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000" dirty="0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price</a:t>
            </a:r>
            <a:r>
              <a:rPr lang="en-GB" sz="20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Amount</a:t>
            </a:r>
            <a:br>
              <a:rPr lang="en-GB" sz="20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20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: </a:t>
            </a:r>
            <a:r>
              <a:rPr lang="en-GB" sz="20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ProductEvent</a:t>
            </a:r>
            <a:r>
              <a:rPr lang="en-GB" sz="20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0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HasProductPrice</a:t>
            </a:r>
            <a:endParaRPr lang="en-GB" sz="2000" dirty="0">
              <a:solidFill>
                <a:srgbClr val="A9B7C6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DK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4FFB106D-FD0E-882B-56E1-57D72E3E7BA9}"/>
              </a:ext>
            </a:extLst>
          </p:cNvPr>
          <p:cNvSpPr txBox="1">
            <a:spLocks/>
          </p:cNvSpPr>
          <p:nvPr/>
        </p:nvSpPr>
        <p:spPr>
          <a:xfrm>
            <a:off x="6261101" y="4027832"/>
            <a:ext cx="5303837" cy="176528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E3DDD5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Source Sans Pro" panose="020F0502020204030204" pitchFamily="34" charset="0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Source Sans Pro" panose="020F0502020204030204" pitchFamily="34" charset="0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Source Sans Pro" panose="020F0502020204030204" pitchFamily="34" charset="0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Source Sans Pro" panose="020F0502020204030204" pitchFamily="34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data class </a:t>
            </a:r>
            <a:r>
              <a:rPr lang="en-GB" sz="20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ProductPriceChanged</a:t>
            </a:r>
            <a:r>
              <a:rPr lang="en-GB" sz="20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br>
              <a:rPr lang="en-GB" sz="20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20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20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override </a:t>
            </a:r>
            <a:r>
              <a:rPr lang="en-GB" sz="2000" dirty="0" err="1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GB" sz="20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000" dirty="0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en-GB" sz="20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GB" sz="20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ProductId</a:t>
            </a:r>
            <a:r>
              <a:rPr lang="en-GB" sz="20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br>
              <a:rPr lang="en-GB" sz="20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20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override </a:t>
            </a:r>
            <a:r>
              <a:rPr lang="en-GB" sz="2000" dirty="0" err="1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GB" sz="20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000" dirty="0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price</a:t>
            </a:r>
            <a:r>
              <a:rPr lang="en-GB" sz="20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Amount</a:t>
            </a:r>
            <a:br>
              <a:rPr lang="en-GB" sz="20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20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: </a:t>
            </a:r>
            <a:r>
              <a:rPr lang="en-GB" sz="20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ProductEvent</a:t>
            </a:r>
            <a:r>
              <a:rPr lang="en-GB" sz="20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0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HasProductPrice</a:t>
            </a:r>
            <a:endParaRPr lang="en-GB" sz="2000" dirty="0">
              <a:solidFill>
                <a:srgbClr val="A9B7C6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DK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E8C7B0A-E3C2-6433-8949-784FAC56372A}"/>
              </a:ext>
            </a:extLst>
          </p:cNvPr>
          <p:cNvGrpSpPr/>
          <p:nvPr/>
        </p:nvGrpSpPr>
        <p:grpSpPr>
          <a:xfrm>
            <a:off x="2010934" y="4368565"/>
            <a:ext cx="8043132" cy="4252494"/>
            <a:chOff x="487104" y="3479564"/>
            <a:chExt cx="8043132" cy="4895571"/>
          </a:xfrm>
        </p:grpSpPr>
        <p:graphicFrame>
          <p:nvGraphicFramePr>
            <p:cNvPr id="38" name="Diagram 37">
              <a:extLst>
                <a:ext uri="{FF2B5EF4-FFF2-40B4-BE49-F238E27FC236}">
                  <a16:creationId xmlns:a16="http://schemas.microsoft.com/office/drawing/2014/main" id="{4E99E72E-8D9D-E572-392B-EDC2A2FE9BD3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605988002"/>
                </p:ext>
              </p:extLst>
            </p:nvPr>
          </p:nvGraphicFramePr>
          <p:xfrm>
            <a:off x="487104" y="3479564"/>
            <a:ext cx="8043132" cy="4895571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2E57B8FA-84FF-EA51-FC47-268AB00DAF5F}"/>
                </a:ext>
              </a:extLst>
            </p:cNvPr>
            <p:cNvGrpSpPr/>
            <p:nvPr/>
          </p:nvGrpSpPr>
          <p:grpSpPr>
            <a:xfrm>
              <a:off x="695856" y="5184548"/>
              <a:ext cx="720001" cy="600224"/>
              <a:chOff x="695856" y="5184548"/>
              <a:chExt cx="720001" cy="600224"/>
            </a:xfrm>
          </p:grpSpPr>
          <p:sp>
            <p:nvSpPr>
              <p:cNvPr id="60" name="Folded Corner 29">
                <a:extLst>
                  <a:ext uri="{FF2B5EF4-FFF2-40B4-BE49-F238E27FC236}">
                    <a16:creationId xmlns:a16="http://schemas.microsoft.com/office/drawing/2014/main" id="{33731769-39F9-70AF-8F74-4D0B9FC48B8B}"/>
                  </a:ext>
                </a:extLst>
              </p:cNvPr>
              <p:cNvSpPr/>
              <p:nvPr/>
            </p:nvSpPr>
            <p:spPr>
              <a:xfrm>
                <a:off x="695858" y="5184548"/>
                <a:ext cx="719999" cy="600224"/>
              </a:xfrm>
              <a:prstGeom prst="foldedCorner">
                <a:avLst/>
              </a:prstGeom>
              <a:solidFill>
                <a:srgbClr val="FFFFFF"/>
              </a:solidFill>
              <a:ln w="6350" cap="flat" cmpd="sng" algn="ctr">
                <a:solidFill>
                  <a:srgbClr val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entury Gothic" panose="020F0302020204030204"/>
                  <a:ea typeface="+mn-ea"/>
                  <a:cs typeface="Eurostile"/>
                </a:endParaRP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E91A2E1F-3DE5-E6C3-0EB6-F7908D325353}"/>
                  </a:ext>
                </a:extLst>
              </p:cNvPr>
              <p:cNvSpPr/>
              <p:nvPr/>
            </p:nvSpPr>
            <p:spPr>
              <a:xfrm>
                <a:off x="695856" y="5193247"/>
                <a:ext cx="719999" cy="234870"/>
              </a:xfrm>
              <a:prstGeom prst="rect">
                <a:avLst/>
              </a:prstGeom>
              <a:gradFill rotWithShape="1">
                <a:gsLst>
                  <a:gs pos="0">
                    <a:srgbClr val="EDA931">
                      <a:satMod val="103000"/>
                      <a:lumMod val="102000"/>
                      <a:tint val="94000"/>
                    </a:srgbClr>
                  </a:gs>
                  <a:gs pos="50000">
                    <a:srgbClr val="EDA931">
                      <a:satMod val="110000"/>
                      <a:lumMod val="100000"/>
                      <a:shade val="100000"/>
                    </a:srgbClr>
                  </a:gs>
                  <a:gs pos="100000">
                    <a:srgbClr val="EDA931">
                      <a:lumMod val="99000"/>
                      <a:satMod val="120000"/>
                      <a:shade val="78000"/>
                    </a:srgbClr>
                  </a:gs>
                </a:gsLst>
                <a:lin ang="5400000" scaled="0"/>
              </a:gradFill>
              <a:ln w="6350" cap="flat" cmpd="sng" algn="ctr">
                <a:solidFill>
                  <a:srgbClr val="EDA93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entury Gothic" panose="020F0302020204030204"/>
                    <a:ea typeface="+mn-ea"/>
                    <a:cs typeface="Eurostile"/>
                  </a:rPr>
                  <a:t>Date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D7E85A61-A344-7D68-6313-7663A2733449}"/>
                  </a:ext>
                </a:extLst>
              </p:cNvPr>
              <p:cNvSpPr txBox="1"/>
              <p:nvPr/>
            </p:nvSpPr>
            <p:spPr>
              <a:xfrm>
                <a:off x="695858" y="5380644"/>
                <a:ext cx="719999" cy="3011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entury Gothic" panose="020F0302020204030204"/>
                    <a:cs typeface="Eurostile"/>
                  </a:rPr>
                  <a:t>1/1-24</a:t>
                </a: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D48F80BC-0CCD-ADBA-060D-5C3090AF6570}"/>
                </a:ext>
              </a:extLst>
            </p:cNvPr>
            <p:cNvGrpSpPr/>
            <p:nvPr/>
          </p:nvGrpSpPr>
          <p:grpSpPr>
            <a:xfrm>
              <a:off x="2126892" y="5193247"/>
              <a:ext cx="720001" cy="600224"/>
              <a:chOff x="695856" y="5184548"/>
              <a:chExt cx="720001" cy="600224"/>
            </a:xfrm>
          </p:grpSpPr>
          <p:sp>
            <p:nvSpPr>
              <p:cNvPr id="57" name="Folded Corner 26">
                <a:extLst>
                  <a:ext uri="{FF2B5EF4-FFF2-40B4-BE49-F238E27FC236}">
                    <a16:creationId xmlns:a16="http://schemas.microsoft.com/office/drawing/2014/main" id="{BCE9B09C-5982-F195-4DDF-F6F9A4121535}"/>
                  </a:ext>
                </a:extLst>
              </p:cNvPr>
              <p:cNvSpPr/>
              <p:nvPr/>
            </p:nvSpPr>
            <p:spPr>
              <a:xfrm>
                <a:off x="695858" y="5184548"/>
                <a:ext cx="719999" cy="600224"/>
              </a:xfrm>
              <a:prstGeom prst="foldedCorner">
                <a:avLst/>
              </a:prstGeom>
              <a:solidFill>
                <a:srgbClr val="FFFFFF"/>
              </a:solidFill>
              <a:ln w="6350" cap="flat" cmpd="sng" algn="ctr">
                <a:solidFill>
                  <a:srgbClr val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entury Gothic" panose="020F0302020204030204"/>
                  <a:ea typeface="+mn-ea"/>
                  <a:cs typeface="Eurostile"/>
                </a:endParaRPr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A333E83A-B00B-3556-3067-69581F1C1DE3}"/>
                  </a:ext>
                </a:extLst>
              </p:cNvPr>
              <p:cNvSpPr/>
              <p:nvPr/>
            </p:nvSpPr>
            <p:spPr>
              <a:xfrm>
                <a:off x="695856" y="5193247"/>
                <a:ext cx="719999" cy="234870"/>
              </a:xfrm>
              <a:prstGeom prst="rect">
                <a:avLst/>
              </a:prstGeom>
              <a:gradFill rotWithShape="1">
                <a:gsLst>
                  <a:gs pos="0">
                    <a:srgbClr val="EDA931">
                      <a:satMod val="103000"/>
                      <a:lumMod val="102000"/>
                      <a:tint val="94000"/>
                    </a:srgbClr>
                  </a:gs>
                  <a:gs pos="50000">
                    <a:srgbClr val="EDA931">
                      <a:satMod val="110000"/>
                      <a:lumMod val="100000"/>
                      <a:shade val="100000"/>
                    </a:srgbClr>
                  </a:gs>
                  <a:gs pos="100000">
                    <a:srgbClr val="EDA931">
                      <a:lumMod val="99000"/>
                      <a:satMod val="120000"/>
                      <a:shade val="78000"/>
                    </a:srgbClr>
                  </a:gs>
                </a:gsLst>
                <a:lin ang="5400000" scaled="0"/>
              </a:gradFill>
              <a:ln w="6350" cap="flat" cmpd="sng" algn="ctr">
                <a:solidFill>
                  <a:srgbClr val="EDA93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entury Gothic" panose="020F0302020204030204"/>
                    <a:ea typeface="+mn-ea"/>
                    <a:cs typeface="Eurostile"/>
                  </a:rPr>
                  <a:t>Date</a:t>
                </a: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C100A6FE-1AE7-3B2D-0416-E342BD6F67CA}"/>
                  </a:ext>
                </a:extLst>
              </p:cNvPr>
              <p:cNvSpPr txBox="1"/>
              <p:nvPr/>
            </p:nvSpPr>
            <p:spPr>
              <a:xfrm>
                <a:off x="695856" y="5380644"/>
                <a:ext cx="719999" cy="3011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entury Gothic" panose="020F0302020204030204"/>
                    <a:cs typeface="Eurostile"/>
                  </a:rPr>
                  <a:t>10/1-24</a:t>
                </a:r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CECF2596-24DA-803E-D73F-CF737BA894D9}"/>
                </a:ext>
              </a:extLst>
            </p:cNvPr>
            <p:cNvGrpSpPr/>
            <p:nvPr/>
          </p:nvGrpSpPr>
          <p:grpSpPr>
            <a:xfrm>
              <a:off x="3492513" y="5184548"/>
              <a:ext cx="720001" cy="600224"/>
              <a:chOff x="695856" y="5184548"/>
              <a:chExt cx="720001" cy="600224"/>
            </a:xfrm>
          </p:grpSpPr>
          <p:sp>
            <p:nvSpPr>
              <p:cNvPr id="54" name="Folded Corner 23">
                <a:extLst>
                  <a:ext uri="{FF2B5EF4-FFF2-40B4-BE49-F238E27FC236}">
                    <a16:creationId xmlns:a16="http://schemas.microsoft.com/office/drawing/2014/main" id="{736938CC-B8C2-9A23-ABA0-3E0B26CDF7A4}"/>
                  </a:ext>
                </a:extLst>
              </p:cNvPr>
              <p:cNvSpPr/>
              <p:nvPr/>
            </p:nvSpPr>
            <p:spPr>
              <a:xfrm>
                <a:off x="695858" y="5184548"/>
                <a:ext cx="719999" cy="600224"/>
              </a:xfrm>
              <a:prstGeom prst="foldedCorner">
                <a:avLst/>
              </a:prstGeom>
              <a:solidFill>
                <a:srgbClr val="FFFFFF"/>
              </a:solidFill>
              <a:ln w="6350" cap="flat" cmpd="sng" algn="ctr">
                <a:solidFill>
                  <a:srgbClr val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entury Gothic" panose="020F0302020204030204"/>
                  <a:ea typeface="+mn-ea"/>
                  <a:cs typeface="Eurostile"/>
                </a:endParaRPr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2CF05916-E81F-73E3-57D6-1148A7206A5F}"/>
                  </a:ext>
                </a:extLst>
              </p:cNvPr>
              <p:cNvSpPr/>
              <p:nvPr/>
            </p:nvSpPr>
            <p:spPr>
              <a:xfrm>
                <a:off x="695856" y="5193247"/>
                <a:ext cx="719999" cy="234870"/>
              </a:xfrm>
              <a:prstGeom prst="rect">
                <a:avLst/>
              </a:prstGeom>
              <a:gradFill rotWithShape="1">
                <a:gsLst>
                  <a:gs pos="0">
                    <a:srgbClr val="EDA931">
                      <a:satMod val="103000"/>
                      <a:lumMod val="102000"/>
                      <a:tint val="94000"/>
                    </a:srgbClr>
                  </a:gs>
                  <a:gs pos="50000">
                    <a:srgbClr val="EDA931">
                      <a:satMod val="110000"/>
                      <a:lumMod val="100000"/>
                      <a:shade val="100000"/>
                    </a:srgbClr>
                  </a:gs>
                  <a:gs pos="100000">
                    <a:srgbClr val="EDA931">
                      <a:lumMod val="99000"/>
                      <a:satMod val="120000"/>
                      <a:shade val="78000"/>
                    </a:srgbClr>
                  </a:gs>
                </a:gsLst>
                <a:lin ang="5400000" scaled="0"/>
              </a:gradFill>
              <a:ln w="6350" cap="flat" cmpd="sng" algn="ctr">
                <a:solidFill>
                  <a:srgbClr val="EDA93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entury Gothic" panose="020F0302020204030204"/>
                    <a:ea typeface="+mn-ea"/>
                    <a:cs typeface="Eurostile"/>
                  </a:rPr>
                  <a:t>Date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6B423D3-9F2A-0217-5269-8C6616796462}"/>
                  </a:ext>
                </a:extLst>
              </p:cNvPr>
              <p:cNvSpPr txBox="1"/>
              <p:nvPr/>
            </p:nvSpPr>
            <p:spPr>
              <a:xfrm>
                <a:off x="695858" y="5380644"/>
                <a:ext cx="719999" cy="3011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entury Gothic" panose="020F0302020204030204"/>
                    <a:cs typeface="Eurostile"/>
                  </a:rPr>
                  <a:t>15/1-24</a:t>
                </a:r>
                <a:endPara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entury Gothic" panose="020F0302020204030204"/>
                  <a:cs typeface="Eurostile"/>
                </a:endParaRPr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406DB08C-28BA-0B95-DAA5-059E12449264}"/>
                </a:ext>
              </a:extLst>
            </p:cNvPr>
            <p:cNvGrpSpPr/>
            <p:nvPr/>
          </p:nvGrpSpPr>
          <p:grpSpPr>
            <a:xfrm>
              <a:off x="4771152" y="5184548"/>
              <a:ext cx="720001" cy="600224"/>
              <a:chOff x="695856" y="5184548"/>
              <a:chExt cx="720001" cy="600224"/>
            </a:xfrm>
          </p:grpSpPr>
          <p:sp>
            <p:nvSpPr>
              <p:cNvPr id="51" name="Folded Corner 20">
                <a:extLst>
                  <a:ext uri="{FF2B5EF4-FFF2-40B4-BE49-F238E27FC236}">
                    <a16:creationId xmlns:a16="http://schemas.microsoft.com/office/drawing/2014/main" id="{C47B0E80-A386-205B-FCAB-E3743A26D84E}"/>
                  </a:ext>
                </a:extLst>
              </p:cNvPr>
              <p:cNvSpPr/>
              <p:nvPr/>
            </p:nvSpPr>
            <p:spPr>
              <a:xfrm>
                <a:off x="695858" y="5184548"/>
                <a:ext cx="719999" cy="600224"/>
              </a:xfrm>
              <a:prstGeom prst="foldedCorner">
                <a:avLst/>
              </a:prstGeom>
              <a:solidFill>
                <a:srgbClr val="FFFFFF"/>
              </a:solidFill>
              <a:ln w="6350" cap="flat" cmpd="sng" algn="ctr">
                <a:solidFill>
                  <a:srgbClr val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entury Gothic" panose="020F0302020204030204"/>
                  <a:ea typeface="+mn-ea"/>
                  <a:cs typeface="Eurostile"/>
                </a:endParaRPr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72141352-48E5-6FB3-B42B-61D5FE72B172}"/>
                  </a:ext>
                </a:extLst>
              </p:cNvPr>
              <p:cNvSpPr/>
              <p:nvPr/>
            </p:nvSpPr>
            <p:spPr>
              <a:xfrm>
                <a:off x="695856" y="5193247"/>
                <a:ext cx="719999" cy="234870"/>
              </a:xfrm>
              <a:prstGeom prst="rect">
                <a:avLst/>
              </a:prstGeom>
              <a:gradFill rotWithShape="1">
                <a:gsLst>
                  <a:gs pos="0">
                    <a:srgbClr val="EDA931">
                      <a:satMod val="103000"/>
                      <a:lumMod val="102000"/>
                      <a:tint val="94000"/>
                    </a:srgbClr>
                  </a:gs>
                  <a:gs pos="50000">
                    <a:srgbClr val="EDA931">
                      <a:satMod val="110000"/>
                      <a:lumMod val="100000"/>
                      <a:shade val="100000"/>
                    </a:srgbClr>
                  </a:gs>
                  <a:gs pos="100000">
                    <a:srgbClr val="EDA931">
                      <a:lumMod val="99000"/>
                      <a:satMod val="120000"/>
                      <a:shade val="78000"/>
                    </a:srgbClr>
                  </a:gs>
                </a:gsLst>
                <a:lin ang="5400000" scaled="0"/>
              </a:gradFill>
              <a:ln w="6350" cap="flat" cmpd="sng" algn="ctr">
                <a:solidFill>
                  <a:srgbClr val="EDA93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entury Gothic" panose="020F0302020204030204"/>
                    <a:ea typeface="+mn-ea"/>
                    <a:cs typeface="Eurostile"/>
                  </a:rPr>
                  <a:t>Date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62A77E6-ECAB-E266-4E1E-FBE685A837B2}"/>
                  </a:ext>
                </a:extLst>
              </p:cNvPr>
              <p:cNvSpPr txBox="1"/>
              <p:nvPr/>
            </p:nvSpPr>
            <p:spPr>
              <a:xfrm>
                <a:off x="695856" y="5380644"/>
                <a:ext cx="720001" cy="3011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entury Gothic" panose="020F0302020204030204"/>
                    <a:cs typeface="Eurostile"/>
                  </a:rPr>
                  <a:t>20/1-24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BF09DDF-02A9-E578-8867-CFF905217F91}"/>
                </a:ext>
              </a:extLst>
            </p:cNvPr>
            <p:cNvGrpSpPr/>
            <p:nvPr/>
          </p:nvGrpSpPr>
          <p:grpSpPr>
            <a:xfrm>
              <a:off x="6038513" y="5193247"/>
              <a:ext cx="720001" cy="600224"/>
              <a:chOff x="695856" y="5184548"/>
              <a:chExt cx="720001" cy="600224"/>
            </a:xfrm>
          </p:grpSpPr>
          <p:sp>
            <p:nvSpPr>
              <p:cNvPr id="48" name="Folded Corner 17">
                <a:extLst>
                  <a:ext uri="{FF2B5EF4-FFF2-40B4-BE49-F238E27FC236}">
                    <a16:creationId xmlns:a16="http://schemas.microsoft.com/office/drawing/2014/main" id="{AFE3737C-F7F5-1E55-2080-D86EF1FBDEA6}"/>
                  </a:ext>
                </a:extLst>
              </p:cNvPr>
              <p:cNvSpPr/>
              <p:nvPr/>
            </p:nvSpPr>
            <p:spPr>
              <a:xfrm>
                <a:off x="695858" y="5184548"/>
                <a:ext cx="719999" cy="600224"/>
              </a:xfrm>
              <a:prstGeom prst="foldedCorner">
                <a:avLst/>
              </a:prstGeom>
              <a:solidFill>
                <a:srgbClr val="FFFFFF"/>
              </a:solidFill>
              <a:ln w="6350" cap="flat" cmpd="sng" algn="ctr">
                <a:solidFill>
                  <a:srgbClr val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entury Gothic" panose="020F0302020204030204"/>
                  <a:ea typeface="+mn-ea"/>
                  <a:cs typeface="Eurostile"/>
                </a:endParaRP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B9540F69-8990-12B0-084D-DFD356BDA536}"/>
                  </a:ext>
                </a:extLst>
              </p:cNvPr>
              <p:cNvSpPr/>
              <p:nvPr/>
            </p:nvSpPr>
            <p:spPr>
              <a:xfrm>
                <a:off x="695856" y="5193247"/>
                <a:ext cx="719999" cy="234870"/>
              </a:xfrm>
              <a:prstGeom prst="rect">
                <a:avLst/>
              </a:prstGeom>
              <a:gradFill rotWithShape="1">
                <a:gsLst>
                  <a:gs pos="0">
                    <a:srgbClr val="EDA931">
                      <a:satMod val="103000"/>
                      <a:lumMod val="102000"/>
                      <a:tint val="94000"/>
                    </a:srgbClr>
                  </a:gs>
                  <a:gs pos="50000">
                    <a:srgbClr val="EDA931">
                      <a:satMod val="110000"/>
                      <a:lumMod val="100000"/>
                      <a:shade val="100000"/>
                    </a:srgbClr>
                  </a:gs>
                  <a:gs pos="100000">
                    <a:srgbClr val="EDA931">
                      <a:lumMod val="99000"/>
                      <a:satMod val="120000"/>
                      <a:shade val="78000"/>
                    </a:srgbClr>
                  </a:gs>
                </a:gsLst>
                <a:lin ang="5400000" scaled="0"/>
              </a:gradFill>
              <a:ln w="6350" cap="flat" cmpd="sng" algn="ctr">
                <a:solidFill>
                  <a:srgbClr val="EDA93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entury Gothic" panose="020F0302020204030204"/>
                    <a:ea typeface="+mn-ea"/>
                    <a:cs typeface="Eurostile"/>
                  </a:rPr>
                  <a:t>Date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00F2583A-7843-482A-DF5A-7F3F14DCE8A0}"/>
                  </a:ext>
                </a:extLst>
              </p:cNvPr>
              <p:cNvSpPr txBox="1"/>
              <p:nvPr/>
            </p:nvSpPr>
            <p:spPr>
              <a:xfrm>
                <a:off x="695858" y="5380644"/>
                <a:ext cx="719997" cy="3011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entury Gothic" panose="020F0302020204030204"/>
                    <a:cs typeface="Eurostile"/>
                  </a:rPr>
                  <a:t>30/1-24</a:t>
                </a:r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15259DB5-FF93-C2CE-9761-91EABD385B41}"/>
                </a:ext>
              </a:extLst>
            </p:cNvPr>
            <p:cNvGrpSpPr/>
            <p:nvPr/>
          </p:nvGrpSpPr>
          <p:grpSpPr>
            <a:xfrm>
              <a:off x="7354522" y="5184548"/>
              <a:ext cx="720001" cy="600224"/>
              <a:chOff x="695856" y="5184548"/>
              <a:chExt cx="720001" cy="600224"/>
            </a:xfrm>
          </p:grpSpPr>
          <p:sp>
            <p:nvSpPr>
              <p:cNvPr id="45" name="Folded Corner 14">
                <a:extLst>
                  <a:ext uri="{FF2B5EF4-FFF2-40B4-BE49-F238E27FC236}">
                    <a16:creationId xmlns:a16="http://schemas.microsoft.com/office/drawing/2014/main" id="{34E63D49-0957-8D0B-A88A-C1C81528CB66}"/>
                  </a:ext>
                </a:extLst>
              </p:cNvPr>
              <p:cNvSpPr/>
              <p:nvPr/>
            </p:nvSpPr>
            <p:spPr>
              <a:xfrm>
                <a:off x="695858" y="5184548"/>
                <a:ext cx="719999" cy="600224"/>
              </a:xfrm>
              <a:prstGeom prst="foldedCorner">
                <a:avLst/>
              </a:prstGeom>
              <a:solidFill>
                <a:srgbClr val="FFFFFF"/>
              </a:solidFill>
              <a:ln w="6350" cap="flat" cmpd="sng" algn="ctr">
                <a:solidFill>
                  <a:srgbClr val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entury Gothic" panose="020F0302020204030204"/>
                  <a:ea typeface="+mn-ea"/>
                  <a:cs typeface="Eurostile"/>
                </a:endParaRP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C6942D02-05A8-3A72-3546-D979C60350B3}"/>
                  </a:ext>
                </a:extLst>
              </p:cNvPr>
              <p:cNvSpPr/>
              <p:nvPr/>
            </p:nvSpPr>
            <p:spPr>
              <a:xfrm>
                <a:off x="695856" y="5193247"/>
                <a:ext cx="719999" cy="234870"/>
              </a:xfrm>
              <a:prstGeom prst="rect">
                <a:avLst/>
              </a:prstGeom>
              <a:gradFill rotWithShape="1">
                <a:gsLst>
                  <a:gs pos="0">
                    <a:srgbClr val="EDA931">
                      <a:satMod val="103000"/>
                      <a:lumMod val="102000"/>
                      <a:tint val="94000"/>
                    </a:srgbClr>
                  </a:gs>
                  <a:gs pos="50000">
                    <a:srgbClr val="EDA931">
                      <a:satMod val="110000"/>
                      <a:lumMod val="100000"/>
                      <a:shade val="100000"/>
                    </a:srgbClr>
                  </a:gs>
                  <a:gs pos="100000">
                    <a:srgbClr val="EDA931">
                      <a:lumMod val="99000"/>
                      <a:satMod val="120000"/>
                      <a:shade val="78000"/>
                    </a:srgbClr>
                  </a:gs>
                </a:gsLst>
                <a:lin ang="5400000" scaled="0"/>
              </a:gradFill>
              <a:ln w="6350" cap="flat" cmpd="sng" algn="ctr">
                <a:solidFill>
                  <a:srgbClr val="EDA93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entury Gothic" panose="020F0302020204030204"/>
                    <a:ea typeface="+mn-ea"/>
                    <a:cs typeface="Eurostile"/>
                  </a:rPr>
                  <a:t>Date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6345059-D3E8-5330-5675-8DC753524342}"/>
                  </a:ext>
                </a:extLst>
              </p:cNvPr>
              <p:cNvSpPr txBox="1"/>
              <p:nvPr/>
            </p:nvSpPr>
            <p:spPr>
              <a:xfrm>
                <a:off x="695856" y="5380644"/>
                <a:ext cx="719999" cy="3011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entury Gothic" panose="020F0302020204030204"/>
                    <a:cs typeface="Eurostile"/>
                  </a:rPr>
                  <a:t>1/2-24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41167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 animBg="1"/>
      <p:bldP spid="8" grpId="0" animBg="1"/>
      <p:bldP spid="9" grpId="0" animBg="1"/>
      <p:bldP spid="1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1EE655D-B01F-844D-D771-19E7E08FA6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Business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F5E45-1953-C364-86A2-D03D40559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713" y="1668114"/>
            <a:ext cx="10515600" cy="42061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DECIDER pattern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52F07FE0-7977-59BB-DCA8-8CB5A88FA0F9}"/>
              </a:ext>
            </a:extLst>
          </p:cNvPr>
          <p:cNvSpPr txBox="1">
            <a:spLocks/>
          </p:cNvSpPr>
          <p:nvPr/>
        </p:nvSpPr>
        <p:spPr>
          <a:xfrm>
            <a:off x="4013790" y="537492"/>
            <a:ext cx="7860709" cy="1582846"/>
          </a:xfrm>
          <a:prstGeom prst="rect">
            <a:avLst/>
          </a:prstGeom>
          <a:ln w="25400">
            <a:solidFill>
              <a:schemeClr val="accent4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E3DDD5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Source Sans Pro" panose="020F0502020204030204" pitchFamily="34" charset="0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Source Sans Pro" panose="020F0502020204030204" pitchFamily="34" charset="0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Source Sans Pro" panose="020F0502020204030204" pitchFamily="34" charset="0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Source Sans Pro" panose="020F0502020204030204" pitchFamily="34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Definition</a:t>
            </a:r>
            <a:r>
              <a:rPr lang="en-GB" dirty="0"/>
              <a:t>: The </a:t>
            </a:r>
            <a:r>
              <a:rPr lang="en-GB" b="1" dirty="0"/>
              <a:t>Decider</a:t>
            </a:r>
            <a:r>
              <a:rPr lang="en-GB" dirty="0"/>
              <a:t> is responsible for </a:t>
            </a:r>
            <a:r>
              <a:rPr lang="en-GB" b="1" dirty="0"/>
              <a:t>making</a:t>
            </a:r>
            <a:r>
              <a:rPr lang="en-GB" dirty="0"/>
              <a:t> </a:t>
            </a:r>
            <a:r>
              <a:rPr lang="en-GB" b="1" dirty="0"/>
              <a:t>decisions</a:t>
            </a:r>
            <a:r>
              <a:rPr lang="en-GB" dirty="0"/>
              <a:t> based on </a:t>
            </a:r>
            <a:r>
              <a:rPr lang="en-GB" b="1" dirty="0"/>
              <a:t>received</a:t>
            </a:r>
            <a:r>
              <a:rPr lang="en-GB" dirty="0"/>
              <a:t> </a:t>
            </a:r>
            <a:r>
              <a:rPr lang="en-GB" b="1" dirty="0"/>
              <a:t>commands</a:t>
            </a:r>
            <a:r>
              <a:rPr lang="en-GB" dirty="0"/>
              <a:t> and </a:t>
            </a:r>
            <a:r>
              <a:rPr lang="en-GB" b="1" dirty="0"/>
              <a:t>past</a:t>
            </a:r>
            <a:r>
              <a:rPr lang="en-GB" dirty="0"/>
              <a:t> </a:t>
            </a:r>
            <a:r>
              <a:rPr lang="en-GB" b="1" dirty="0"/>
              <a:t>events</a:t>
            </a:r>
            <a:r>
              <a:rPr lang="en-GB" dirty="0"/>
              <a:t>.</a:t>
            </a:r>
          </a:p>
          <a:p>
            <a:r>
              <a:rPr lang="en-GB" b="1" dirty="0"/>
              <a:t>Role</a:t>
            </a:r>
            <a:r>
              <a:rPr lang="en-GB" dirty="0"/>
              <a:t>: Determines how to apply events to aggregate/state and when to emit new event(s) based on the received command</a:t>
            </a:r>
          </a:p>
          <a:p>
            <a:r>
              <a:rPr lang="en-GB" b="1" dirty="0"/>
              <a:t>Example</a:t>
            </a:r>
            <a:r>
              <a:rPr lang="en-GB" dirty="0"/>
              <a:t>: In a banking system, a </a:t>
            </a:r>
            <a:r>
              <a:rPr lang="en-GB" dirty="0" err="1"/>
              <a:t>TransactionDecider</a:t>
            </a:r>
            <a:r>
              <a:rPr lang="en-GB" dirty="0"/>
              <a:t> may decide to approve or decline a fund transfer based on the account balance.</a:t>
            </a:r>
            <a:endParaRPr lang="en-DK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0016DC-6540-8A16-2A83-5FCA8E44C1BD}"/>
              </a:ext>
            </a:extLst>
          </p:cNvPr>
          <p:cNvSpPr txBox="1"/>
          <p:nvPr/>
        </p:nvSpPr>
        <p:spPr>
          <a:xfrm>
            <a:off x="108538" y="2187654"/>
            <a:ext cx="12047950" cy="427809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BBB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@Service</a:t>
            </a:r>
            <a:br>
              <a:rPr lang="en-GB" sz="1600" dirty="0">
                <a:solidFill>
                  <a:srgbClr val="BBB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GB" sz="16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ChangeProductPriceDecider</a:t>
            </a: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: Decider&lt;</a:t>
            </a:r>
            <a:r>
              <a:rPr lang="en-GB" sz="1600" b="1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ChangeProductPrice</a:t>
            </a:r>
            <a:r>
              <a:rPr lang="en-GB" sz="16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16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ProductEvent</a:t>
            </a: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 {</a:t>
            </a:r>
          </a:p>
          <a:p>
            <a:b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6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override fun </a:t>
            </a:r>
            <a:r>
              <a:rPr lang="en-GB" sz="1600" dirty="0">
                <a:solidFill>
                  <a:srgbClr val="FFC66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handle</a:t>
            </a: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600" b="1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cmd</a:t>
            </a: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GB" sz="1600" b="1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ChangeProductPrice</a:t>
            </a:r>
            <a:r>
              <a:rPr lang="en-GB" sz="16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1600" b="1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events</a:t>
            </a: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List&lt;</a:t>
            </a:r>
            <a:r>
              <a:rPr lang="en-GB" sz="16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ProductEvent</a:t>
            </a: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&gt;): </a:t>
            </a:r>
            <a:r>
              <a:rPr lang="en-GB" sz="1600" b="1" dirty="0" err="1">
                <a:solidFill>
                  <a:srgbClr val="A9B7C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ProductPriceChanged</a:t>
            </a:r>
            <a:r>
              <a:rPr lang="en-GB" sz="1600" dirty="0">
                <a:solidFill>
                  <a:srgbClr val="A9B7C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? </a:t>
            </a: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GB" sz="16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6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events.isEmpty</a:t>
            </a: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()) {</a:t>
            </a:r>
            <a:b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GB" sz="16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throw </a:t>
            </a:r>
            <a:r>
              <a:rPr lang="en-GB" sz="16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ProductHasNotBeenAddedException</a:t>
            </a: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6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cmd.</a:t>
            </a:r>
            <a:r>
              <a:rPr lang="en-GB" sz="1600" dirty="0" err="1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}</a:t>
            </a:r>
            <a:b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GB" sz="1600" dirty="0" err="1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GB" sz="16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6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currentPrice</a:t>
            </a: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16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events.</a:t>
            </a:r>
            <a:r>
              <a:rPr lang="en-GB" sz="1600" i="1" dirty="0" err="1">
                <a:solidFill>
                  <a:srgbClr val="FFC66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findLast</a:t>
            </a:r>
            <a:r>
              <a:rPr lang="en-GB" sz="1600" i="1" dirty="0">
                <a:solidFill>
                  <a:srgbClr val="FFC66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600" b="1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 </a:t>
            </a:r>
            <a:r>
              <a:rPr lang="en-GB" sz="1600" b="1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-&gt; </a:t>
            </a: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 </a:t>
            </a:r>
            <a:r>
              <a:rPr lang="en-GB" sz="16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is </a:t>
            </a:r>
            <a:r>
              <a:rPr lang="en-GB" sz="16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HasProductPrice</a:t>
            </a: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600" b="1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n-GB" sz="16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as </a:t>
            </a:r>
            <a:r>
              <a:rPr lang="en-GB" sz="16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HasProductPrice</a:t>
            </a:r>
            <a:b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GB" sz="1600" dirty="0" err="1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GB" sz="16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6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isPriceTheSame</a:t>
            </a: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16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currentPrice.</a:t>
            </a:r>
            <a:r>
              <a:rPr lang="en-GB" sz="1600" dirty="0" err="1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price</a:t>
            </a:r>
            <a:r>
              <a:rPr lang="en-GB" sz="1600" dirty="0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== </a:t>
            </a:r>
            <a:r>
              <a:rPr lang="en-GB" sz="16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cmd.</a:t>
            </a:r>
            <a:r>
              <a:rPr lang="en-GB" sz="1600" dirty="0" err="1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price</a:t>
            </a:r>
            <a:br>
              <a:rPr lang="en-GB" sz="1600" dirty="0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 dirty="0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GB" sz="16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GB" sz="1600" dirty="0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6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6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isPriceTheSame</a:t>
            </a: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null</a:t>
            </a:r>
            <a:b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GB" sz="16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GB" sz="1600" dirty="0">
                <a:solidFill>
                  <a:srgbClr val="9876A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6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ProductPriceChanged</a:t>
            </a: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b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GB" sz="16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cmd.</a:t>
            </a:r>
            <a:r>
              <a:rPr lang="en-GB" sz="1600" dirty="0" err="1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en-GB" sz="16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br>
              <a:rPr lang="en-GB" sz="16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GB" sz="16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cmd.</a:t>
            </a:r>
            <a:r>
              <a:rPr lang="en-GB" sz="1600" dirty="0" err="1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price</a:t>
            </a:r>
            <a:br>
              <a:rPr lang="en-GB" sz="1600" dirty="0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 dirty="0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b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32998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5FC12-CD2E-C04C-A629-3C9F1592A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9FFD7FB-A990-EF8A-BBBD-A2DDA5824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</a:t>
            </a:r>
            <a:r>
              <a:rPr lang="en-DK"/>
              <a:t>vent store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74522FB-9F34-6BAF-2B19-335E425892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DK"/>
              <a:t>EVENTSTORE</a:t>
            </a:r>
          </a:p>
        </p:txBody>
      </p:sp>
    </p:spTree>
    <p:extLst>
      <p:ext uri="{BB962C8B-B14F-4D97-AF65-F5344CB8AC3E}">
        <p14:creationId xmlns:p14="http://schemas.microsoft.com/office/powerpoint/2010/main" val="37315445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A653DBB-466F-270D-9B61-8CA5180A12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Event replaying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3F4AD2C-51A2-0B53-2A0A-41862A36E5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7586352"/>
              </p:ext>
            </p:extLst>
          </p:nvPr>
        </p:nvGraphicFramePr>
        <p:xfrm>
          <a:off x="948018" y="1328948"/>
          <a:ext cx="10085919" cy="36829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284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33">
                  <a:extLst>
                    <a:ext uri="{9D8B030D-6E8A-4147-A177-3AD203B41FA5}">
                      <a16:colId xmlns:a16="http://schemas.microsoft.com/office/drawing/2014/main" val="2906014715"/>
                    </a:ext>
                  </a:extLst>
                </a:gridCol>
                <a:gridCol w="10845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06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45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955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0038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32452">
                <a:tc>
                  <a:txBody>
                    <a:bodyPr/>
                    <a:lstStyle/>
                    <a:p>
                      <a:r>
                        <a:rPr lang="en-US" sz="1100" dirty="0" err="1">
                          <a:solidFill>
                            <a:schemeClr val="tx1"/>
                          </a:solidFill>
                        </a:rPr>
                        <a:t>aggregate_id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>
                          <a:solidFill>
                            <a:schemeClr val="tx1"/>
                          </a:solidFill>
                        </a:rPr>
                        <a:t>global_order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>
                          <a:solidFill>
                            <a:schemeClr val="tx1"/>
                          </a:solidFill>
                        </a:rPr>
                        <a:t>event_order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timestamp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>
                          <a:solidFill>
                            <a:schemeClr val="tx1"/>
                          </a:solidFill>
                        </a:rPr>
                        <a:t>event_id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>
                          <a:solidFill>
                            <a:schemeClr val="tx1"/>
                          </a:solidFill>
                        </a:rPr>
                        <a:t>Event_type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>
                          <a:solidFill>
                            <a:schemeClr val="tx1"/>
                          </a:solidFill>
                        </a:rPr>
                        <a:t>event_payload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064">
                <a:tc>
                  <a:txBody>
                    <a:bodyPr/>
                    <a:lstStyle/>
                    <a:p>
                      <a:r>
                        <a:rPr lang="en-US" sz="1200" dirty="0"/>
                        <a:t>14300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2024-01-06 7:39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{Guid-0}</a:t>
                      </a:r>
                      <a:endParaRPr lang="en-US" sz="11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1" dirty="0" err="1"/>
                        <a:t>CheckOutRequested</a:t>
                      </a:r>
                      <a:endParaRPr lang="en-US" sz="1050" b="1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&lt;serialized event&gt;…</a:t>
                      </a:r>
                      <a:endParaRPr lang="en-US" sz="105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378201"/>
                  </a:ext>
                </a:extLst>
              </a:tr>
              <a:tr h="450064">
                <a:tc>
                  <a:txBody>
                    <a:bodyPr/>
                    <a:lstStyle/>
                    <a:p>
                      <a:r>
                        <a:rPr lang="en-US" sz="1200" dirty="0"/>
                        <a:t>14237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2024-01-06</a:t>
                      </a:r>
                      <a:r>
                        <a:rPr lang="en-US" sz="1200" baseline="0" dirty="0"/>
                        <a:t> 7:39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{Guid-1}</a:t>
                      </a:r>
                      <a:endParaRPr lang="en-US" sz="11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1" dirty="0" err="1"/>
                        <a:t>ItemAdded</a:t>
                      </a:r>
                      <a:endParaRPr lang="en-US" sz="1050" b="1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&lt;serialized event&gt;…</a:t>
                      </a:r>
                      <a:endParaRPr lang="en-US" sz="105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064"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14237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2024-01-06</a:t>
                      </a:r>
                      <a:r>
                        <a:rPr lang="en-US" sz="1200" baseline="0" dirty="0"/>
                        <a:t> 7:40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{Guid-2}</a:t>
                      </a:r>
                      <a:endParaRPr lang="en-US" sz="11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err="1"/>
                        <a:t>ItemAdded</a:t>
                      </a:r>
                      <a:endParaRPr lang="en-US" sz="1050" b="1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&lt;serialized event&gt;…</a:t>
                      </a:r>
                      <a:endParaRPr lang="en-US" sz="105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064"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14237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2024-01-06</a:t>
                      </a:r>
                      <a:r>
                        <a:rPr lang="en-US" sz="1200" baseline="0" dirty="0"/>
                        <a:t> 7:41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{Guid-3}</a:t>
                      </a:r>
                      <a:endParaRPr lang="en-US" sz="11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err="1"/>
                        <a:t>ItemAdded</a:t>
                      </a:r>
                      <a:endParaRPr lang="en-US" sz="1050" b="1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&lt;serialized event&gt;…</a:t>
                      </a:r>
                      <a:endParaRPr lang="en-US" sz="105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064"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14237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2024-01-06</a:t>
                      </a:r>
                      <a:r>
                        <a:rPr lang="en-US" sz="1200" baseline="0" dirty="0"/>
                        <a:t> 7:45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{Guid-4}</a:t>
                      </a:r>
                      <a:endParaRPr lang="en-US" sz="11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err="1"/>
                        <a:t>ItemRemoved</a:t>
                      </a:r>
                      <a:endParaRPr lang="en-US" sz="1050" b="1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&lt;serialized event&gt;…</a:t>
                      </a:r>
                      <a:endParaRPr lang="en-US" sz="105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064"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14237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2024-01-06</a:t>
                      </a:r>
                      <a:r>
                        <a:rPr lang="en-US" sz="1200" baseline="0" dirty="0"/>
                        <a:t> 7:46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{Guid-5}</a:t>
                      </a:r>
                      <a:endParaRPr lang="en-US" sz="11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err="1"/>
                        <a:t>ItemAdded</a:t>
                      </a:r>
                      <a:endParaRPr lang="en-US" sz="1050" b="1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&lt;serialized event&gt;…</a:t>
                      </a:r>
                      <a:endParaRPr lang="en-US" sz="105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064"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14237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2024-01-06</a:t>
                      </a:r>
                      <a:r>
                        <a:rPr lang="en-US" sz="1200" baseline="0" dirty="0"/>
                        <a:t> 7:50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{Guid-6}</a:t>
                      </a:r>
                      <a:endParaRPr lang="en-US" sz="11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err="1"/>
                        <a:t>CheckOutRequested</a:t>
                      </a:r>
                      <a:endParaRPr lang="en-US" sz="1050" b="1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&lt;serialized event&gt;…</a:t>
                      </a:r>
                      <a:endParaRPr lang="en-US" sz="105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val 3">
            <a:extLst>
              <a:ext uri="{FF2B5EF4-FFF2-40B4-BE49-F238E27FC236}">
                <a16:creationId xmlns:a16="http://schemas.microsoft.com/office/drawing/2014/main" id="{555E3D8D-E967-37BF-70C4-4D9B9950188D}"/>
              </a:ext>
            </a:extLst>
          </p:cNvPr>
          <p:cNvSpPr/>
          <p:nvPr/>
        </p:nvSpPr>
        <p:spPr bwMode="auto">
          <a:xfrm>
            <a:off x="11150575" y="2378649"/>
            <a:ext cx="307275" cy="306000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  <a:headEnd/>
            <a:tailEnd/>
          </a:ln>
          <a:effectLst>
            <a:softEdge rad="3175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00" dirty="0" err="1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BB4EDE-ECCD-6FA7-026D-2A5F0C376BD5}"/>
              </a:ext>
            </a:extLst>
          </p:cNvPr>
          <p:cNvSpPr/>
          <p:nvPr/>
        </p:nvSpPr>
        <p:spPr bwMode="auto">
          <a:xfrm>
            <a:off x="948018" y="5302686"/>
            <a:ext cx="1679772" cy="1311164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Shopping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Basket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6F7916-1B15-ECF8-C0B4-F1235E365C61}"/>
              </a:ext>
            </a:extLst>
          </p:cNvPr>
          <p:cNvSpPr txBox="1"/>
          <p:nvPr/>
        </p:nvSpPr>
        <p:spPr>
          <a:xfrm>
            <a:off x="4652401" y="5248406"/>
            <a:ext cx="6381536" cy="120032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GB" dirty="0" err="1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eventStore</a:t>
            </a:r>
            <a:r>
              <a:rPr lang="en-GB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GB" b="1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fetchStream</a:t>
            </a:r>
            <a:r>
              <a:rPr lang="en-GB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br>
              <a:rPr lang="en-GB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8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AggregateType</a:t>
            </a:r>
            <a:r>
              <a:rPr lang="en-GB" sz="18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800" dirty="0">
                <a:solidFill>
                  <a:srgbClr val="6A875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GB" sz="1800" dirty="0" err="1">
                <a:solidFill>
                  <a:srgbClr val="6A875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ShoppingBasket</a:t>
            </a:r>
            <a:r>
              <a:rPr lang="en-GB" sz="1800" dirty="0">
                <a:solidFill>
                  <a:srgbClr val="6A875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GB" sz="18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GB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br>
              <a:rPr lang="en-GB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dirty="0" err="1">
                <a:solidFill>
                  <a:srgbClr val="CC783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ShoppingBasketId</a:t>
            </a:r>
            <a:r>
              <a:rPr lang="en-GB" sz="18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800" dirty="0">
                <a:solidFill>
                  <a:srgbClr val="6A875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”14237"</a:t>
            </a:r>
            <a:r>
              <a:rPr lang="en-GB" sz="18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GB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): List&lt;Event&gt;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A5383C-60A0-6EB0-8BC6-6C304D7BC619}"/>
              </a:ext>
            </a:extLst>
          </p:cNvPr>
          <p:cNvSpPr/>
          <p:nvPr/>
        </p:nvSpPr>
        <p:spPr bwMode="auto">
          <a:xfrm>
            <a:off x="2929218" y="5302686"/>
            <a:ext cx="1416810" cy="74716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Item A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2162668-7BED-52CC-A4BB-FE54674C9414}"/>
              </a:ext>
            </a:extLst>
          </p:cNvPr>
          <p:cNvCxnSpPr>
            <a:stCxn id="5" idx="3"/>
            <a:endCxn id="7" idx="1"/>
          </p:cNvCxnSpPr>
          <p:nvPr/>
        </p:nvCxnSpPr>
        <p:spPr>
          <a:xfrm flipV="1">
            <a:off x="2627790" y="5676266"/>
            <a:ext cx="301428" cy="2820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1308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5C3A4F-C3D9-DE07-416A-017C0596E9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Event replaying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D741C0F-B920-AE6D-767B-A3CF58F1E7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2801802"/>
              </p:ext>
            </p:extLst>
          </p:nvPr>
        </p:nvGraphicFramePr>
        <p:xfrm>
          <a:off x="948018" y="1328948"/>
          <a:ext cx="10085919" cy="36829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284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33">
                  <a:extLst>
                    <a:ext uri="{9D8B030D-6E8A-4147-A177-3AD203B41FA5}">
                      <a16:colId xmlns:a16="http://schemas.microsoft.com/office/drawing/2014/main" val="2906014715"/>
                    </a:ext>
                  </a:extLst>
                </a:gridCol>
                <a:gridCol w="10845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06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45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955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0038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32452">
                <a:tc>
                  <a:txBody>
                    <a:bodyPr/>
                    <a:lstStyle/>
                    <a:p>
                      <a:r>
                        <a:rPr lang="en-US" sz="1100" dirty="0" err="1">
                          <a:solidFill>
                            <a:schemeClr val="tx1"/>
                          </a:solidFill>
                        </a:rPr>
                        <a:t>aggregate_id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>
                          <a:solidFill>
                            <a:schemeClr val="tx1"/>
                          </a:solidFill>
                        </a:rPr>
                        <a:t>global_order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>
                          <a:solidFill>
                            <a:schemeClr val="tx1"/>
                          </a:solidFill>
                        </a:rPr>
                        <a:t>event_order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timestamp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>
                          <a:solidFill>
                            <a:schemeClr val="tx1"/>
                          </a:solidFill>
                        </a:rPr>
                        <a:t>event_id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>
                          <a:solidFill>
                            <a:schemeClr val="tx1"/>
                          </a:solidFill>
                        </a:rPr>
                        <a:t>Event_type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>
                          <a:solidFill>
                            <a:schemeClr val="tx1"/>
                          </a:solidFill>
                        </a:rPr>
                        <a:t>event_payload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064">
                <a:tc>
                  <a:txBody>
                    <a:bodyPr/>
                    <a:lstStyle/>
                    <a:p>
                      <a:r>
                        <a:rPr lang="en-US" sz="1200" dirty="0"/>
                        <a:t>14300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2024-01-06 7:39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{Guid-0}</a:t>
                      </a:r>
                      <a:endParaRPr lang="en-US" sz="11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1" dirty="0" err="1"/>
                        <a:t>CheckOutRequested</a:t>
                      </a:r>
                      <a:endParaRPr lang="en-US" sz="1050" b="1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&lt;serialized event&gt;…</a:t>
                      </a:r>
                      <a:endParaRPr lang="en-US" sz="105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378201"/>
                  </a:ext>
                </a:extLst>
              </a:tr>
              <a:tr h="450064">
                <a:tc>
                  <a:txBody>
                    <a:bodyPr/>
                    <a:lstStyle/>
                    <a:p>
                      <a:r>
                        <a:rPr lang="en-US" sz="1200" dirty="0"/>
                        <a:t>14237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2024-01-06</a:t>
                      </a:r>
                      <a:r>
                        <a:rPr lang="en-US" sz="1200" baseline="0" dirty="0"/>
                        <a:t> 7:39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{Guid-1}</a:t>
                      </a:r>
                      <a:endParaRPr lang="en-US" sz="11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1" dirty="0" err="1"/>
                        <a:t>ItemAdded</a:t>
                      </a:r>
                      <a:endParaRPr lang="en-US" sz="1050" b="1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&lt;serialized event&gt;…</a:t>
                      </a:r>
                      <a:endParaRPr lang="en-US" sz="105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064"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14237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2024-01-06</a:t>
                      </a:r>
                      <a:r>
                        <a:rPr lang="en-US" sz="1200" baseline="0" dirty="0"/>
                        <a:t> 7:40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{Guid-2}</a:t>
                      </a:r>
                      <a:endParaRPr lang="en-US" sz="11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err="1"/>
                        <a:t>ItemAdded</a:t>
                      </a:r>
                      <a:endParaRPr lang="en-US" sz="1050" b="1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&lt;serialized event&gt;…</a:t>
                      </a:r>
                      <a:endParaRPr lang="en-US" sz="105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064"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14237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2024-01-06</a:t>
                      </a:r>
                      <a:r>
                        <a:rPr lang="en-US" sz="1200" baseline="0" dirty="0"/>
                        <a:t> 7:41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{Guid-3}</a:t>
                      </a:r>
                      <a:endParaRPr lang="en-US" sz="11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err="1"/>
                        <a:t>ItemAdded</a:t>
                      </a:r>
                      <a:endParaRPr lang="en-US" sz="1050" b="1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&lt;serialized event&gt;…</a:t>
                      </a:r>
                      <a:endParaRPr lang="en-US" sz="105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064"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14237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2024-01-06</a:t>
                      </a:r>
                      <a:r>
                        <a:rPr lang="en-US" sz="1200" baseline="0" dirty="0"/>
                        <a:t> 7:45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{Guid-4}</a:t>
                      </a:r>
                      <a:endParaRPr lang="en-US" sz="11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err="1"/>
                        <a:t>ItemRemoved</a:t>
                      </a:r>
                      <a:endParaRPr lang="en-US" sz="1050" b="1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&lt;serialized event&gt;…</a:t>
                      </a:r>
                      <a:endParaRPr lang="en-US" sz="105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064"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14237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2024-01-06</a:t>
                      </a:r>
                      <a:r>
                        <a:rPr lang="en-US" sz="1200" baseline="0" dirty="0"/>
                        <a:t> 7:46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{Guid-5}</a:t>
                      </a:r>
                      <a:endParaRPr lang="en-US" sz="11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err="1"/>
                        <a:t>ItemAdded</a:t>
                      </a:r>
                      <a:endParaRPr lang="en-US" sz="1050" b="1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&lt;serialized event&gt;…</a:t>
                      </a:r>
                      <a:endParaRPr lang="en-US" sz="105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064"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14237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2024-01-06</a:t>
                      </a:r>
                      <a:r>
                        <a:rPr lang="en-US" sz="1200" baseline="0" dirty="0"/>
                        <a:t> 7:50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{Guid-6}</a:t>
                      </a:r>
                      <a:endParaRPr lang="en-US" sz="11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err="1"/>
                        <a:t>CheckOutRequested</a:t>
                      </a:r>
                      <a:endParaRPr lang="en-US" sz="1050" b="1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&lt;serialized event&gt;…</a:t>
                      </a:r>
                      <a:endParaRPr lang="en-US" sz="105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val 3">
            <a:extLst>
              <a:ext uri="{FF2B5EF4-FFF2-40B4-BE49-F238E27FC236}">
                <a16:creationId xmlns:a16="http://schemas.microsoft.com/office/drawing/2014/main" id="{1FC5423E-ECF2-1D25-BC89-1FE6638B949E}"/>
              </a:ext>
            </a:extLst>
          </p:cNvPr>
          <p:cNvSpPr/>
          <p:nvPr/>
        </p:nvSpPr>
        <p:spPr bwMode="auto">
          <a:xfrm>
            <a:off x="11150575" y="2378649"/>
            <a:ext cx="307275" cy="306000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  <a:headEnd/>
            <a:tailEnd/>
          </a:ln>
          <a:effectLst>
            <a:softEdge rad="3175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00" dirty="0" err="1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1A9319-27E3-66F6-4B2B-FFFAE7142992}"/>
              </a:ext>
            </a:extLst>
          </p:cNvPr>
          <p:cNvSpPr/>
          <p:nvPr/>
        </p:nvSpPr>
        <p:spPr bwMode="auto">
          <a:xfrm>
            <a:off x="948018" y="5134304"/>
            <a:ext cx="1679772" cy="1311164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Shopping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Basket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11234B-D423-3094-8E90-21569070955B}"/>
              </a:ext>
            </a:extLst>
          </p:cNvPr>
          <p:cNvSpPr/>
          <p:nvPr/>
        </p:nvSpPr>
        <p:spPr bwMode="auto">
          <a:xfrm>
            <a:off x="2929218" y="5134304"/>
            <a:ext cx="1416810" cy="74716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Item A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85B35BD-2A92-F77F-5F72-0EDF1AC7BB05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2627790" y="5507884"/>
            <a:ext cx="301428" cy="2820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22B4C3C4-2FFE-2347-C18A-E08F653303D7}"/>
              </a:ext>
            </a:extLst>
          </p:cNvPr>
          <p:cNvSpPr/>
          <p:nvPr/>
        </p:nvSpPr>
        <p:spPr bwMode="auto">
          <a:xfrm>
            <a:off x="2929218" y="5996152"/>
            <a:ext cx="1416810" cy="74716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Item B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91A7642-FAAF-10A9-4580-24BBECBDCE32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>
            <a:off x="2627790" y="5789886"/>
            <a:ext cx="301428" cy="579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A55C7F57-8EE2-38A0-5984-691D326D57D2}"/>
              </a:ext>
            </a:extLst>
          </p:cNvPr>
          <p:cNvSpPr/>
          <p:nvPr/>
        </p:nvSpPr>
        <p:spPr bwMode="auto">
          <a:xfrm>
            <a:off x="11150574" y="2864398"/>
            <a:ext cx="307275" cy="306000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  <a:headEnd/>
            <a:tailEnd/>
          </a:ln>
          <a:effectLst>
            <a:softEdge rad="3175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00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06601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59091FF-CC19-5687-DA77-F3067363AC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Event replaying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97156FF-FF9F-0A21-CD21-7BC023523A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5311442"/>
              </p:ext>
            </p:extLst>
          </p:nvPr>
        </p:nvGraphicFramePr>
        <p:xfrm>
          <a:off x="874713" y="1383668"/>
          <a:ext cx="10085919" cy="36829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284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33">
                  <a:extLst>
                    <a:ext uri="{9D8B030D-6E8A-4147-A177-3AD203B41FA5}">
                      <a16:colId xmlns:a16="http://schemas.microsoft.com/office/drawing/2014/main" val="2906014715"/>
                    </a:ext>
                  </a:extLst>
                </a:gridCol>
                <a:gridCol w="10845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06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45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955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0038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32452">
                <a:tc>
                  <a:txBody>
                    <a:bodyPr/>
                    <a:lstStyle/>
                    <a:p>
                      <a:r>
                        <a:rPr lang="en-US" sz="1100" dirty="0" err="1">
                          <a:solidFill>
                            <a:schemeClr val="tx1"/>
                          </a:solidFill>
                        </a:rPr>
                        <a:t>aggregate_id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>
                          <a:solidFill>
                            <a:schemeClr val="tx1"/>
                          </a:solidFill>
                        </a:rPr>
                        <a:t>global_order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>
                          <a:solidFill>
                            <a:schemeClr val="tx1"/>
                          </a:solidFill>
                        </a:rPr>
                        <a:t>event_order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timestamp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>
                          <a:solidFill>
                            <a:schemeClr val="tx1"/>
                          </a:solidFill>
                        </a:rPr>
                        <a:t>event_id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>
                          <a:solidFill>
                            <a:schemeClr val="tx1"/>
                          </a:solidFill>
                        </a:rPr>
                        <a:t>Event_type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>
                          <a:solidFill>
                            <a:schemeClr val="tx1"/>
                          </a:solidFill>
                        </a:rPr>
                        <a:t>event_payload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064">
                <a:tc>
                  <a:txBody>
                    <a:bodyPr/>
                    <a:lstStyle/>
                    <a:p>
                      <a:r>
                        <a:rPr lang="en-US" sz="1200" dirty="0"/>
                        <a:t>14300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2024-01-06 7:39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{Guid-0}</a:t>
                      </a:r>
                      <a:endParaRPr lang="en-US" sz="11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1" dirty="0" err="1"/>
                        <a:t>CheckOutRequested</a:t>
                      </a:r>
                      <a:endParaRPr lang="en-US" sz="1050" b="1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&lt;serialized event&gt;…</a:t>
                      </a:r>
                      <a:endParaRPr lang="en-US" sz="105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378201"/>
                  </a:ext>
                </a:extLst>
              </a:tr>
              <a:tr h="450064">
                <a:tc>
                  <a:txBody>
                    <a:bodyPr/>
                    <a:lstStyle/>
                    <a:p>
                      <a:r>
                        <a:rPr lang="en-US" sz="1200" dirty="0"/>
                        <a:t>14237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2024-01-06</a:t>
                      </a:r>
                      <a:r>
                        <a:rPr lang="en-US" sz="1200" baseline="0" dirty="0"/>
                        <a:t> 7:39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{Guid-1}</a:t>
                      </a:r>
                      <a:endParaRPr lang="en-US" sz="11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1" dirty="0" err="1"/>
                        <a:t>ItemAdded</a:t>
                      </a:r>
                      <a:endParaRPr lang="en-US" sz="1050" b="1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&lt;serialized event&gt;…</a:t>
                      </a:r>
                      <a:endParaRPr lang="en-US" sz="105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064"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14237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2024-01-06</a:t>
                      </a:r>
                      <a:r>
                        <a:rPr lang="en-US" sz="1200" baseline="0" dirty="0"/>
                        <a:t> 7:40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{Guid-2}</a:t>
                      </a:r>
                      <a:endParaRPr lang="en-US" sz="11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err="1"/>
                        <a:t>ItemAdded</a:t>
                      </a:r>
                      <a:endParaRPr lang="en-US" sz="1050" b="1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&lt;serialized event&gt;…</a:t>
                      </a:r>
                      <a:endParaRPr lang="en-US" sz="105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064"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14237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2024-01-06</a:t>
                      </a:r>
                      <a:r>
                        <a:rPr lang="en-US" sz="1200" baseline="0" dirty="0"/>
                        <a:t> 7:41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{Guid-3}</a:t>
                      </a:r>
                      <a:endParaRPr lang="en-US" sz="11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err="1"/>
                        <a:t>ItemAdded</a:t>
                      </a:r>
                      <a:endParaRPr lang="en-US" sz="1050" b="1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&lt;serialized event&gt;…</a:t>
                      </a:r>
                      <a:endParaRPr lang="en-US" sz="105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064"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14237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2024-01-06</a:t>
                      </a:r>
                      <a:r>
                        <a:rPr lang="en-US" sz="1200" baseline="0" dirty="0"/>
                        <a:t> 7:45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{Guid-4}</a:t>
                      </a:r>
                      <a:endParaRPr lang="en-US" sz="11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err="1"/>
                        <a:t>ItemRemoved</a:t>
                      </a:r>
                      <a:endParaRPr lang="en-US" sz="1050" b="1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&lt;serialized event&gt;…</a:t>
                      </a:r>
                      <a:endParaRPr lang="en-US" sz="105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064"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14237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2024-01-06</a:t>
                      </a:r>
                      <a:r>
                        <a:rPr lang="en-US" sz="1200" baseline="0" dirty="0"/>
                        <a:t> 7:46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{Guid-5}</a:t>
                      </a:r>
                      <a:endParaRPr lang="en-US" sz="11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err="1"/>
                        <a:t>ItemAdded</a:t>
                      </a:r>
                      <a:endParaRPr lang="en-US" sz="1050" b="1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&lt;serialized event&gt;…</a:t>
                      </a:r>
                      <a:endParaRPr lang="en-US" sz="105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064"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14237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2024-01-06</a:t>
                      </a:r>
                      <a:r>
                        <a:rPr lang="en-US" sz="1200" baseline="0" dirty="0"/>
                        <a:t> 7:50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{Guid-6}</a:t>
                      </a:r>
                      <a:endParaRPr lang="en-US" sz="11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err="1"/>
                        <a:t>CheckOutRequested</a:t>
                      </a:r>
                      <a:endParaRPr lang="en-US" sz="1050" b="1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&lt;serialized event&gt;…</a:t>
                      </a:r>
                      <a:endParaRPr lang="en-US" sz="105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val 3">
            <a:extLst>
              <a:ext uri="{FF2B5EF4-FFF2-40B4-BE49-F238E27FC236}">
                <a16:creationId xmlns:a16="http://schemas.microsoft.com/office/drawing/2014/main" id="{602E2044-FF01-7BF9-0AF0-BA92B4EF202B}"/>
              </a:ext>
            </a:extLst>
          </p:cNvPr>
          <p:cNvSpPr/>
          <p:nvPr/>
        </p:nvSpPr>
        <p:spPr bwMode="auto">
          <a:xfrm>
            <a:off x="11077270" y="2433369"/>
            <a:ext cx="307275" cy="306000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  <a:headEnd/>
            <a:tailEnd/>
          </a:ln>
          <a:effectLst>
            <a:softEdge rad="3175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00" dirty="0" err="1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A45D96-1CD4-2226-13C5-C790215D31D1}"/>
              </a:ext>
            </a:extLst>
          </p:cNvPr>
          <p:cNvSpPr/>
          <p:nvPr/>
        </p:nvSpPr>
        <p:spPr bwMode="auto">
          <a:xfrm>
            <a:off x="874713" y="5214823"/>
            <a:ext cx="1679772" cy="1311164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Shopping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Basket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2C63AC-0FBD-9BBF-44BA-22D4B364DA42}"/>
              </a:ext>
            </a:extLst>
          </p:cNvPr>
          <p:cNvSpPr/>
          <p:nvPr/>
        </p:nvSpPr>
        <p:spPr bwMode="auto">
          <a:xfrm>
            <a:off x="2855913" y="5214823"/>
            <a:ext cx="1416810" cy="74716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Item 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67902F-17BE-A87B-E583-77D618CD7875}"/>
              </a:ext>
            </a:extLst>
          </p:cNvPr>
          <p:cNvSpPr/>
          <p:nvPr/>
        </p:nvSpPr>
        <p:spPr bwMode="auto">
          <a:xfrm>
            <a:off x="2855913" y="6076671"/>
            <a:ext cx="1416810" cy="74716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Item B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F4F15E1-82E3-6813-300F-ACCD82799AA0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2554485" y="5870405"/>
            <a:ext cx="301428" cy="579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B952D2CC-2912-8963-FB6C-6A496F77784B}"/>
              </a:ext>
            </a:extLst>
          </p:cNvPr>
          <p:cNvSpPr/>
          <p:nvPr/>
        </p:nvSpPr>
        <p:spPr bwMode="auto">
          <a:xfrm>
            <a:off x="11077269" y="2919118"/>
            <a:ext cx="307275" cy="306000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  <a:headEnd/>
            <a:tailEnd/>
          </a:ln>
          <a:effectLst>
            <a:softEdge rad="3175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00" dirty="0" err="1">
              <a:solidFill>
                <a:schemeClr val="bg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AB00B41-6411-C3FE-6AC9-38D97E898122}"/>
              </a:ext>
            </a:extLst>
          </p:cNvPr>
          <p:cNvSpPr/>
          <p:nvPr/>
        </p:nvSpPr>
        <p:spPr bwMode="auto">
          <a:xfrm>
            <a:off x="11077268" y="3355298"/>
            <a:ext cx="307275" cy="306000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  <a:headEnd/>
            <a:tailEnd/>
          </a:ln>
          <a:effectLst>
            <a:softEdge rad="3175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00" dirty="0" err="1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83A7D6-36BE-A049-7B58-871E618B9677}"/>
              </a:ext>
            </a:extLst>
          </p:cNvPr>
          <p:cNvSpPr/>
          <p:nvPr/>
        </p:nvSpPr>
        <p:spPr bwMode="auto">
          <a:xfrm>
            <a:off x="4427209" y="5703091"/>
            <a:ext cx="1416810" cy="74716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Item C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B73AACF-B231-5190-1FDB-6A1A43C6CEDC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2554485" y="5870405"/>
            <a:ext cx="1872724" cy="2062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5D13CD3-3AB1-93F3-E3E3-F3272B0371B5}"/>
              </a:ext>
            </a:extLst>
          </p:cNvPr>
          <p:cNvCxnSpPr/>
          <p:nvPr/>
        </p:nvCxnSpPr>
        <p:spPr>
          <a:xfrm flipV="1">
            <a:off x="2554485" y="5581149"/>
            <a:ext cx="301428" cy="2820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56158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1486DD3-A335-BB80-F1FB-81B60B9CC15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Event replaying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9C77AAA-49B7-2932-8EF4-C74AD56152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7762124"/>
              </p:ext>
            </p:extLst>
          </p:nvPr>
        </p:nvGraphicFramePr>
        <p:xfrm>
          <a:off x="948017" y="1328948"/>
          <a:ext cx="10085919" cy="36829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284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33">
                  <a:extLst>
                    <a:ext uri="{9D8B030D-6E8A-4147-A177-3AD203B41FA5}">
                      <a16:colId xmlns:a16="http://schemas.microsoft.com/office/drawing/2014/main" val="2906014715"/>
                    </a:ext>
                  </a:extLst>
                </a:gridCol>
                <a:gridCol w="10845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06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45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955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0038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32452">
                <a:tc>
                  <a:txBody>
                    <a:bodyPr/>
                    <a:lstStyle/>
                    <a:p>
                      <a:r>
                        <a:rPr lang="en-US" sz="1100" dirty="0" err="1">
                          <a:solidFill>
                            <a:schemeClr val="tx1"/>
                          </a:solidFill>
                        </a:rPr>
                        <a:t>aggregate_id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>
                          <a:solidFill>
                            <a:schemeClr val="tx1"/>
                          </a:solidFill>
                        </a:rPr>
                        <a:t>global_order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>
                          <a:solidFill>
                            <a:schemeClr val="tx1"/>
                          </a:solidFill>
                        </a:rPr>
                        <a:t>event_order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timestamp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>
                          <a:solidFill>
                            <a:schemeClr val="tx1"/>
                          </a:solidFill>
                        </a:rPr>
                        <a:t>event_id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>
                          <a:solidFill>
                            <a:schemeClr val="tx1"/>
                          </a:solidFill>
                        </a:rPr>
                        <a:t>Event_type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>
                          <a:solidFill>
                            <a:schemeClr val="tx1"/>
                          </a:solidFill>
                        </a:rPr>
                        <a:t>event_payload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064">
                <a:tc>
                  <a:txBody>
                    <a:bodyPr/>
                    <a:lstStyle/>
                    <a:p>
                      <a:r>
                        <a:rPr lang="en-US" sz="1200" dirty="0"/>
                        <a:t>14300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2024-01-06 7:39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{Guid-0}</a:t>
                      </a:r>
                      <a:endParaRPr lang="en-US" sz="11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1" dirty="0" err="1"/>
                        <a:t>CheckOutRequested</a:t>
                      </a:r>
                      <a:endParaRPr lang="en-US" sz="1050" b="1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&lt;serialized event&gt;…</a:t>
                      </a:r>
                      <a:endParaRPr lang="en-US" sz="105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378201"/>
                  </a:ext>
                </a:extLst>
              </a:tr>
              <a:tr h="450064">
                <a:tc>
                  <a:txBody>
                    <a:bodyPr/>
                    <a:lstStyle/>
                    <a:p>
                      <a:r>
                        <a:rPr lang="en-US" sz="1200" dirty="0"/>
                        <a:t>14237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2024-01-06</a:t>
                      </a:r>
                      <a:r>
                        <a:rPr lang="en-US" sz="1200" baseline="0" dirty="0"/>
                        <a:t> 7:39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{Guid-1}</a:t>
                      </a:r>
                      <a:endParaRPr lang="en-US" sz="11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1" dirty="0" err="1"/>
                        <a:t>ItemAdded</a:t>
                      </a:r>
                      <a:endParaRPr lang="en-US" sz="1050" b="1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&lt;serialized event&gt;…</a:t>
                      </a:r>
                      <a:endParaRPr lang="en-US" sz="105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064"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14237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2024-01-06</a:t>
                      </a:r>
                      <a:r>
                        <a:rPr lang="en-US" sz="1200" baseline="0" dirty="0"/>
                        <a:t> 7:40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{Guid-2}</a:t>
                      </a:r>
                      <a:endParaRPr lang="en-US" sz="11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err="1"/>
                        <a:t>ItemAdded</a:t>
                      </a:r>
                      <a:endParaRPr lang="en-US" sz="1050" b="1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&lt;serialized event&gt;…</a:t>
                      </a:r>
                      <a:endParaRPr lang="en-US" sz="105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064"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14237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2024-01-06</a:t>
                      </a:r>
                      <a:r>
                        <a:rPr lang="en-US" sz="1200" baseline="0" dirty="0"/>
                        <a:t> 7:41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{Guid-3}</a:t>
                      </a:r>
                      <a:endParaRPr lang="en-US" sz="11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err="1"/>
                        <a:t>ItemAdded</a:t>
                      </a:r>
                      <a:endParaRPr lang="en-US" sz="1050" b="1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&lt;serialized event&gt;…</a:t>
                      </a:r>
                      <a:endParaRPr lang="en-US" sz="105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064"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14237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2024-01-06</a:t>
                      </a:r>
                      <a:r>
                        <a:rPr lang="en-US" sz="1200" baseline="0" dirty="0"/>
                        <a:t> 7:45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{Guid-4}</a:t>
                      </a:r>
                      <a:endParaRPr lang="en-US" sz="11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err="1"/>
                        <a:t>ItemRemoved</a:t>
                      </a:r>
                      <a:endParaRPr lang="en-US" sz="1050" b="1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&lt;serialized event&gt;…</a:t>
                      </a:r>
                      <a:endParaRPr lang="en-US" sz="105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064"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14237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2024-01-06</a:t>
                      </a:r>
                      <a:r>
                        <a:rPr lang="en-US" sz="1200" baseline="0" dirty="0"/>
                        <a:t> 7:46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{Guid-5}</a:t>
                      </a:r>
                      <a:endParaRPr lang="en-US" sz="11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err="1"/>
                        <a:t>ItemAdded</a:t>
                      </a:r>
                      <a:endParaRPr lang="en-US" sz="1050" b="1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&lt;serialized event&gt;…</a:t>
                      </a:r>
                      <a:endParaRPr lang="en-US" sz="105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064"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14237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2024-01-06</a:t>
                      </a:r>
                      <a:r>
                        <a:rPr lang="en-US" sz="1200" baseline="0" dirty="0"/>
                        <a:t> 7:50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{Guid-6}</a:t>
                      </a:r>
                      <a:endParaRPr lang="en-US" sz="11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err="1"/>
                        <a:t>CheckOutRequested</a:t>
                      </a:r>
                      <a:endParaRPr lang="en-US" sz="1050" b="1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&lt;serialized event&gt;…</a:t>
                      </a:r>
                      <a:endParaRPr lang="en-US" sz="105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val 3">
            <a:extLst>
              <a:ext uri="{FF2B5EF4-FFF2-40B4-BE49-F238E27FC236}">
                <a16:creationId xmlns:a16="http://schemas.microsoft.com/office/drawing/2014/main" id="{AADA543B-70D2-E61C-E46C-1DC8B66AF71C}"/>
              </a:ext>
            </a:extLst>
          </p:cNvPr>
          <p:cNvSpPr/>
          <p:nvPr/>
        </p:nvSpPr>
        <p:spPr bwMode="auto">
          <a:xfrm>
            <a:off x="11150574" y="2378649"/>
            <a:ext cx="307275" cy="306000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  <a:headEnd/>
            <a:tailEnd/>
          </a:ln>
          <a:effectLst>
            <a:softEdge rad="3175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00" dirty="0" err="1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23A9A6-5FBB-8102-C723-4FDD5E7C5F87}"/>
              </a:ext>
            </a:extLst>
          </p:cNvPr>
          <p:cNvSpPr/>
          <p:nvPr/>
        </p:nvSpPr>
        <p:spPr bwMode="auto">
          <a:xfrm>
            <a:off x="948017" y="5155472"/>
            <a:ext cx="1679772" cy="1311164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Shopping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Basket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964DAD-1670-D497-0950-185A3A3CF1CB}"/>
              </a:ext>
            </a:extLst>
          </p:cNvPr>
          <p:cNvSpPr/>
          <p:nvPr/>
        </p:nvSpPr>
        <p:spPr bwMode="auto">
          <a:xfrm>
            <a:off x="2929217" y="5155472"/>
            <a:ext cx="1416810" cy="74716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Item A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EF3D5AF-160E-CF7F-6F25-FF5E918B5303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2627789" y="5529052"/>
            <a:ext cx="301428" cy="2820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EE783F97-2ED6-BEBC-E986-2BE57384CECC}"/>
              </a:ext>
            </a:extLst>
          </p:cNvPr>
          <p:cNvSpPr/>
          <p:nvPr/>
        </p:nvSpPr>
        <p:spPr bwMode="auto">
          <a:xfrm>
            <a:off x="2929217" y="6017320"/>
            <a:ext cx="1416810" cy="74716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Item B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FD515F9-252C-8CBD-9B01-6D99F4E9D461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>
            <a:off x="2627789" y="5811054"/>
            <a:ext cx="301428" cy="579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D9D8380E-AF9E-79FF-B33F-B339D69B0942}"/>
              </a:ext>
            </a:extLst>
          </p:cNvPr>
          <p:cNvSpPr/>
          <p:nvPr/>
        </p:nvSpPr>
        <p:spPr bwMode="auto">
          <a:xfrm>
            <a:off x="11150573" y="2864398"/>
            <a:ext cx="307275" cy="306000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  <a:headEnd/>
            <a:tailEnd/>
          </a:ln>
          <a:effectLst>
            <a:softEdge rad="3175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00" dirty="0" err="1">
              <a:solidFill>
                <a:schemeClr val="bg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FAA7C4A-936C-472A-73F1-DA5DC3941A64}"/>
              </a:ext>
            </a:extLst>
          </p:cNvPr>
          <p:cNvSpPr/>
          <p:nvPr/>
        </p:nvSpPr>
        <p:spPr bwMode="auto">
          <a:xfrm>
            <a:off x="11150573" y="3295322"/>
            <a:ext cx="307275" cy="306000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  <a:headEnd/>
            <a:tailEnd/>
          </a:ln>
          <a:effectLst>
            <a:softEdge rad="3175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00" dirty="0" err="1">
              <a:solidFill>
                <a:schemeClr val="bg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ABBB600-B76B-D5BE-2218-BC5F8BF3BC79}"/>
              </a:ext>
            </a:extLst>
          </p:cNvPr>
          <p:cNvSpPr/>
          <p:nvPr/>
        </p:nvSpPr>
        <p:spPr bwMode="auto">
          <a:xfrm>
            <a:off x="11150573" y="3726246"/>
            <a:ext cx="307275" cy="306000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  <a:headEnd/>
            <a:tailEnd/>
          </a:ln>
          <a:effectLst>
            <a:softEdge rad="3175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00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06013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AAD333D-A1E7-4941-DB13-340C84AB5A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Event replaying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138850A-6F12-17DA-786C-2FB39D2775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6554587"/>
              </p:ext>
            </p:extLst>
          </p:nvPr>
        </p:nvGraphicFramePr>
        <p:xfrm>
          <a:off x="990549" y="1328948"/>
          <a:ext cx="10085919" cy="36829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284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33">
                  <a:extLst>
                    <a:ext uri="{9D8B030D-6E8A-4147-A177-3AD203B41FA5}">
                      <a16:colId xmlns:a16="http://schemas.microsoft.com/office/drawing/2014/main" val="2906014715"/>
                    </a:ext>
                  </a:extLst>
                </a:gridCol>
                <a:gridCol w="10845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06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45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955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0038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32452">
                <a:tc>
                  <a:txBody>
                    <a:bodyPr/>
                    <a:lstStyle/>
                    <a:p>
                      <a:r>
                        <a:rPr lang="en-US" sz="1100" dirty="0" err="1">
                          <a:solidFill>
                            <a:schemeClr val="tx1"/>
                          </a:solidFill>
                        </a:rPr>
                        <a:t>aggregate_id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>
                          <a:solidFill>
                            <a:schemeClr val="tx1"/>
                          </a:solidFill>
                        </a:rPr>
                        <a:t>global_order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>
                          <a:solidFill>
                            <a:schemeClr val="tx1"/>
                          </a:solidFill>
                        </a:rPr>
                        <a:t>event_order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timestamp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>
                          <a:solidFill>
                            <a:schemeClr val="tx1"/>
                          </a:solidFill>
                        </a:rPr>
                        <a:t>event_id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>
                          <a:solidFill>
                            <a:schemeClr val="tx1"/>
                          </a:solidFill>
                        </a:rPr>
                        <a:t>Event_type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>
                          <a:solidFill>
                            <a:schemeClr val="tx1"/>
                          </a:solidFill>
                        </a:rPr>
                        <a:t>event_payload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064">
                <a:tc>
                  <a:txBody>
                    <a:bodyPr/>
                    <a:lstStyle/>
                    <a:p>
                      <a:r>
                        <a:rPr lang="en-US" sz="1200" dirty="0"/>
                        <a:t>14300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2024-01-06 7:39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{Guid-0}</a:t>
                      </a:r>
                      <a:endParaRPr lang="en-US" sz="11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1" dirty="0" err="1"/>
                        <a:t>CheckOutRequested</a:t>
                      </a:r>
                      <a:endParaRPr lang="en-US" sz="1050" b="1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&lt;serialized event&gt;…</a:t>
                      </a:r>
                      <a:endParaRPr lang="en-US" sz="105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378201"/>
                  </a:ext>
                </a:extLst>
              </a:tr>
              <a:tr h="450064">
                <a:tc>
                  <a:txBody>
                    <a:bodyPr/>
                    <a:lstStyle/>
                    <a:p>
                      <a:r>
                        <a:rPr lang="en-US" sz="1200" dirty="0"/>
                        <a:t>14237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2024-01-06</a:t>
                      </a:r>
                      <a:r>
                        <a:rPr lang="en-US" sz="1200" baseline="0" dirty="0"/>
                        <a:t> 7:39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{Guid-1}</a:t>
                      </a:r>
                      <a:endParaRPr lang="en-US" sz="11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1" dirty="0" err="1"/>
                        <a:t>ItemAdded</a:t>
                      </a:r>
                      <a:endParaRPr lang="en-US" sz="1050" b="1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&lt;serialized event&gt;…</a:t>
                      </a:r>
                      <a:endParaRPr lang="en-US" sz="105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064"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14237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2024-01-06</a:t>
                      </a:r>
                      <a:r>
                        <a:rPr lang="en-US" sz="1200" baseline="0" dirty="0"/>
                        <a:t> 7:40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{Guid-2}</a:t>
                      </a:r>
                      <a:endParaRPr lang="en-US" sz="11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err="1"/>
                        <a:t>ItemAdded</a:t>
                      </a:r>
                      <a:endParaRPr lang="en-US" sz="1050" b="1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&lt;serialized event&gt;…</a:t>
                      </a:r>
                      <a:endParaRPr lang="en-US" sz="105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064"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14237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2024-01-06</a:t>
                      </a:r>
                      <a:r>
                        <a:rPr lang="en-US" sz="1200" baseline="0" dirty="0"/>
                        <a:t> 7:41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{Guid-3}</a:t>
                      </a:r>
                      <a:endParaRPr lang="en-US" sz="11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err="1"/>
                        <a:t>ItemAdded</a:t>
                      </a:r>
                      <a:endParaRPr lang="en-US" sz="1050" b="1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&lt;serialized event&gt;…</a:t>
                      </a:r>
                      <a:endParaRPr lang="en-US" sz="105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064"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14237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2024-01-06</a:t>
                      </a:r>
                      <a:r>
                        <a:rPr lang="en-US" sz="1200" baseline="0" dirty="0"/>
                        <a:t> 7:45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{Guid-4}</a:t>
                      </a:r>
                      <a:endParaRPr lang="en-US" sz="11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err="1"/>
                        <a:t>ItemRemoved</a:t>
                      </a:r>
                      <a:endParaRPr lang="en-US" sz="1050" b="1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&lt;serialized event&gt;…</a:t>
                      </a:r>
                      <a:endParaRPr lang="en-US" sz="105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064"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14237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2024-01-06</a:t>
                      </a:r>
                      <a:r>
                        <a:rPr lang="en-US" sz="1200" baseline="0" dirty="0"/>
                        <a:t> 7:46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{Guid-5}</a:t>
                      </a:r>
                      <a:endParaRPr lang="en-US" sz="11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err="1"/>
                        <a:t>ItemAdded</a:t>
                      </a:r>
                      <a:endParaRPr lang="en-US" sz="1050" b="1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&lt;serialized event&gt;…</a:t>
                      </a:r>
                      <a:endParaRPr lang="en-US" sz="105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064"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14237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2024-01-06</a:t>
                      </a:r>
                      <a:r>
                        <a:rPr lang="en-US" sz="1200" baseline="0" dirty="0"/>
                        <a:t> 7:50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{Guid-6}</a:t>
                      </a:r>
                      <a:endParaRPr lang="en-US" sz="11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err="1"/>
                        <a:t>CheckOutRequested</a:t>
                      </a:r>
                      <a:endParaRPr lang="en-US" sz="1050" b="1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&lt;serialized event&gt;…</a:t>
                      </a:r>
                      <a:endParaRPr lang="en-US" sz="105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val 3">
            <a:extLst>
              <a:ext uri="{FF2B5EF4-FFF2-40B4-BE49-F238E27FC236}">
                <a16:creationId xmlns:a16="http://schemas.microsoft.com/office/drawing/2014/main" id="{826275B6-05A7-3C99-8EF8-C289357F94D5}"/>
              </a:ext>
            </a:extLst>
          </p:cNvPr>
          <p:cNvSpPr/>
          <p:nvPr/>
        </p:nvSpPr>
        <p:spPr bwMode="auto">
          <a:xfrm>
            <a:off x="11193106" y="2378649"/>
            <a:ext cx="307275" cy="306000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  <a:headEnd/>
            <a:tailEnd/>
          </a:ln>
          <a:effectLst>
            <a:softEdge rad="3175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00" dirty="0" err="1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3854C0-165C-7AD4-AB8E-D10B06CDD791}"/>
              </a:ext>
            </a:extLst>
          </p:cNvPr>
          <p:cNvSpPr/>
          <p:nvPr/>
        </p:nvSpPr>
        <p:spPr bwMode="auto">
          <a:xfrm>
            <a:off x="990549" y="5104102"/>
            <a:ext cx="1679772" cy="1311164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Shopping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Basket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BF760D-B4E0-BB30-5845-F61E8FCAB691}"/>
              </a:ext>
            </a:extLst>
          </p:cNvPr>
          <p:cNvSpPr/>
          <p:nvPr/>
        </p:nvSpPr>
        <p:spPr bwMode="auto">
          <a:xfrm>
            <a:off x="2971749" y="5104102"/>
            <a:ext cx="1416810" cy="74716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Item A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409EE03-F340-0FFE-C90F-A52B391DB97A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2670321" y="5477682"/>
            <a:ext cx="301428" cy="2820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276B3E6D-4EB3-8A24-7AF5-8234D3415BE6}"/>
              </a:ext>
            </a:extLst>
          </p:cNvPr>
          <p:cNvSpPr/>
          <p:nvPr/>
        </p:nvSpPr>
        <p:spPr bwMode="auto">
          <a:xfrm>
            <a:off x="2971749" y="5965950"/>
            <a:ext cx="1416810" cy="74716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Item B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3872117-ED55-E2EE-97D5-69DDFCA706DB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>
            <a:off x="2670321" y="5759684"/>
            <a:ext cx="301428" cy="579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3F8B88FD-4875-910E-C9A4-C32DFE54CD9F}"/>
              </a:ext>
            </a:extLst>
          </p:cNvPr>
          <p:cNvSpPr/>
          <p:nvPr/>
        </p:nvSpPr>
        <p:spPr bwMode="auto">
          <a:xfrm>
            <a:off x="11193105" y="2864398"/>
            <a:ext cx="307275" cy="306000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  <a:headEnd/>
            <a:tailEnd/>
          </a:ln>
          <a:effectLst>
            <a:softEdge rad="3175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00" dirty="0" err="1">
              <a:solidFill>
                <a:schemeClr val="bg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87D6604-709D-3F75-E685-50F12EB861B2}"/>
              </a:ext>
            </a:extLst>
          </p:cNvPr>
          <p:cNvSpPr/>
          <p:nvPr/>
        </p:nvSpPr>
        <p:spPr bwMode="auto">
          <a:xfrm>
            <a:off x="11193104" y="3300578"/>
            <a:ext cx="307275" cy="306000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  <a:headEnd/>
            <a:tailEnd/>
          </a:ln>
          <a:effectLst>
            <a:softEdge rad="3175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00" dirty="0" err="1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D72AA6-E005-E6AB-E33F-24123CF690E7}"/>
              </a:ext>
            </a:extLst>
          </p:cNvPr>
          <p:cNvSpPr/>
          <p:nvPr/>
        </p:nvSpPr>
        <p:spPr bwMode="auto">
          <a:xfrm>
            <a:off x="4543045" y="5592370"/>
            <a:ext cx="1416810" cy="74716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Item 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1F746B7-EA5F-F324-E434-90C00688D3F1}"/>
              </a:ext>
            </a:extLst>
          </p:cNvPr>
          <p:cNvCxnSpPr>
            <a:cxnSpLocks/>
            <a:stCxn id="5" idx="3"/>
            <a:endCxn id="12" idx="1"/>
          </p:cNvCxnSpPr>
          <p:nvPr/>
        </p:nvCxnSpPr>
        <p:spPr>
          <a:xfrm>
            <a:off x="2670321" y="5759684"/>
            <a:ext cx="1872724" cy="2062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524D1D82-E6D2-EA36-924F-E0F15E2D74F1}"/>
              </a:ext>
            </a:extLst>
          </p:cNvPr>
          <p:cNvSpPr/>
          <p:nvPr/>
        </p:nvSpPr>
        <p:spPr bwMode="auto">
          <a:xfrm>
            <a:off x="11193104" y="3736484"/>
            <a:ext cx="307275" cy="306000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  <a:headEnd/>
            <a:tailEnd/>
          </a:ln>
          <a:effectLst>
            <a:softEdge rad="3175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00" dirty="0" err="1">
              <a:solidFill>
                <a:schemeClr val="bg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1D8EBEB-6E32-1027-F685-8F5989A1C95E}"/>
              </a:ext>
            </a:extLst>
          </p:cNvPr>
          <p:cNvSpPr/>
          <p:nvPr/>
        </p:nvSpPr>
        <p:spPr bwMode="auto">
          <a:xfrm>
            <a:off x="11193104" y="4190429"/>
            <a:ext cx="307275" cy="306000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  <a:headEnd/>
            <a:tailEnd/>
          </a:ln>
          <a:effectLst>
            <a:softEdge rad="3175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00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0361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B97FB55-3969-CAA5-C7AE-DD31961DCE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Event replaying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5B06B1E-857C-D6BE-9F60-2F881D85D3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4351971"/>
              </p:ext>
            </p:extLst>
          </p:nvPr>
        </p:nvGraphicFramePr>
        <p:xfrm>
          <a:off x="948018" y="1038110"/>
          <a:ext cx="10085919" cy="36829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284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33">
                  <a:extLst>
                    <a:ext uri="{9D8B030D-6E8A-4147-A177-3AD203B41FA5}">
                      <a16:colId xmlns:a16="http://schemas.microsoft.com/office/drawing/2014/main" val="2906014715"/>
                    </a:ext>
                  </a:extLst>
                </a:gridCol>
                <a:gridCol w="10845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06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45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955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0038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32452">
                <a:tc>
                  <a:txBody>
                    <a:bodyPr/>
                    <a:lstStyle/>
                    <a:p>
                      <a:r>
                        <a:rPr lang="en-US" sz="1100" dirty="0" err="1">
                          <a:solidFill>
                            <a:schemeClr val="tx1"/>
                          </a:solidFill>
                        </a:rPr>
                        <a:t>aggregate_id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>
                          <a:solidFill>
                            <a:schemeClr val="tx1"/>
                          </a:solidFill>
                        </a:rPr>
                        <a:t>global_order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>
                          <a:solidFill>
                            <a:schemeClr val="tx1"/>
                          </a:solidFill>
                        </a:rPr>
                        <a:t>event_order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timestamp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>
                          <a:solidFill>
                            <a:schemeClr val="tx1"/>
                          </a:solidFill>
                        </a:rPr>
                        <a:t>event_id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>
                          <a:solidFill>
                            <a:schemeClr val="tx1"/>
                          </a:solidFill>
                        </a:rPr>
                        <a:t>Event_type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>
                          <a:solidFill>
                            <a:schemeClr val="tx1"/>
                          </a:solidFill>
                        </a:rPr>
                        <a:t>event_payload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064">
                <a:tc>
                  <a:txBody>
                    <a:bodyPr/>
                    <a:lstStyle/>
                    <a:p>
                      <a:r>
                        <a:rPr lang="en-US" sz="1200" dirty="0"/>
                        <a:t>14300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2024-01-06 7:39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{Guid-0}</a:t>
                      </a:r>
                      <a:endParaRPr lang="en-US" sz="11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1" dirty="0" err="1"/>
                        <a:t>CheckOutRequested</a:t>
                      </a:r>
                      <a:endParaRPr lang="en-US" sz="1050" b="1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&lt;serialized event&gt;…</a:t>
                      </a:r>
                      <a:endParaRPr lang="en-US" sz="105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378201"/>
                  </a:ext>
                </a:extLst>
              </a:tr>
              <a:tr h="450064">
                <a:tc>
                  <a:txBody>
                    <a:bodyPr/>
                    <a:lstStyle/>
                    <a:p>
                      <a:r>
                        <a:rPr lang="en-US" sz="1200" dirty="0"/>
                        <a:t>14237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2024-01-06</a:t>
                      </a:r>
                      <a:r>
                        <a:rPr lang="en-US" sz="1200" baseline="0" dirty="0"/>
                        <a:t> 7:39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{Guid-1}</a:t>
                      </a:r>
                      <a:endParaRPr lang="en-US" sz="11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1" dirty="0" err="1"/>
                        <a:t>ItemAdded</a:t>
                      </a:r>
                      <a:endParaRPr lang="en-US" sz="1050" b="1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&lt;serialized event&gt;…</a:t>
                      </a:r>
                      <a:endParaRPr lang="en-US" sz="105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064"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14237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2024-01-06</a:t>
                      </a:r>
                      <a:r>
                        <a:rPr lang="en-US" sz="1200" baseline="0" dirty="0"/>
                        <a:t> 7:40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{Guid-2}</a:t>
                      </a:r>
                      <a:endParaRPr lang="en-US" sz="11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err="1"/>
                        <a:t>ItemAdded</a:t>
                      </a:r>
                      <a:endParaRPr lang="en-US" sz="1050" b="1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&lt;serialized event&gt;…</a:t>
                      </a:r>
                      <a:endParaRPr lang="en-US" sz="105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064"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14237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2024-01-06</a:t>
                      </a:r>
                      <a:r>
                        <a:rPr lang="en-US" sz="1200" baseline="0" dirty="0"/>
                        <a:t> 7:41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{Guid-3}</a:t>
                      </a:r>
                      <a:endParaRPr lang="en-US" sz="11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err="1"/>
                        <a:t>ItemAdded</a:t>
                      </a:r>
                      <a:endParaRPr lang="en-US" sz="1050" b="1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&lt;serialized event&gt;…</a:t>
                      </a:r>
                      <a:endParaRPr lang="en-US" sz="105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064"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14237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2024-01-06</a:t>
                      </a:r>
                      <a:r>
                        <a:rPr lang="en-US" sz="1200" baseline="0" dirty="0"/>
                        <a:t> 7:45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{Guid-4}</a:t>
                      </a:r>
                      <a:endParaRPr lang="en-US" sz="11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err="1"/>
                        <a:t>ItemRemoved</a:t>
                      </a:r>
                      <a:endParaRPr lang="en-US" sz="1050" b="1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&lt;serialized event&gt;…</a:t>
                      </a:r>
                      <a:endParaRPr lang="en-US" sz="105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064"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14237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2024-01-06</a:t>
                      </a:r>
                      <a:r>
                        <a:rPr lang="en-US" sz="1200" baseline="0" dirty="0"/>
                        <a:t> 7:46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{Guid-5}</a:t>
                      </a:r>
                      <a:endParaRPr lang="en-US" sz="11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err="1"/>
                        <a:t>ItemAdded</a:t>
                      </a:r>
                      <a:endParaRPr lang="en-US" sz="1050" b="1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&lt;serialized event&gt;…</a:t>
                      </a:r>
                      <a:endParaRPr lang="en-US" sz="105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064"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14237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2024-01-06</a:t>
                      </a:r>
                      <a:r>
                        <a:rPr lang="en-US" sz="1200" baseline="0" dirty="0"/>
                        <a:t> 7:50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{Guid-6}</a:t>
                      </a:r>
                      <a:endParaRPr lang="en-US" sz="11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err="1">
                          <a:solidFill>
                            <a:srgbClr val="00B0F0"/>
                          </a:solidFill>
                        </a:rPr>
                        <a:t>CheckOutRequested</a:t>
                      </a:r>
                      <a:endParaRPr lang="en-US" sz="1050" b="1" dirty="0">
                        <a:solidFill>
                          <a:srgbClr val="00B0F0"/>
                        </a:solidFill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&lt;serialized event&gt;…</a:t>
                      </a:r>
                      <a:endParaRPr lang="en-US" sz="105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val 3">
            <a:extLst>
              <a:ext uri="{FF2B5EF4-FFF2-40B4-BE49-F238E27FC236}">
                <a16:creationId xmlns:a16="http://schemas.microsoft.com/office/drawing/2014/main" id="{EDF13F7E-50C1-69D3-6524-B5DC525EDD55}"/>
              </a:ext>
            </a:extLst>
          </p:cNvPr>
          <p:cNvSpPr/>
          <p:nvPr/>
        </p:nvSpPr>
        <p:spPr bwMode="auto">
          <a:xfrm>
            <a:off x="11150575" y="2087811"/>
            <a:ext cx="307275" cy="306000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  <a:headEnd/>
            <a:tailEnd/>
          </a:ln>
          <a:effectLst>
            <a:softEdge rad="3175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00" dirty="0" err="1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0151F0-A60F-1D72-73E5-127CCEB70055}"/>
              </a:ext>
            </a:extLst>
          </p:cNvPr>
          <p:cNvSpPr/>
          <p:nvPr/>
        </p:nvSpPr>
        <p:spPr bwMode="auto">
          <a:xfrm>
            <a:off x="948018" y="5011848"/>
            <a:ext cx="1679772" cy="1311164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Shopping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Basket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520E0C-50E2-5E47-83A7-16109A88D890}"/>
              </a:ext>
            </a:extLst>
          </p:cNvPr>
          <p:cNvSpPr/>
          <p:nvPr/>
        </p:nvSpPr>
        <p:spPr bwMode="auto">
          <a:xfrm>
            <a:off x="2929218" y="5011848"/>
            <a:ext cx="1416810" cy="74716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Item A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9550A01-D979-9285-9023-8667ADCB5795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2627790" y="5385428"/>
            <a:ext cx="301428" cy="2820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3B2C0549-1A5C-3921-7797-B2D286372C75}"/>
              </a:ext>
            </a:extLst>
          </p:cNvPr>
          <p:cNvSpPr/>
          <p:nvPr/>
        </p:nvSpPr>
        <p:spPr bwMode="auto">
          <a:xfrm>
            <a:off x="2929218" y="5873696"/>
            <a:ext cx="1416810" cy="74716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Item B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36DDA4C-F274-9A96-3ADB-FBAE9E495EE6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>
            <a:off x="2627790" y="5667430"/>
            <a:ext cx="301428" cy="579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8D403E48-5B5D-700E-2237-B10CC9A9A1DD}"/>
              </a:ext>
            </a:extLst>
          </p:cNvPr>
          <p:cNvSpPr/>
          <p:nvPr/>
        </p:nvSpPr>
        <p:spPr bwMode="auto">
          <a:xfrm>
            <a:off x="11150574" y="2573560"/>
            <a:ext cx="307275" cy="306000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  <a:headEnd/>
            <a:tailEnd/>
          </a:ln>
          <a:effectLst>
            <a:softEdge rad="3175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00" dirty="0" err="1">
              <a:solidFill>
                <a:schemeClr val="bg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5AEE602-4B36-B250-691E-879BDC8C4B30}"/>
              </a:ext>
            </a:extLst>
          </p:cNvPr>
          <p:cNvSpPr/>
          <p:nvPr/>
        </p:nvSpPr>
        <p:spPr bwMode="auto">
          <a:xfrm>
            <a:off x="11150573" y="3009740"/>
            <a:ext cx="307275" cy="306000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  <a:headEnd/>
            <a:tailEnd/>
          </a:ln>
          <a:effectLst>
            <a:softEdge rad="3175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00" dirty="0" err="1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B9CEFC-EB4E-75BA-8886-813D48C924A1}"/>
              </a:ext>
            </a:extLst>
          </p:cNvPr>
          <p:cNvSpPr/>
          <p:nvPr/>
        </p:nvSpPr>
        <p:spPr bwMode="auto">
          <a:xfrm>
            <a:off x="4500514" y="5500116"/>
            <a:ext cx="1416810" cy="74716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Item 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5108C64-32A4-809C-9E2D-D53704494167}"/>
              </a:ext>
            </a:extLst>
          </p:cNvPr>
          <p:cNvCxnSpPr>
            <a:cxnSpLocks/>
            <a:stCxn id="5" idx="3"/>
            <a:endCxn id="12" idx="1"/>
          </p:cNvCxnSpPr>
          <p:nvPr/>
        </p:nvCxnSpPr>
        <p:spPr>
          <a:xfrm>
            <a:off x="2627790" y="5667430"/>
            <a:ext cx="1872724" cy="2062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36D43FBE-D3E6-BBAD-94BC-C7DBF020F08D}"/>
              </a:ext>
            </a:extLst>
          </p:cNvPr>
          <p:cNvSpPr/>
          <p:nvPr/>
        </p:nvSpPr>
        <p:spPr bwMode="auto">
          <a:xfrm>
            <a:off x="11150573" y="3445646"/>
            <a:ext cx="307275" cy="306000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  <a:headEnd/>
            <a:tailEnd/>
          </a:ln>
          <a:effectLst>
            <a:softEdge rad="3175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00" dirty="0" err="1">
              <a:solidFill>
                <a:schemeClr val="bg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BA854B2-78A8-DB05-4089-60322CE5A7DA}"/>
              </a:ext>
            </a:extLst>
          </p:cNvPr>
          <p:cNvSpPr/>
          <p:nvPr/>
        </p:nvSpPr>
        <p:spPr bwMode="auto">
          <a:xfrm>
            <a:off x="11150573" y="3899591"/>
            <a:ext cx="307275" cy="306000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  <a:headEnd/>
            <a:tailEnd/>
          </a:ln>
          <a:effectLst>
            <a:softEdge rad="3175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00" dirty="0" err="1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D8ACE5-1CC1-6A74-55E3-98A0FFFE8B80}"/>
              </a:ext>
            </a:extLst>
          </p:cNvPr>
          <p:cNvSpPr txBox="1"/>
          <p:nvPr/>
        </p:nvSpPr>
        <p:spPr>
          <a:xfrm>
            <a:off x="6251587" y="4798424"/>
            <a:ext cx="5196033" cy="20313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GB" dirty="0" err="1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eventStore</a:t>
            </a:r>
            <a:r>
              <a:rPr lang="en-GB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GB" b="1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appendToStream</a:t>
            </a:r>
            <a:r>
              <a:rPr lang="en-GB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br>
              <a:rPr lang="en-GB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8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AggregateType</a:t>
            </a:r>
            <a:r>
              <a:rPr lang="en-GB" sz="18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800" dirty="0">
                <a:solidFill>
                  <a:srgbClr val="6A875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GB" sz="1800" dirty="0" err="1">
                <a:solidFill>
                  <a:srgbClr val="6A875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ShoppingBasket</a:t>
            </a:r>
            <a:r>
              <a:rPr lang="en-GB" sz="1800" dirty="0">
                <a:solidFill>
                  <a:srgbClr val="6A875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GB" sz="18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GB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br>
              <a:rPr lang="en-GB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dirty="0" err="1">
                <a:solidFill>
                  <a:srgbClr val="CC783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ShoppingBasketId</a:t>
            </a:r>
            <a:r>
              <a:rPr lang="en-GB" sz="18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800" dirty="0">
                <a:solidFill>
                  <a:srgbClr val="6A875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"14237"</a:t>
            </a:r>
            <a:r>
              <a:rPr lang="en-GB" sz="18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</a:p>
          <a:p>
            <a:r>
              <a:rPr lang="en-GB" sz="18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800" b="1" dirty="0" err="1">
                <a:solidFill>
                  <a:srgbClr val="00B0F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CheckOutRequested</a:t>
            </a:r>
            <a:r>
              <a:rPr lang="en-GB" sz="18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en-GB" dirty="0">
                <a:solidFill>
                  <a:srgbClr val="A9B7C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GB" dirty="0" err="1">
                <a:solidFill>
                  <a:srgbClr val="CC783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ShoppingBasketId</a:t>
            </a:r>
            <a:r>
              <a:rPr lang="en-GB" sz="18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800" dirty="0">
                <a:solidFill>
                  <a:srgbClr val="6A875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"14237"</a:t>
            </a:r>
            <a:r>
              <a:rPr lang="en-GB" sz="18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</a:p>
          <a:p>
            <a:r>
              <a:rPr lang="en-GB" dirty="0">
                <a:solidFill>
                  <a:srgbClr val="CC783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GB" dirty="0" err="1">
                <a:solidFill>
                  <a:srgbClr val="CC783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OrderId.</a:t>
            </a:r>
            <a:r>
              <a:rPr lang="en-GB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random</a:t>
            </a:r>
            <a:r>
              <a:rPr lang="en-GB" sz="18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GB" dirty="0">
                <a:solidFill>
                  <a:srgbClr val="A9B7C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8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GB" sz="1800" dirty="0">
                <a:solidFill>
                  <a:srgbClr val="A9B7C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GB" dirty="0">
              <a:solidFill>
                <a:srgbClr val="A9B7C6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18A2BEF-F906-6344-7C70-DFD13C88C608}"/>
              </a:ext>
            </a:extLst>
          </p:cNvPr>
          <p:cNvSpPr/>
          <p:nvPr/>
        </p:nvSpPr>
        <p:spPr bwMode="auto">
          <a:xfrm>
            <a:off x="11163220" y="4335422"/>
            <a:ext cx="307275" cy="306000"/>
          </a:xfrm>
          <a:prstGeom prst="ellipse">
            <a:avLst/>
          </a:prstGeom>
          <a:solidFill>
            <a:srgbClr val="00B0F0"/>
          </a:solidFill>
          <a:ln>
            <a:headEnd/>
            <a:tailEnd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00" dirty="0" err="1">
              <a:solidFill>
                <a:schemeClr val="bg1"/>
              </a:solidFill>
            </a:endParaRPr>
          </a:p>
        </p:txBody>
      </p:sp>
      <p:pic>
        <p:nvPicPr>
          <p:cNvPr id="18" name="Graphic 17" descr="Disk with solid fill">
            <a:extLst>
              <a:ext uri="{FF2B5EF4-FFF2-40B4-BE49-F238E27FC236}">
                <a16:creationId xmlns:a16="http://schemas.microsoft.com/office/drawing/2014/main" id="{21EC15DF-1BA6-A838-A687-5649813213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07195" y="4377333"/>
            <a:ext cx="227925" cy="227925"/>
          </a:xfrm>
          <a:prstGeom prst="rect">
            <a:avLst/>
          </a:prstGeom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</p:pic>
      <p:sp>
        <p:nvSpPr>
          <p:cNvPr id="19" name="Folded Corner 20">
            <a:extLst>
              <a:ext uri="{FF2B5EF4-FFF2-40B4-BE49-F238E27FC236}">
                <a16:creationId xmlns:a16="http://schemas.microsoft.com/office/drawing/2014/main" id="{C66327D3-F72F-7AE5-A0D8-3C45C79CF289}"/>
              </a:ext>
            </a:extLst>
          </p:cNvPr>
          <p:cNvSpPr/>
          <p:nvPr/>
        </p:nvSpPr>
        <p:spPr>
          <a:xfrm>
            <a:off x="101165" y="5381297"/>
            <a:ext cx="769610" cy="432789"/>
          </a:xfrm>
          <a:prstGeom prst="foldedCorner">
            <a:avLst/>
          </a:prstGeom>
          <a:solidFill>
            <a:srgbClr val="00B0F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K" sz="900" b="1" dirty="0">
                <a:solidFill>
                  <a:schemeClr val="tx1"/>
                </a:solidFill>
              </a:rPr>
              <a:t>Request</a:t>
            </a:r>
          </a:p>
          <a:p>
            <a:pPr algn="ctr"/>
            <a:r>
              <a:rPr lang="en-DK" sz="900" b="1" dirty="0">
                <a:solidFill>
                  <a:schemeClr val="tx1"/>
                </a:solidFill>
              </a:rPr>
              <a:t>CheckOut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7495E7-5FB4-22F6-81B5-2948FFF1D4FD}"/>
              </a:ext>
            </a:extLst>
          </p:cNvPr>
          <p:cNvSpPr txBox="1"/>
          <p:nvPr/>
        </p:nvSpPr>
        <p:spPr>
          <a:xfrm>
            <a:off x="2160059" y="5689030"/>
            <a:ext cx="4122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✅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1637217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9" grpId="0" animBg="1"/>
      <p:bldP spid="2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EB19BA-A52B-75E0-A529-F814F0FF83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Tests built 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AC7CE2-4E46-E104-E233-26EC65E687D4}"/>
              </a:ext>
            </a:extLst>
          </p:cNvPr>
          <p:cNvSpPr txBox="1"/>
          <p:nvPr/>
        </p:nvSpPr>
        <p:spPr>
          <a:xfrm>
            <a:off x="4189687" y="58846"/>
            <a:ext cx="7485992" cy="674030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GB" sz="1600">
                <a:solidFill>
                  <a:srgbClr val="BBB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@Test</a:t>
            </a:r>
            <a:br>
              <a:rPr lang="en-GB" sz="1600">
                <a:solidFill>
                  <a:srgbClr val="BBB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fun </a:t>
            </a:r>
            <a:r>
              <a:rPr lang="en-GB" sz="1600">
                <a:solidFill>
                  <a:srgbClr val="FFC66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`Changing the price`</a:t>
            </a: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  <a:b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600" err="1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GB" sz="16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60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productId</a:t>
            </a: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160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ProductId.random</a:t>
            </a: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b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600" err="1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GB" sz="16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60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productName</a:t>
            </a: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1600">
                <a:solidFill>
                  <a:srgbClr val="6A875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"Test product"</a:t>
            </a:r>
            <a:br>
              <a:rPr lang="en-GB" sz="1600">
                <a:solidFill>
                  <a:srgbClr val="6A875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>
                <a:solidFill>
                  <a:srgbClr val="6A875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600" err="1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GB" sz="16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60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originalPrice</a:t>
            </a: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160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Amount.of</a:t>
            </a: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600">
                <a:solidFill>
                  <a:srgbClr val="6A875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"125.95"</a:t>
            </a: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600" err="1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GB" sz="16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60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newPrice</a:t>
            </a: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160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Amount.of</a:t>
            </a: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600">
                <a:solidFill>
                  <a:srgbClr val="6A875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"100.00"</a:t>
            </a: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600" b="1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GivenWhenThenScenario</a:t>
            </a: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600" b="1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ChangeProductPriceDecider</a:t>
            </a: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  <a:br>
              <a:rPr lang="en-GB" sz="1600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.given(</a:t>
            </a:r>
            <a:b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GB" sz="1600" b="1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ProductAdded</a:t>
            </a: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b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GB" sz="160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productId</a:t>
            </a:r>
            <a:r>
              <a:rPr lang="en-GB" sz="16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br>
              <a:rPr lang="en-GB" sz="16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GB" sz="160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productName</a:t>
            </a:r>
            <a:r>
              <a:rPr lang="en-GB" sz="16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br>
              <a:rPr lang="en-GB" sz="16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GB" sz="160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originalPrice</a:t>
            </a:r>
            <a:b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)</a:t>
            </a:r>
            <a:b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)</a:t>
            </a:r>
            <a:b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.when_(</a:t>
            </a:r>
            <a:b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GB" sz="1600" b="1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ChangeProductPrice</a:t>
            </a: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b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GB" sz="160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productId</a:t>
            </a:r>
            <a:r>
              <a:rPr lang="en-GB" sz="16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br>
              <a:rPr lang="en-GB" sz="16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GB" sz="160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newPrice</a:t>
            </a:r>
            <a:b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)</a:t>
            </a:r>
            <a:b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)</a:t>
            </a:r>
            <a:b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.then_(</a:t>
            </a:r>
            <a:b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GB" sz="1600" b="1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ProductPriceChanged</a:t>
            </a: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b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GB" sz="160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productId</a:t>
            </a:r>
            <a:r>
              <a:rPr lang="en-GB" sz="16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br>
              <a:rPr lang="en-GB" sz="16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GB" sz="160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newPrice</a:t>
            </a:r>
            <a:b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)</a:t>
            </a:r>
            <a:b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)</a:t>
            </a:r>
          </a:p>
          <a:p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AAA6ED-5ED9-5E65-7537-08798714AF24}"/>
              </a:ext>
            </a:extLst>
          </p:cNvPr>
          <p:cNvSpPr txBox="1"/>
          <p:nvPr/>
        </p:nvSpPr>
        <p:spPr>
          <a:xfrm>
            <a:off x="516321" y="2167428"/>
            <a:ext cx="325662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K" sz="2800" dirty="0">
                <a:solidFill>
                  <a:schemeClr val="accent5"/>
                </a:solidFill>
              </a:rPr>
              <a:t>Purely unit tests </a:t>
            </a:r>
          </a:p>
          <a:p>
            <a:pPr algn="ctr"/>
            <a:r>
              <a:rPr lang="en-DK" sz="2800" b="1" dirty="0">
                <a:solidFill>
                  <a:schemeClr val="accent4"/>
                </a:solidFill>
              </a:rPr>
              <a:t>No</a:t>
            </a:r>
            <a:r>
              <a:rPr lang="en-DK" sz="2800" dirty="0">
                <a:solidFill>
                  <a:schemeClr val="accent5"/>
                </a:solidFill>
              </a:rPr>
              <a:t> EventStore needed!</a:t>
            </a:r>
          </a:p>
        </p:txBody>
      </p:sp>
    </p:spTree>
    <p:extLst>
      <p:ext uri="{BB962C8B-B14F-4D97-AF65-F5344CB8AC3E}">
        <p14:creationId xmlns:p14="http://schemas.microsoft.com/office/powerpoint/2010/main" val="8724677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8A661-D661-405B-0C85-7A63B3E1F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0579A1-A337-04E5-D010-F73BA09C3F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Tests built 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7DB3F0-8ED8-C578-7D65-17D958C2BCE4}"/>
              </a:ext>
            </a:extLst>
          </p:cNvPr>
          <p:cNvSpPr txBox="1"/>
          <p:nvPr/>
        </p:nvSpPr>
        <p:spPr>
          <a:xfrm>
            <a:off x="3087414" y="1177158"/>
            <a:ext cx="8854966" cy="550920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GB" sz="1600">
                <a:solidFill>
                  <a:srgbClr val="BBB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@Test</a:t>
            </a:r>
            <a:br>
              <a:rPr lang="en-GB" sz="1600">
                <a:solidFill>
                  <a:srgbClr val="BBB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fun </a:t>
            </a:r>
            <a:r>
              <a:rPr lang="en-GB" sz="1600">
                <a:solidFill>
                  <a:srgbClr val="FFC66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`Changing the price to the existing price results in no change`</a:t>
            </a: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  <a:b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600" err="1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GB" sz="16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60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productId</a:t>
            </a: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160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ProductId.random</a:t>
            </a: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b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600" err="1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GB" sz="16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60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productName</a:t>
            </a: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1600">
                <a:solidFill>
                  <a:srgbClr val="6A875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"Test product"</a:t>
            </a:r>
            <a:br>
              <a:rPr lang="en-GB" sz="1600">
                <a:solidFill>
                  <a:srgbClr val="6A875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>
                <a:solidFill>
                  <a:srgbClr val="6A875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600" err="1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GB" sz="16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price = </a:t>
            </a:r>
            <a:r>
              <a:rPr lang="en-GB" sz="160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Amount.of</a:t>
            </a: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600">
                <a:solidFill>
                  <a:srgbClr val="6A875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"125.95"</a:t>
            </a: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600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scenario</a:t>
            </a:r>
            <a:br>
              <a:rPr lang="en-GB" sz="1600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.given(</a:t>
            </a:r>
            <a:b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GB" sz="1600" b="1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ProductAdded</a:t>
            </a: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b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GB" sz="160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productId</a:t>
            </a:r>
            <a:r>
              <a:rPr lang="en-GB" sz="16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br>
              <a:rPr lang="en-GB" sz="16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GB" sz="160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productName</a:t>
            </a:r>
            <a:r>
              <a:rPr lang="en-GB" sz="16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br>
              <a:rPr lang="en-GB" sz="16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price</a:t>
            </a:r>
            <a:b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)</a:t>
            </a:r>
            <a:b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)</a:t>
            </a:r>
            <a:b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.when_(</a:t>
            </a:r>
            <a:b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GB" sz="1600" b="1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ChangeProductPrice</a:t>
            </a: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b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GB" sz="160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productId</a:t>
            </a:r>
            <a:r>
              <a:rPr lang="en-GB" sz="16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br>
              <a:rPr lang="en-GB" sz="16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price</a:t>
            </a:r>
            <a:b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)</a:t>
            </a:r>
            <a:b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)</a:t>
            </a:r>
            <a:b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.</a:t>
            </a:r>
            <a:r>
              <a:rPr lang="en-GB" sz="1600" b="1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thenExpectNoEvent</a:t>
            </a: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b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516208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4AEF0-55B2-12F6-64E7-AF004D228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795BD0-BFD8-C523-1014-6C3249CBF0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Tests built 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18690A-A151-BA0E-93FB-DEE17928C68A}"/>
              </a:ext>
            </a:extLst>
          </p:cNvPr>
          <p:cNvSpPr txBox="1"/>
          <p:nvPr/>
        </p:nvSpPr>
        <p:spPr>
          <a:xfrm>
            <a:off x="1587062" y="2092597"/>
            <a:ext cx="9806152" cy="378565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GB" sz="1600">
                <a:solidFill>
                  <a:srgbClr val="BBB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@Test</a:t>
            </a:r>
            <a:br>
              <a:rPr lang="en-GB" sz="1600">
                <a:solidFill>
                  <a:srgbClr val="BBB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fun </a:t>
            </a:r>
            <a:r>
              <a:rPr lang="en-GB" sz="1600">
                <a:solidFill>
                  <a:srgbClr val="FFC66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`Changing the price on an empty event stream fails`</a:t>
            </a: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  <a:b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600" err="1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GB" sz="16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60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productId</a:t>
            </a: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160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ProductId.random</a:t>
            </a: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b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600" err="1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GB" sz="16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price = </a:t>
            </a:r>
            <a:r>
              <a:rPr lang="en-GB" sz="160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Amount.of</a:t>
            </a: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600">
                <a:solidFill>
                  <a:srgbClr val="6A875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"125.95"</a:t>
            </a: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600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scenario</a:t>
            </a:r>
            <a:br>
              <a:rPr lang="en-GB" sz="1600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.given(</a:t>
            </a:r>
            <a:b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)</a:t>
            </a:r>
            <a:b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.when_(</a:t>
            </a:r>
            <a:b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GB" sz="1600" b="1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ChangeProductPrice</a:t>
            </a: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b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GB" sz="160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productId</a:t>
            </a:r>
            <a:r>
              <a:rPr lang="en-GB" sz="16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br>
              <a:rPr lang="en-GB" sz="16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price</a:t>
            </a:r>
            <a:b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)</a:t>
            </a:r>
            <a:b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)</a:t>
            </a:r>
            <a:b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.</a:t>
            </a:r>
            <a:r>
              <a:rPr lang="en-GB" sz="1600" b="1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thenFailsWithException</a:t>
            </a: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60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ProductHasNotBeenAddedException</a:t>
            </a: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60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productId</a:t>
            </a: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  <a:b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508371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500DD-88DD-7F98-AC9F-F917E9A7B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B405C7C-1273-F79A-F4EB-4F2A440227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a-DK"/>
              <a:t>Sales</a:t>
            </a:r>
            <a:r>
              <a:rPr lang="en-DK"/>
              <a:t> system – Find PRODUCT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DA5D2A-59C5-282D-34D4-90AD5C4B68AD}"/>
              </a:ext>
            </a:extLst>
          </p:cNvPr>
          <p:cNvSpPr/>
          <p:nvPr/>
        </p:nvSpPr>
        <p:spPr>
          <a:xfrm>
            <a:off x="228600" y="1576039"/>
            <a:ext cx="11420708" cy="5084956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8BBFC35-E97C-BB77-54B1-EBFA821A3A4F}"/>
              </a:ext>
            </a:extLst>
          </p:cNvPr>
          <p:cNvCxnSpPr>
            <a:cxnSpLocks/>
          </p:cNvCxnSpPr>
          <p:nvPr/>
        </p:nvCxnSpPr>
        <p:spPr>
          <a:xfrm>
            <a:off x="670784" y="4924520"/>
            <a:ext cx="9798205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04173F-1C65-B396-5D60-0BBBE69B2846}"/>
              </a:ext>
            </a:extLst>
          </p:cNvPr>
          <p:cNvCxnSpPr>
            <a:cxnSpLocks/>
          </p:cNvCxnSpPr>
          <p:nvPr/>
        </p:nvCxnSpPr>
        <p:spPr>
          <a:xfrm>
            <a:off x="670784" y="5723692"/>
            <a:ext cx="9798205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AACEE1B-6387-CD81-17E7-934FF774852D}"/>
              </a:ext>
            </a:extLst>
          </p:cNvPr>
          <p:cNvCxnSpPr>
            <a:cxnSpLocks/>
          </p:cNvCxnSpPr>
          <p:nvPr/>
        </p:nvCxnSpPr>
        <p:spPr>
          <a:xfrm>
            <a:off x="670784" y="4158803"/>
            <a:ext cx="9798205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0CF9711-3A99-F23E-CAA2-EB52D3FDB886}"/>
              </a:ext>
            </a:extLst>
          </p:cNvPr>
          <p:cNvCxnSpPr>
            <a:cxnSpLocks/>
          </p:cNvCxnSpPr>
          <p:nvPr/>
        </p:nvCxnSpPr>
        <p:spPr>
          <a:xfrm>
            <a:off x="670784" y="3140326"/>
            <a:ext cx="9798205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DACDA35-AB5E-CDD5-CD8B-CC085D7249F5}"/>
              </a:ext>
            </a:extLst>
          </p:cNvPr>
          <p:cNvSpPr txBox="1"/>
          <p:nvPr/>
        </p:nvSpPr>
        <p:spPr>
          <a:xfrm>
            <a:off x="360983" y="4408424"/>
            <a:ext cx="13901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sz="1200"/>
              <a:t>Sales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90F8F6-3B0B-978D-5021-4300105E91ED}"/>
              </a:ext>
            </a:extLst>
          </p:cNvPr>
          <p:cNvSpPr txBox="1"/>
          <p:nvPr/>
        </p:nvSpPr>
        <p:spPr>
          <a:xfrm>
            <a:off x="351299" y="5190671"/>
            <a:ext cx="13901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sz="1200"/>
              <a:t>Shipping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0B19C4-90EE-84B3-5287-16B2695450A8}"/>
              </a:ext>
            </a:extLst>
          </p:cNvPr>
          <p:cNvSpPr txBox="1"/>
          <p:nvPr/>
        </p:nvSpPr>
        <p:spPr>
          <a:xfrm>
            <a:off x="351300" y="2282705"/>
            <a:ext cx="13901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sz="1200"/>
              <a:t>Web App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35FAE96-50D7-3D01-B213-D53D40625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5838" y="1686734"/>
            <a:ext cx="1760323" cy="1334043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28AA77B6-02C8-4A92-27A4-8C60ACF37B14}"/>
              </a:ext>
            </a:extLst>
          </p:cNvPr>
          <p:cNvSpPr txBox="1"/>
          <p:nvPr/>
        </p:nvSpPr>
        <p:spPr>
          <a:xfrm>
            <a:off x="351298" y="6043782"/>
            <a:ext cx="13901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sz="1200"/>
              <a:t>Payment</a:t>
            </a:r>
          </a:p>
        </p:txBody>
      </p:sp>
      <p:sp>
        <p:nvSpPr>
          <p:cNvPr id="54" name="Folded Corner 53">
            <a:extLst>
              <a:ext uri="{FF2B5EF4-FFF2-40B4-BE49-F238E27FC236}">
                <a16:creationId xmlns:a16="http://schemas.microsoft.com/office/drawing/2014/main" id="{5E12B0A8-3FC0-1077-5F47-1310E873A81B}"/>
              </a:ext>
            </a:extLst>
          </p:cNvPr>
          <p:cNvSpPr/>
          <p:nvPr/>
        </p:nvSpPr>
        <p:spPr>
          <a:xfrm>
            <a:off x="1046390" y="4276012"/>
            <a:ext cx="1129601" cy="524826"/>
          </a:xfrm>
          <a:prstGeom prst="foldedCorner">
            <a:avLst/>
          </a:prstGeom>
          <a:solidFill>
            <a:srgbClr val="FFC0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K" sz="1000">
                <a:solidFill>
                  <a:schemeClr val="tx1"/>
                </a:solidFill>
              </a:rPr>
              <a:t>Product Added</a:t>
            </a:r>
          </a:p>
        </p:txBody>
      </p:sp>
      <p:sp>
        <p:nvSpPr>
          <p:cNvPr id="55" name="Folded Corner 54">
            <a:extLst>
              <a:ext uri="{FF2B5EF4-FFF2-40B4-BE49-F238E27FC236}">
                <a16:creationId xmlns:a16="http://schemas.microsoft.com/office/drawing/2014/main" id="{A01C6725-5C98-21E1-6C76-2B623A948693}"/>
              </a:ext>
            </a:extLst>
          </p:cNvPr>
          <p:cNvSpPr/>
          <p:nvPr/>
        </p:nvSpPr>
        <p:spPr>
          <a:xfrm>
            <a:off x="2296597" y="4259569"/>
            <a:ext cx="1129601" cy="524826"/>
          </a:xfrm>
          <a:prstGeom prst="foldedCorner">
            <a:avLst/>
          </a:prstGeom>
          <a:solidFill>
            <a:srgbClr val="FFC0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K" sz="1000">
                <a:solidFill>
                  <a:schemeClr val="tx1"/>
                </a:solidFill>
              </a:rPr>
              <a:t>Product Price Changed</a:t>
            </a:r>
          </a:p>
        </p:txBody>
      </p:sp>
      <p:sp>
        <p:nvSpPr>
          <p:cNvPr id="56" name="Folded Corner 55">
            <a:extLst>
              <a:ext uri="{FF2B5EF4-FFF2-40B4-BE49-F238E27FC236}">
                <a16:creationId xmlns:a16="http://schemas.microsoft.com/office/drawing/2014/main" id="{21E59790-13D7-B993-3A80-E4625E42A398}"/>
              </a:ext>
            </a:extLst>
          </p:cNvPr>
          <p:cNvSpPr/>
          <p:nvPr/>
        </p:nvSpPr>
        <p:spPr>
          <a:xfrm>
            <a:off x="4283531" y="3396348"/>
            <a:ext cx="1531704" cy="590861"/>
          </a:xfrm>
          <a:prstGeom prst="foldedCorner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K" sz="1600" dirty="0">
                <a:solidFill>
                  <a:schemeClr val="tx1"/>
                </a:solidFill>
              </a:rPr>
              <a:t>Products For</a:t>
            </a:r>
          </a:p>
          <a:p>
            <a:pPr algn="ctr"/>
            <a:r>
              <a:rPr lang="en-DK" sz="1600" dirty="0">
                <a:solidFill>
                  <a:schemeClr val="tx1"/>
                </a:solidFill>
              </a:rPr>
              <a:t>Sale View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5F317119-2E28-6DE4-E2FC-841301EA7130}"/>
              </a:ext>
            </a:extLst>
          </p:cNvPr>
          <p:cNvCxnSpPr>
            <a:stCxn id="54" idx="0"/>
          </p:cNvCxnSpPr>
          <p:nvPr/>
        </p:nvCxnSpPr>
        <p:spPr>
          <a:xfrm flipV="1">
            <a:off x="1611191" y="3987209"/>
            <a:ext cx="3442440" cy="2888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027AFEF-209C-C30A-9E29-CC31EF8C1CED}"/>
              </a:ext>
            </a:extLst>
          </p:cNvPr>
          <p:cNvCxnSpPr>
            <a:cxnSpLocks/>
            <a:stCxn id="55" idx="3"/>
            <a:endCxn id="56" idx="2"/>
          </p:cNvCxnSpPr>
          <p:nvPr/>
        </p:nvCxnSpPr>
        <p:spPr>
          <a:xfrm flipV="1">
            <a:off x="3426198" y="3987209"/>
            <a:ext cx="1623185" cy="5347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5CFBF639-4725-A568-D611-6991A6FD382B}"/>
              </a:ext>
            </a:extLst>
          </p:cNvPr>
          <p:cNvCxnSpPr>
            <a:cxnSpLocks/>
            <a:stCxn id="56" idx="0"/>
          </p:cNvCxnSpPr>
          <p:nvPr/>
        </p:nvCxnSpPr>
        <p:spPr>
          <a:xfrm flipV="1">
            <a:off x="5049383" y="2682240"/>
            <a:ext cx="668665" cy="7141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8199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E016F7F-DFDB-4D22-9EC9-5B99BF431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/>
              <a:t>View projections</a:t>
            </a:r>
          </a:p>
        </p:txBody>
      </p:sp>
    </p:spTree>
    <p:extLst>
      <p:ext uri="{BB962C8B-B14F-4D97-AF65-F5344CB8AC3E}">
        <p14:creationId xmlns:p14="http://schemas.microsoft.com/office/powerpoint/2010/main" val="24393933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C18E20-60FD-3825-9E08-3FF632DB1D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Why View projections?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7849FF-558F-131C-2F59-4870E5F1872D}"/>
              </a:ext>
            </a:extLst>
          </p:cNvPr>
          <p:cNvSpPr txBox="1"/>
          <p:nvPr/>
        </p:nvSpPr>
        <p:spPr>
          <a:xfrm>
            <a:off x="868631" y="1555177"/>
            <a:ext cx="106314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dirty="0"/>
              <a:t>The EventStore is optimized for event streaming and event persisting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DK" dirty="0"/>
              <a:t>Not for ad-hoc queries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dirty="0"/>
              <a:t>Traditional 3. Normal Form for non-trivial domains force you perform complex SQL queries using a mixture of INNER JOIN, OUTER JOIN, UNION, etc.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54DA1F4F-BCE3-CC56-9A57-6C811B169DCE}"/>
              </a:ext>
            </a:extLst>
          </p:cNvPr>
          <p:cNvSpPr txBox="1"/>
          <p:nvPr/>
        </p:nvSpPr>
        <p:spPr>
          <a:xfrm>
            <a:off x="1759063" y="2952766"/>
            <a:ext cx="8811986" cy="1384995"/>
          </a:xfrm>
          <a:prstGeom prst="rect">
            <a:avLst/>
          </a:prstGeom>
          <a:noFill/>
          <a:ln w="25400">
            <a:solidFill>
              <a:schemeClr val="accent4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öhne"/>
              </a:rPr>
              <a:t>“A single model isn't appropriate for transactional, query, and reporting concerns”</a:t>
            </a:r>
          </a:p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öhne"/>
              </a:rPr>
              <a:t>Greg Young</a:t>
            </a:r>
            <a:endParaRPr kumimoji="0" lang="en-DK" sz="28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F03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271233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bldLvl="2"/>
      <p:bldP spid="9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92B224B-5E04-5840-9DF0-652966355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/>
          <a:p>
            <a:r>
              <a:rPr lang="en-DK" sz="7200" dirty="0"/>
              <a:t>CQRS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4073176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44BE7-4780-B5EF-DDDE-8A828CBDC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D90C9BE2-6D3B-9028-BFF5-74CD25449C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a-DK" dirty="0"/>
              <a:t>Open for new </a:t>
            </a:r>
            <a:r>
              <a:rPr lang="da-DK" dirty="0" err="1"/>
              <a:t>ideas</a:t>
            </a:r>
            <a:r>
              <a:rPr lang="da-DK" dirty="0"/>
              <a:t>?</a:t>
            </a:r>
          </a:p>
        </p:txBody>
      </p:sp>
      <p:pic>
        <p:nvPicPr>
          <p:cNvPr id="4" name="Content Placeholder 3" descr="17.jpg">
            <a:extLst>
              <a:ext uri="{FF2B5EF4-FFF2-40B4-BE49-F238E27FC236}">
                <a16:creationId xmlns:a16="http://schemas.microsoft.com/office/drawing/2014/main" id="{3663D6A5-B133-753E-20EC-AB4A533D74E9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77" t="-981" r="18107" b="11317"/>
          <a:stretch/>
        </p:blipFill>
        <p:spPr>
          <a:xfrm>
            <a:off x="2290409" y="1931643"/>
            <a:ext cx="7989887" cy="3354387"/>
          </a:xfrm>
        </p:spPr>
      </p:pic>
      <p:sp>
        <p:nvSpPr>
          <p:cNvPr id="3" name="Rounded Rectangular Callout 2">
            <a:extLst>
              <a:ext uri="{FF2B5EF4-FFF2-40B4-BE49-F238E27FC236}">
                <a16:creationId xmlns:a16="http://schemas.microsoft.com/office/drawing/2014/main" id="{882F107D-2418-AE81-4090-2606940EB051}"/>
              </a:ext>
            </a:extLst>
          </p:cNvPr>
          <p:cNvSpPr/>
          <p:nvPr/>
        </p:nvSpPr>
        <p:spPr>
          <a:xfrm>
            <a:off x="2362350" y="1676633"/>
            <a:ext cx="3847619" cy="1062419"/>
          </a:xfrm>
          <a:prstGeom prst="wedgeRoundRectCallout">
            <a:avLst>
              <a:gd name="adj1" fmla="val -5376"/>
              <a:gd name="adj2" fmla="val 71875"/>
              <a:gd name="adj3" fmla="val 16667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>
                <a:solidFill>
                  <a:schemeClr val="tx1"/>
                </a:solidFill>
              </a:rPr>
              <a:t>Poul, </a:t>
            </a:r>
            <a:r>
              <a:rPr lang="da-DK" dirty="0" err="1">
                <a:solidFill>
                  <a:schemeClr val="tx1"/>
                </a:solidFill>
              </a:rPr>
              <a:t>what's</a:t>
            </a:r>
            <a:r>
              <a:rPr lang="da-DK" dirty="0">
                <a:solidFill>
                  <a:schemeClr val="tx1"/>
                </a:solidFill>
              </a:rPr>
              <a:t> </a:t>
            </a:r>
            <a:r>
              <a:rPr lang="da-DK" dirty="0" err="1">
                <a:solidFill>
                  <a:schemeClr val="tx1"/>
                </a:solidFill>
              </a:rPr>
              <a:t>that</a:t>
            </a:r>
            <a:r>
              <a:rPr lang="da-DK" dirty="0">
                <a:solidFill>
                  <a:schemeClr val="tx1"/>
                </a:solidFill>
              </a:rPr>
              <a:t>!?</a:t>
            </a:r>
          </a:p>
          <a:p>
            <a:pPr algn="ctr"/>
            <a:r>
              <a:rPr lang="da-DK" dirty="0">
                <a:solidFill>
                  <a:schemeClr val="tx1"/>
                </a:solidFill>
              </a:rPr>
              <a:t>I </a:t>
            </a:r>
            <a:r>
              <a:rPr lang="da-DK" dirty="0" err="1">
                <a:solidFill>
                  <a:schemeClr val="tx1"/>
                </a:solidFill>
              </a:rPr>
              <a:t>said</a:t>
            </a:r>
            <a:r>
              <a:rPr lang="da-DK" dirty="0">
                <a:solidFill>
                  <a:schemeClr val="tx1"/>
                </a:solidFill>
              </a:rPr>
              <a:t> </a:t>
            </a:r>
            <a:r>
              <a:rPr lang="da-DK" dirty="0" err="1">
                <a:solidFill>
                  <a:schemeClr val="tx1"/>
                </a:solidFill>
              </a:rPr>
              <a:t>only</a:t>
            </a:r>
            <a:r>
              <a:rPr lang="da-DK" dirty="0">
                <a:solidFill>
                  <a:schemeClr val="tx1"/>
                </a:solidFill>
              </a:rPr>
              <a:t> bring </a:t>
            </a:r>
            <a:r>
              <a:rPr lang="da-DK" dirty="0" err="1">
                <a:solidFill>
                  <a:schemeClr val="tx1"/>
                </a:solidFill>
              </a:rPr>
              <a:t>things</a:t>
            </a:r>
            <a:r>
              <a:rPr lang="da-DK" dirty="0">
                <a:solidFill>
                  <a:schemeClr val="tx1"/>
                </a:solidFill>
              </a:rPr>
              <a:t> </a:t>
            </a:r>
            <a:r>
              <a:rPr lang="da-DK" dirty="0" err="1">
                <a:solidFill>
                  <a:schemeClr val="tx1"/>
                </a:solidFill>
              </a:rPr>
              <a:t>we</a:t>
            </a:r>
            <a:r>
              <a:rPr lang="da-DK" dirty="0">
                <a:solidFill>
                  <a:schemeClr val="tx1"/>
                </a:solidFill>
              </a:rPr>
              <a:t> </a:t>
            </a:r>
            <a:r>
              <a:rPr lang="da-DK" dirty="0" err="1">
                <a:solidFill>
                  <a:schemeClr val="tx1"/>
                </a:solidFill>
              </a:rPr>
              <a:t>can</a:t>
            </a:r>
            <a:r>
              <a:rPr lang="da-DK" dirty="0">
                <a:solidFill>
                  <a:schemeClr val="tx1"/>
                </a:solidFill>
              </a:rPr>
              <a:t> </a:t>
            </a:r>
            <a:r>
              <a:rPr lang="da-DK" dirty="0" err="1">
                <a:solidFill>
                  <a:schemeClr val="tx1"/>
                </a:solidFill>
              </a:rPr>
              <a:t>eat</a:t>
            </a:r>
            <a:r>
              <a:rPr lang="da-DK" dirty="0">
                <a:solidFill>
                  <a:schemeClr val="tx1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6357192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2CE9D-99BE-C5CE-5FE5-54BD8DAA4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EBB719-389E-3FEC-BCF2-F6617959E9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80729" y="2019231"/>
            <a:ext cx="9786937" cy="700425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da-DK" sz="9600" b="1" dirty="0" err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Usecases</a:t>
            </a:r>
            <a:r>
              <a:rPr lang="da-DK" sz="9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a-DK" sz="9600" b="1" dirty="0" err="1">
                <a:latin typeface="Arial" panose="020B0604020202020204" pitchFamily="34" charset="0"/>
                <a:cs typeface="Arial" panose="020B0604020202020204" pitchFamily="34" charset="0"/>
              </a:rPr>
              <a:t>can</a:t>
            </a:r>
            <a:r>
              <a:rPr lang="da-DK" sz="9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a-DK" sz="9600" b="1" dirty="0" err="1"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lang="da-DK" sz="9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a-DK" sz="9600" b="1" dirty="0" err="1">
                <a:latin typeface="Arial" panose="020B0604020202020204" pitchFamily="34" charset="0"/>
                <a:cs typeface="Arial" panose="020B0604020202020204" pitchFamily="34" charset="0"/>
              </a:rPr>
              <a:t>categorized</a:t>
            </a:r>
            <a:r>
              <a:rPr lang="da-DK" sz="9600" b="1" dirty="0">
                <a:latin typeface="Arial" panose="020B0604020202020204" pitchFamily="34" charset="0"/>
                <a:cs typeface="Arial" panose="020B0604020202020204" pitchFamily="34" charset="0"/>
              </a:rPr>
              <a:t> as </a:t>
            </a:r>
            <a:r>
              <a:rPr lang="da-DK" sz="9600" b="1" dirty="0" err="1">
                <a:latin typeface="Arial" panose="020B0604020202020204" pitchFamily="34" charset="0"/>
                <a:cs typeface="Arial" panose="020B0604020202020204" pitchFamily="34" charset="0"/>
              </a:rPr>
              <a:t>either</a:t>
            </a:r>
            <a:endParaRPr lang="da-DK" sz="9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0" indent="-1143000">
              <a:buFont typeface="Arial" panose="020B0604020202020204" pitchFamily="34" charset="0"/>
              <a:buChar char="•"/>
            </a:pPr>
            <a:r>
              <a:rPr lang="da-DK" sz="9600" dirty="0">
                <a:latin typeface="Arial" panose="020B0604020202020204" pitchFamily="34" charset="0"/>
                <a:cs typeface="Arial" panose="020B0604020202020204" pitchFamily="34" charset="0"/>
              </a:rPr>
              <a:t>”User” intent to </a:t>
            </a:r>
            <a:r>
              <a:rPr lang="da-DK" sz="9600" b="1" dirty="0" err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manipulate</a:t>
            </a:r>
            <a:r>
              <a:rPr lang="da-DK" sz="9600" dirty="0">
                <a:solidFill>
                  <a:srgbClr val="F796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a-DK" sz="9600" dirty="0">
                <a:latin typeface="Arial" panose="020B0604020202020204" pitchFamily="34" charset="0"/>
                <a:cs typeface="Arial" panose="020B0604020202020204" pitchFamily="34" charset="0"/>
              </a:rPr>
              <a:t>information</a:t>
            </a:r>
          </a:p>
          <a:p>
            <a:pPr marL="1143000" indent="-1143000">
              <a:buFont typeface="Arial" panose="020B0604020202020204" pitchFamily="34" charset="0"/>
              <a:buChar char="•"/>
            </a:pPr>
            <a:r>
              <a:rPr lang="da-DK" sz="9600" dirty="0">
                <a:latin typeface="Arial" panose="020B0604020202020204" pitchFamily="34" charset="0"/>
                <a:cs typeface="Arial" panose="020B0604020202020204" pitchFamily="34" charset="0"/>
              </a:rPr>
              <a:t>”User” intent to </a:t>
            </a:r>
            <a:r>
              <a:rPr lang="da-DK" sz="9600" b="1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</a:t>
            </a:r>
            <a:r>
              <a:rPr lang="da-DK" sz="9600" dirty="0">
                <a:solidFill>
                  <a:srgbClr val="F796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a-DK" sz="960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da-DK" sz="9600" b="1" dirty="0" err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</a:t>
            </a:r>
            <a:r>
              <a:rPr lang="da-DK" sz="9600" dirty="0">
                <a:solidFill>
                  <a:srgbClr val="F796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a-DK" sz="9600" dirty="0">
                <a:latin typeface="Arial" panose="020B0604020202020204" pitchFamily="34" charset="0"/>
                <a:cs typeface="Arial" panose="020B0604020202020204" pitchFamily="34" charset="0"/>
              </a:rPr>
              <a:t>information</a:t>
            </a:r>
          </a:p>
          <a:p>
            <a:endParaRPr lang="da-DK" sz="9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da-DK" sz="9600" dirty="0" err="1">
                <a:latin typeface="Arial" panose="020B0604020202020204" pitchFamily="34" charset="0"/>
                <a:cs typeface="Arial" panose="020B0604020202020204" pitchFamily="34" charset="0"/>
              </a:rPr>
              <a:t>We</a:t>
            </a:r>
            <a:r>
              <a:rPr lang="da-DK" sz="9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a-DK" sz="9600" dirty="0" err="1">
                <a:latin typeface="Arial" panose="020B0604020202020204" pitchFamily="34" charset="0"/>
                <a:cs typeface="Arial" panose="020B0604020202020204" pitchFamily="34" charset="0"/>
              </a:rPr>
              <a:t>already</a:t>
            </a:r>
            <a:r>
              <a:rPr lang="da-DK" sz="9600" dirty="0">
                <a:latin typeface="Arial" panose="020B0604020202020204" pitchFamily="34" charset="0"/>
                <a:cs typeface="Arial" panose="020B0604020202020204" pitchFamily="34" charset="0"/>
              </a:rPr>
              <a:t> support </a:t>
            </a:r>
            <a:r>
              <a:rPr lang="da-DK" sz="9600" dirty="0" err="1"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da-DK" sz="9600" dirty="0">
                <a:latin typeface="Arial" panose="020B0604020202020204" pitchFamily="34" charset="0"/>
                <a:cs typeface="Arial" panose="020B0604020202020204" pitchFamily="34" charset="0"/>
              </a:rPr>
              <a:t> in OO at a Property </a:t>
            </a:r>
            <a:r>
              <a:rPr lang="da-DK" sz="9600" dirty="0" err="1">
                <a:latin typeface="Arial" panose="020B0604020202020204" pitchFamily="34" charset="0"/>
                <a:cs typeface="Arial" panose="020B0604020202020204" pitchFamily="34" charset="0"/>
              </a:rPr>
              <a:t>level</a:t>
            </a:r>
            <a:r>
              <a:rPr lang="da-DK" sz="96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1143000" indent="-1143000">
              <a:buFont typeface="Arial" panose="020B0604020202020204" pitchFamily="34" charset="0"/>
              <a:buChar char="•"/>
            </a:pPr>
            <a:r>
              <a:rPr lang="da-DK" sz="960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Setter</a:t>
            </a:r>
            <a:r>
              <a:rPr lang="da-DK" sz="9600" dirty="0">
                <a:latin typeface="Arial" panose="020B0604020202020204" pitchFamily="34" charset="0"/>
                <a:cs typeface="Arial" panose="020B0604020202020204" pitchFamily="34" charset="0"/>
              </a:rPr>
              <a:t> (or </a:t>
            </a:r>
            <a:r>
              <a:rPr lang="da-DK" sz="9600" dirty="0" err="1">
                <a:latin typeface="Arial" panose="020B0604020202020204" pitchFamily="34" charset="0"/>
                <a:cs typeface="Arial" panose="020B0604020202020204" pitchFamily="34" charset="0"/>
              </a:rPr>
              <a:t>mutator</a:t>
            </a:r>
            <a:r>
              <a:rPr lang="da-DK" sz="96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da-DK" sz="9600" dirty="0" err="1">
                <a:latin typeface="Arial" panose="020B0604020202020204" pitchFamily="34" charset="0"/>
                <a:cs typeface="Arial" panose="020B0604020202020204" pitchFamily="34" charset="0"/>
              </a:rPr>
              <a:t>methods</a:t>
            </a:r>
            <a:r>
              <a:rPr lang="da-DK" sz="9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a-DK" sz="9600" dirty="0" err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Manipulate</a:t>
            </a:r>
            <a:r>
              <a:rPr lang="da-DK" sz="9600" dirty="0">
                <a:solidFill>
                  <a:srgbClr val="F796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a-DK" sz="9600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</a:p>
          <a:p>
            <a:pPr marL="1143000" indent="-1143000">
              <a:buFont typeface="Arial" panose="020B0604020202020204" pitchFamily="34" charset="0"/>
              <a:buChar char="•"/>
            </a:pPr>
            <a:r>
              <a:rPr lang="da-DK" sz="9600" dirty="0" err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Getter</a:t>
            </a:r>
            <a:r>
              <a:rPr lang="da-DK" sz="9600" dirty="0">
                <a:solidFill>
                  <a:srgbClr val="F796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a-DK" sz="9600" dirty="0">
                <a:latin typeface="Arial" panose="020B0604020202020204" pitchFamily="34" charset="0"/>
                <a:cs typeface="Arial" panose="020B0604020202020204" pitchFamily="34" charset="0"/>
              </a:rPr>
              <a:t>(or </a:t>
            </a:r>
            <a:r>
              <a:rPr lang="da-DK" sz="9600" dirty="0" err="1">
                <a:latin typeface="Arial" panose="020B0604020202020204" pitchFamily="34" charset="0"/>
                <a:cs typeface="Arial" panose="020B0604020202020204" pitchFamily="34" charset="0"/>
              </a:rPr>
              <a:t>accessor</a:t>
            </a:r>
            <a:r>
              <a:rPr lang="da-DK" sz="96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da-DK" sz="9600" dirty="0" err="1">
                <a:latin typeface="Arial" panose="020B0604020202020204" pitchFamily="34" charset="0"/>
                <a:cs typeface="Arial" panose="020B0604020202020204" pitchFamily="34" charset="0"/>
              </a:rPr>
              <a:t>methods</a:t>
            </a:r>
            <a:r>
              <a:rPr lang="da-DK" sz="9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a-DK" sz="960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</a:t>
            </a:r>
            <a:r>
              <a:rPr lang="da-DK" sz="9600" dirty="0">
                <a:latin typeface="Arial" panose="020B0604020202020204" pitchFamily="34" charset="0"/>
                <a:cs typeface="Arial" panose="020B0604020202020204" pitchFamily="34" charset="0"/>
              </a:rPr>
              <a:t> data</a:t>
            </a:r>
          </a:p>
          <a:p>
            <a:endParaRPr lang="da-DK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D7F173-92EB-1703-C1DB-BAB52639A9D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279678"/>
            <a:ext cx="10515600" cy="1325563"/>
          </a:xfrm>
        </p:spPr>
        <p:txBody>
          <a:bodyPr>
            <a:noAutofit/>
          </a:bodyPr>
          <a:lstStyle/>
          <a:p>
            <a:r>
              <a:rPr lang="da-DK" sz="3600" dirty="0">
                <a:solidFill>
                  <a:schemeClr val="accent5"/>
                </a:solidFill>
              </a:rPr>
              <a:t>IT </a:t>
            </a:r>
            <a:r>
              <a:rPr lang="da-DK" sz="3600" dirty="0" err="1">
                <a:solidFill>
                  <a:schemeClr val="accent5"/>
                </a:solidFill>
              </a:rPr>
              <a:t>exists</a:t>
            </a:r>
            <a:r>
              <a:rPr lang="da-DK" sz="3600" dirty="0">
                <a:solidFill>
                  <a:schemeClr val="accent5"/>
                </a:solidFill>
              </a:rPr>
              <a:t> to support the business by support </a:t>
            </a:r>
            <a:r>
              <a:rPr lang="da-DK" sz="3600" dirty="0" err="1">
                <a:solidFill>
                  <a:schemeClr val="accent5"/>
                </a:solidFill>
              </a:rPr>
              <a:t>various</a:t>
            </a:r>
            <a:r>
              <a:rPr lang="da-DK" sz="3600" dirty="0">
                <a:solidFill>
                  <a:schemeClr val="accent5"/>
                </a:solidFill>
              </a:rPr>
              <a:t> </a:t>
            </a:r>
            <a:r>
              <a:rPr lang="da-DK" sz="3600" dirty="0" err="1">
                <a:solidFill>
                  <a:schemeClr val="accent4"/>
                </a:solidFill>
              </a:rPr>
              <a:t>usecases</a:t>
            </a:r>
            <a:endParaRPr lang="da-DK" sz="3600" dirty="0">
              <a:solidFill>
                <a:schemeClr val="accent4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D2E35F-35F1-BB3C-7928-95CB8CBE1C33}"/>
              </a:ext>
            </a:extLst>
          </p:cNvPr>
          <p:cNvSpPr txBox="1"/>
          <p:nvPr/>
        </p:nvSpPr>
        <p:spPr>
          <a:xfrm>
            <a:off x="5489694" y="5503216"/>
            <a:ext cx="55056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3200" i="1" dirty="0" err="1">
                <a:solidFill>
                  <a:schemeClr val="accent5"/>
                </a:solidFill>
              </a:rPr>
              <a:t>Let’s</a:t>
            </a:r>
            <a:r>
              <a:rPr lang="da-DK" sz="3200" i="1" dirty="0">
                <a:solidFill>
                  <a:schemeClr val="accent5"/>
                </a:solidFill>
              </a:rPr>
              <a:t> </a:t>
            </a:r>
            <a:r>
              <a:rPr lang="da-DK" sz="3200" i="1" dirty="0" err="1">
                <a:solidFill>
                  <a:schemeClr val="accent5"/>
                </a:solidFill>
              </a:rPr>
              <a:t>raise</a:t>
            </a:r>
            <a:r>
              <a:rPr lang="da-DK" sz="3200" i="1" dirty="0">
                <a:solidFill>
                  <a:schemeClr val="accent5"/>
                </a:solidFill>
              </a:rPr>
              <a:t> it to a </a:t>
            </a:r>
            <a:r>
              <a:rPr lang="da-DK" sz="3200" i="1" dirty="0" err="1">
                <a:solidFill>
                  <a:schemeClr val="accent5"/>
                </a:solidFill>
              </a:rPr>
              <a:t>higher</a:t>
            </a:r>
            <a:r>
              <a:rPr lang="da-DK" sz="3200" i="1" dirty="0">
                <a:solidFill>
                  <a:schemeClr val="accent5"/>
                </a:solidFill>
              </a:rPr>
              <a:t> Level</a:t>
            </a:r>
          </a:p>
        </p:txBody>
      </p:sp>
    </p:spTree>
    <p:extLst>
      <p:ext uri="{BB962C8B-B14F-4D97-AF65-F5344CB8AC3E}">
        <p14:creationId xmlns:p14="http://schemas.microsoft.com/office/powerpoint/2010/main" val="2270589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92408-D03F-C91F-19C8-4399E5349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5AE4F8D-725C-E022-BEFD-F262F2D32C9F}"/>
              </a:ext>
            </a:extLst>
          </p:cNvPr>
          <p:cNvSpPr/>
          <p:nvPr/>
        </p:nvSpPr>
        <p:spPr>
          <a:xfrm>
            <a:off x="3934493" y="1769323"/>
            <a:ext cx="4323014" cy="190506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Separation of </a:t>
            </a:r>
            <a:br>
              <a:rPr lang="en-US" dirty="0"/>
            </a:br>
            <a:r>
              <a:rPr lang="en-US" b="1" dirty="0">
                <a:solidFill>
                  <a:schemeClr val="accent4"/>
                </a:solidFill>
              </a:rPr>
              <a:t>functions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that</a:t>
            </a:r>
            <a:r>
              <a:rPr lang="en-US" dirty="0"/>
              <a:t> </a:t>
            </a:r>
            <a:r>
              <a:rPr lang="en-US" b="1" dirty="0">
                <a:solidFill>
                  <a:schemeClr val="accent4"/>
                </a:solidFill>
              </a:rPr>
              <a:t>write</a:t>
            </a:r>
            <a:r>
              <a:rPr lang="en-US" dirty="0">
                <a:solidFill>
                  <a:srgbClr val="F79646"/>
                </a:solidFill>
              </a:rPr>
              <a:t> </a:t>
            </a:r>
            <a:br>
              <a:rPr lang="en-US" dirty="0"/>
            </a:br>
            <a:r>
              <a:rPr lang="en-US" dirty="0">
                <a:solidFill>
                  <a:schemeClr val="tx1"/>
                </a:solidFill>
              </a:rPr>
              <a:t>&amp;</a:t>
            </a:r>
            <a:br>
              <a:rPr lang="en-US" dirty="0"/>
            </a:br>
            <a:r>
              <a:rPr lang="en-US" b="1" dirty="0">
                <a:solidFill>
                  <a:schemeClr val="accent3"/>
                </a:solidFill>
              </a:rPr>
              <a:t>functions</a:t>
            </a:r>
            <a:r>
              <a:rPr lang="en-US" dirty="0">
                <a:solidFill>
                  <a:srgbClr val="F79646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that</a:t>
            </a:r>
            <a:r>
              <a:rPr lang="en-US" dirty="0"/>
              <a:t> </a:t>
            </a:r>
            <a:r>
              <a:rPr lang="en-US" b="1" dirty="0">
                <a:solidFill>
                  <a:schemeClr val="accent3"/>
                </a:solidFill>
              </a:rPr>
              <a:t>read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0EA0F-D578-546E-5A8C-70CD126BDA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43883" y="4040187"/>
            <a:ext cx="9786937" cy="700425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7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Functions</a:t>
            </a:r>
            <a:r>
              <a:rPr lang="en-US" sz="7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that </a:t>
            </a:r>
            <a:r>
              <a:rPr lang="en-US" sz="720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write</a:t>
            </a:r>
            <a:r>
              <a:rPr lang="en-US" sz="7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are called </a:t>
            </a:r>
            <a:r>
              <a:rPr lang="en-US" sz="7200" b="1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Command</a:t>
            </a:r>
            <a:r>
              <a:rPr lang="en-US" sz="7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methods and must </a:t>
            </a:r>
            <a:r>
              <a:rPr lang="en-US" sz="7200" b="1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return a value</a:t>
            </a:r>
          </a:p>
          <a:p>
            <a:pPr marL="0" indent="0">
              <a:buNone/>
            </a:pPr>
            <a:endParaRPr lang="en-US" sz="7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7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Functions</a:t>
            </a:r>
            <a:r>
              <a:rPr lang="en-US" sz="7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that </a:t>
            </a:r>
            <a:r>
              <a:rPr lang="en-US" sz="72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</a:t>
            </a:r>
            <a:r>
              <a:rPr lang="en-US" sz="7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are called </a:t>
            </a:r>
            <a:r>
              <a:rPr lang="en-US" sz="720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</a:t>
            </a:r>
            <a:r>
              <a:rPr lang="en-US" sz="7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methods and must have </a:t>
            </a:r>
            <a:r>
              <a:rPr lang="en-US" sz="720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side effects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102932-B8E9-7A63-4395-8DB355BA645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43883" y="366881"/>
            <a:ext cx="3954688" cy="1036638"/>
          </a:xfrm>
        </p:spPr>
        <p:txBody>
          <a:bodyPr>
            <a:normAutofit/>
          </a:bodyPr>
          <a:lstStyle/>
          <a:p>
            <a:r>
              <a:rPr lang="en-US" sz="6000" dirty="0"/>
              <a:t>CQS </a:t>
            </a:r>
          </a:p>
        </p:txBody>
      </p:sp>
    </p:spTree>
    <p:extLst>
      <p:ext uri="{BB962C8B-B14F-4D97-AF65-F5344CB8AC3E}">
        <p14:creationId xmlns:p14="http://schemas.microsoft.com/office/powerpoint/2010/main" val="3896895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3D2D2-3B69-07B8-1BD1-147472D7C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EE4026D-7448-337E-57B6-181E60E9B0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90017" y="626895"/>
            <a:ext cx="9786937" cy="700425"/>
          </a:xfrm>
        </p:spPr>
        <p:txBody>
          <a:bodyPr anchor="b">
            <a:normAutofit fontScale="92500" lnSpcReduction="10000"/>
          </a:bodyPr>
          <a:lstStyle/>
          <a:p>
            <a:r>
              <a:rPr lang="en-US" dirty="0"/>
              <a:t>CQS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54A6797-D7BC-8A55-871A-2A0A65901088}"/>
              </a:ext>
            </a:extLst>
          </p:cNvPr>
          <p:cNvGrpSpPr/>
          <p:nvPr/>
        </p:nvGrpSpPr>
        <p:grpSpPr>
          <a:xfrm>
            <a:off x="2113485" y="2451568"/>
            <a:ext cx="7354333" cy="1389765"/>
            <a:chOff x="589482" y="2451566"/>
            <a:chExt cx="7354333" cy="138976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DDD59F4-6FE8-B3FF-DFED-B82871827B1E}"/>
                </a:ext>
              </a:extLst>
            </p:cNvPr>
            <p:cNvSpPr/>
            <p:nvPr/>
          </p:nvSpPr>
          <p:spPr>
            <a:xfrm>
              <a:off x="589482" y="2928475"/>
              <a:ext cx="1236011" cy="912856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>
                  <a:solidFill>
                    <a:schemeClr val="accent1"/>
                  </a:solidFill>
                </a:rPr>
                <a:t>UI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3E98CDD-AA3B-D62B-748C-EAD09621CE92}"/>
                </a:ext>
              </a:extLst>
            </p:cNvPr>
            <p:cNvSpPr/>
            <p:nvPr/>
          </p:nvSpPr>
          <p:spPr>
            <a:xfrm>
              <a:off x="2460447" y="2928475"/>
              <a:ext cx="1388962" cy="912856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sz="1600">
                  <a:solidFill>
                    <a:schemeClr val="accent1"/>
                  </a:solidFill>
                </a:rPr>
                <a:t>Application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EE13646-C37B-7FE4-65BE-AEA15A0262BC}"/>
                </a:ext>
              </a:extLst>
            </p:cNvPr>
            <p:cNvSpPr/>
            <p:nvPr/>
          </p:nvSpPr>
          <p:spPr>
            <a:xfrm>
              <a:off x="4669558" y="2928475"/>
              <a:ext cx="1230223" cy="912856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>
                  <a:solidFill>
                    <a:schemeClr val="accent1"/>
                  </a:solidFill>
                </a:rPr>
                <a:t>Domain</a:t>
              </a:r>
            </a:p>
          </p:txBody>
        </p:sp>
        <p:sp>
          <p:nvSpPr>
            <p:cNvPr id="7" name="Can 6">
              <a:extLst>
                <a:ext uri="{FF2B5EF4-FFF2-40B4-BE49-F238E27FC236}">
                  <a16:creationId xmlns:a16="http://schemas.microsoft.com/office/drawing/2014/main" id="{652DE728-2ED2-70BC-F31A-3E0DDDEBC579}"/>
                </a:ext>
              </a:extLst>
            </p:cNvPr>
            <p:cNvSpPr/>
            <p:nvPr/>
          </p:nvSpPr>
          <p:spPr>
            <a:xfrm>
              <a:off x="6740048" y="2928475"/>
              <a:ext cx="1203767" cy="912856"/>
            </a:xfrm>
            <a:prstGeom prst="can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>
                  <a:solidFill>
                    <a:schemeClr val="accent1"/>
                  </a:solidFill>
                </a:rPr>
                <a:t>Data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B91DE5CD-236D-3CB4-D5A2-7198E0FFAF5F}"/>
                </a:ext>
              </a:extLst>
            </p:cNvPr>
            <p:cNvCxnSpPr>
              <a:stCxn id="4" idx="3"/>
              <a:endCxn id="5" idx="1"/>
            </p:cNvCxnSpPr>
            <p:nvPr/>
          </p:nvCxnSpPr>
          <p:spPr>
            <a:xfrm>
              <a:off x="1825493" y="3384903"/>
              <a:ext cx="634954" cy="0"/>
            </a:xfrm>
            <a:prstGeom prst="straightConnector1">
              <a:avLst/>
            </a:prstGeom>
            <a:ln>
              <a:solidFill>
                <a:schemeClr val="accent3"/>
              </a:solidFill>
              <a:headEnd type="none"/>
              <a:tailEnd type="arrow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0DB6E8C-E90E-C21F-47F3-9CD57926CC3D}"/>
                </a:ext>
              </a:extLst>
            </p:cNvPr>
            <p:cNvCxnSpPr>
              <a:stCxn id="5" idx="3"/>
              <a:endCxn id="6" idx="1"/>
            </p:cNvCxnSpPr>
            <p:nvPr/>
          </p:nvCxnSpPr>
          <p:spPr>
            <a:xfrm>
              <a:off x="3849409" y="3384903"/>
              <a:ext cx="820149" cy="0"/>
            </a:xfrm>
            <a:prstGeom prst="straightConnector1">
              <a:avLst/>
            </a:prstGeom>
            <a:ln>
              <a:solidFill>
                <a:schemeClr val="accent3"/>
              </a:solidFill>
              <a:headEnd type="none"/>
              <a:tailEnd type="arrow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0B46E3EB-23DD-C691-9C3B-476135FDFD86}"/>
                </a:ext>
              </a:extLst>
            </p:cNvPr>
            <p:cNvCxnSpPr>
              <a:stCxn id="6" idx="3"/>
              <a:endCxn id="7" idx="2"/>
            </p:cNvCxnSpPr>
            <p:nvPr/>
          </p:nvCxnSpPr>
          <p:spPr>
            <a:xfrm>
              <a:off x="5899781" y="3384903"/>
              <a:ext cx="840267" cy="0"/>
            </a:xfrm>
            <a:prstGeom prst="straightConnector1">
              <a:avLst/>
            </a:prstGeom>
            <a:ln>
              <a:solidFill>
                <a:schemeClr val="accent3"/>
              </a:solidFill>
              <a:headEnd type="arrow"/>
              <a:tailEnd type="arrow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BA038FA-7610-9D21-456A-A633533F52F6}"/>
                </a:ext>
              </a:extLst>
            </p:cNvPr>
            <p:cNvSpPr txBox="1"/>
            <p:nvPr/>
          </p:nvSpPr>
          <p:spPr>
            <a:xfrm>
              <a:off x="589482" y="2451566"/>
              <a:ext cx="29418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/>
                <a:t>Commands – Change data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DDE1821-79DF-DF4C-758A-49B943A012B9}"/>
              </a:ext>
            </a:extLst>
          </p:cNvPr>
          <p:cNvGrpSpPr/>
          <p:nvPr/>
        </p:nvGrpSpPr>
        <p:grpSpPr>
          <a:xfrm>
            <a:off x="2265885" y="4673329"/>
            <a:ext cx="7201933" cy="1476862"/>
            <a:chOff x="741882" y="4673327"/>
            <a:chExt cx="7201933" cy="1476862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CF1B590-A0AD-9597-6D54-C6E1381D21FC}"/>
                </a:ext>
              </a:extLst>
            </p:cNvPr>
            <p:cNvGrpSpPr/>
            <p:nvPr/>
          </p:nvGrpSpPr>
          <p:grpSpPr>
            <a:xfrm>
              <a:off x="741882" y="5237333"/>
              <a:ext cx="7201933" cy="912856"/>
              <a:chOff x="741882" y="5237333"/>
              <a:chExt cx="7201933" cy="912856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7E390F59-C8EC-9894-3E4B-525F345602B2}"/>
                  </a:ext>
                </a:extLst>
              </p:cNvPr>
              <p:cNvSpPr/>
              <p:nvPr/>
            </p:nvSpPr>
            <p:spPr>
              <a:xfrm>
                <a:off x="741882" y="5237333"/>
                <a:ext cx="1236011" cy="912856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a-DK">
                    <a:solidFill>
                      <a:schemeClr val="accent1"/>
                    </a:solidFill>
                  </a:rPr>
                  <a:t>UI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9747600-D4AF-9624-BF82-B32864C98F27}"/>
                  </a:ext>
                </a:extLst>
              </p:cNvPr>
              <p:cNvSpPr/>
              <p:nvPr/>
            </p:nvSpPr>
            <p:spPr>
              <a:xfrm>
                <a:off x="3849409" y="5237333"/>
                <a:ext cx="1388962" cy="912856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a-DK" sz="1600">
                    <a:solidFill>
                      <a:schemeClr val="accent1"/>
                    </a:solidFill>
                  </a:rPr>
                  <a:t>Application</a:t>
                </a:r>
              </a:p>
            </p:txBody>
          </p:sp>
          <p:sp>
            <p:nvSpPr>
              <p:cNvPr id="19" name="Can 18">
                <a:extLst>
                  <a:ext uri="{FF2B5EF4-FFF2-40B4-BE49-F238E27FC236}">
                    <a16:creationId xmlns:a16="http://schemas.microsoft.com/office/drawing/2014/main" id="{E60379D2-1A8F-6983-9CE2-23C77569118A}"/>
                  </a:ext>
                </a:extLst>
              </p:cNvPr>
              <p:cNvSpPr/>
              <p:nvPr/>
            </p:nvSpPr>
            <p:spPr>
              <a:xfrm>
                <a:off x="6740048" y="5237333"/>
                <a:ext cx="1203767" cy="912856"/>
              </a:xfrm>
              <a:prstGeom prst="can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a-DK">
                    <a:solidFill>
                      <a:schemeClr val="accent1"/>
                    </a:solidFill>
                  </a:rPr>
                  <a:t>Data</a:t>
                </a:r>
              </a:p>
            </p:txBody>
          </p: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B2DB296E-71B4-96FC-032E-6BD448BBE36B}"/>
                  </a:ext>
                </a:extLst>
              </p:cNvPr>
              <p:cNvCxnSpPr>
                <a:stCxn id="17" idx="3"/>
                <a:endCxn id="18" idx="1"/>
              </p:cNvCxnSpPr>
              <p:nvPr/>
            </p:nvCxnSpPr>
            <p:spPr>
              <a:xfrm>
                <a:off x="1977893" y="5693761"/>
                <a:ext cx="1871516" cy="0"/>
              </a:xfrm>
              <a:prstGeom prst="straightConnector1">
                <a:avLst/>
              </a:prstGeom>
              <a:ln>
                <a:solidFill>
                  <a:schemeClr val="accent3"/>
                </a:solidFill>
                <a:headEnd type="arrow"/>
                <a:tailEnd type="arrow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5181EDD6-C04A-62FD-6E86-2A25A7F4B10C}"/>
                  </a:ext>
                </a:extLst>
              </p:cNvPr>
              <p:cNvCxnSpPr>
                <a:stCxn id="18" idx="3"/>
                <a:endCxn id="19" idx="2"/>
              </p:cNvCxnSpPr>
              <p:nvPr/>
            </p:nvCxnSpPr>
            <p:spPr>
              <a:xfrm>
                <a:off x="5238371" y="5693761"/>
                <a:ext cx="1501677" cy="0"/>
              </a:xfrm>
              <a:prstGeom prst="straightConnector1">
                <a:avLst/>
              </a:prstGeom>
              <a:ln>
                <a:solidFill>
                  <a:schemeClr val="accent3"/>
                </a:solidFill>
                <a:headEnd type="arrow"/>
                <a:tailEnd type="arrow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0E3687B-1467-118C-3FB7-54AB6A4AB94C}"/>
                </a:ext>
              </a:extLst>
            </p:cNvPr>
            <p:cNvSpPr txBox="1"/>
            <p:nvPr/>
          </p:nvSpPr>
          <p:spPr>
            <a:xfrm>
              <a:off x="741882" y="4673327"/>
              <a:ext cx="41688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err="1"/>
                <a:t>Queries</a:t>
              </a:r>
              <a:r>
                <a:rPr lang="da-DK"/>
                <a:t> – Ask for data (</a:t>
              </a:r>
              <a:r>
                <a:rPr lang="da-DK" err="1"/>
                <a:t>no</a:t>
              </a:r>
              <a:r>
                <a:rPr lang="da-DK"/>
                <a:t> side </a:t>
              </a:r>
              <a:r>
                <a:rPr lang="da-DK" err="1"/>
                <a:t>effects</a:t>
              </a:r>
              <a:r>
                <a:rPr lang="da-DK"/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38387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1B27B-C768-348F-72D2-14C708B1E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EA762-4A95-5211-6348-228EC409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da-DK" sz="4600">
                <a:latin typeface="Bebas Neue" panose="020B0606020202050201" pitchFamily="34" charset="0"/>
              </a:rPr>
              <a:t>CQS from a </a:t>
            </a:r>
            <a:r>
              <a:rPr lang="da-DK" sz="4600" err="1">
                <a:latin typeface="Bebas Neue" panose="020B0606020202050201" pitchFamily="34" charset="0"/>
              </a:rPr>
              <a:t>code</a:t>
            </a:r>
            <a:r>
              <a:rPr lang="da-DK" sz="4600">
                <a:latin typeface="Bebas Neue" panose="020B0606020202050201" pitchFamily="34" charset="0"/>
              </a:rPr>
              <a:t> </a:t>
            </a:r>
            <a:r>
              <a:rPr lang="da-DK" sz="4600" err="1">
                <a:latin typeface="Bebas Neue" panose="020B0606020202050201" pitchFamily="34" charset="0"/>
              </a:rPr>
              <a:t>perspective</a:t>
            </a:r>
            <a:endParaRPr lang="da-DK" sz="4600">
              <a:latin typeface="Bebas Neue" panose="020B0606020202050201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FAE26-5B41-6389-DBDB-6F162A70C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a-DK" sz="1500" b="1">
                <a:latin typeface="+mn-lt"/>
              </a:rPr>
              <a:t>public</a:t>
            </a:r>
            <a:r>
              <a:rPr lang="da-DK" sz="1500">
                <a:latin typeface="+mn-lt"/>
              </a:rPr>
              <a:t> </a:t>
            </a:r>
            <a:r>
              <a:rPr lang="da-DK" sz="1500" b="1">
                <a:latin typeface="+mn-lt"/>
              </a:rPr>
              <a:t>class</a:t>
            </a:r>
            <a:r>
              <a:rPr lang="da-DK" sz="1500">
                <a:latin typeface="+mn-lt"/>
              </a:rPr>
              <a:t> </a:t>
            </a:r>
            <a:r>
              <a:rPr lang="da-DK" sz="1500" b="1" err="1">
                <a:solidFill>
                  <a:schemeClr val="tx1"/>
                </a:solidFill>
                <a:latin typeface="+mn-lt"/>
              </a:rPr>
              <a:t>CustomerService</a:t>
            </a:r>
            <a:endParaRPr lang="da-DK" sz="1500">
              <a:solidFill>
                <a:schemeClr val="tx1"/>
              </a:solidFill>
              <a:latin typeface="+mn-lt"/>
            </a:endParaRPr>
          </a:p>
          <a:p>
            <a:pPr marL="0" indent="0">
              <a:buNone/>
            </a:pPr>
            <a:r>
              <a:rPr lang="da-DK" sz="1500">
                <a:latin typeface="+mn-lt"/>
              </a:rPr>
              <a:t>{</a:t>
            </a:r>
          </a:p>
          <a:p>
            <a:pPr marL="0" indent="0">
              <a:buNone/>
            </a:pPr>
            <a:r>
              <a:rPr lang="da-DK" sz="1500">
                <a:latin typeface="+mn-lt"/>
              </a:rPr>
              <a:t>  </a:t>
            </a:r>
            <a:r>
              <a:rPr lang="da-DK" sz="1500">
                <a:solidFill>
                  <a:schemeClr val="tx2"/>
                </a:solidFill>
                <a:latin typeface="+mn-lt"/>
              </a:rPr>
              <a:t> </a:t>
            </a:r>
            <a:r>
              <a:rPr lang="da-DK" sz="1500">
                <a:solidFill>
                  <a:schemeClr val="bg2">
                    <a:lumMod val="50000"/>
                  </a:schemeClr>
                </a:solidFill>
                <a:latin typeface="+mn-lt"/>
              </a:rPr>
              <a:t> </a:t>
            </a:r>
            <a:r>
              <a:rPr lang="da-DK" sz="1500" i="1">
                <a:solidFill>
                  <a:schemeClr val="bg2">
                    <a:lumMod val="50000"/>
                  </a:schemeClr>
                </a:solidFill>
                <a:latin typeface="+mn-lt"/>
              </a:rPr>
              <a:t>// Commands</a:t>
            </a:r>
            <a:endParaRPr lang="da-DK" sz="1500">
              <a:solidFill>
                <a:schemeClr val="bg2">
                  <a:lumMod val="50000"/>
                </a:schemeClr>
              </a:solidFill>
              <a:latin typeface="+mn-lt"/>
            </a:endParaRPr>
          </a:p>
          <a:p>
            <a:pPr marL="0" indent="0">
              <a:buNone/>
            </a:pPr>
            <a:r>
              <a:rPr lang="da-DK" sz="1500">
                <a:latin typeface="+mn-lt"/>
              </a:rPr>
              <a:t>    </a:t>
            </a:r>
            <a:r>
              <a:rPr lang="da-DK" sz="1500" b="1" err="1">
                <a:latin typeface="+mn-lt"/>
              </a:rPr>
              <a:t>void</a:t>
            </a:r>
            <a:r>
              <a:rPr lang="da-DK" sz="1500">
                <a:latin typeface="+mn-lt"/>
              </a:rPr>
              <a:t> </a:t>
            </a:r>
            <a:r>
              <a:rPr lang="da-DK" sz="1500" b="1" err="1">
                <a:solidFill>
                  <a:schemeClr val="tx1"/>
                </a:solidFill>
                <a:latin typeface="+mn-lt"/>
              </a:rPr>
              <a:t>MakeCustomerPreferred</a:t>
            </a:r>
            <a:r>
              <a:rPr lang="da-DK" sz="1500">
                <a:latin typeface="+mn-lt"/>
              </a:rPr>
              <a:t>(</a:t>
            </a:r>
            <a:r>
              <a:rPr lang="da-DK" sz="1500" err="1">
                <a:latin typeface="+mn-lt"/>
              </a:rPr>
              <a:t>CustomerId</a:t>
            </a:r>
            <a:r>
              <a:rPr lang="da-DK" sz="1500">
                <a:latin typeface="+mn-lt"/>
              </a:rPr>
              <a:t>) </a:t>
            </a:r>
          </a:p>
          <a:p>
            <a:pPr marL="0" indent="0">
              <a:buNone/>
            </a:pPr>
            <a:r>
              <a:rPr lang="da-DK" sz="1500">
                <a:latin typeface="+mn-lt"/>
              </a:rPr>
              <a:t>    </a:t>
            </a:r>
            <a:r>
              <a:rPr lang="da-DK" sz="1500" b="1" err="1">
                <a:latin typeface="+mn-lt"/>
              </a:rPr>
              <a:t>void</a:t>
            </a:r>
            <a:r>
              <a:rPr lang="da-DK" sz="1500">
                <a:latin typeface="+mn-lt"/>
              </a:rPr>
              <a:t> </a:t>
            </a:r>
            <a:r>
              <a:rPr lang="da-DK" sz="1500" b="1" err="1">
                <a:solidFill>
                  <a:schemeClr val="tx1"/>
                </a:solidFill>
                <a:latin typeface="+mn-lt"/>
              </a:rPr>
              <a:t>ChangeCustomerLocale</a:t>
            </a:r>
            <a:r>
              <a:rPr lang="da-DK" sz="1500">
                <a:latin typeface="+mn-lt"/>
              </a:rPr>
              <a:t>(</a:t>
            </a:r>
            <a:r>
              <a:rPr lang="da-DK" sz="1500" err="1">
                <a:latin typeface="+mn-lt"/>
              </a:rPr>
              <a:t>CustomerId</a:t>
            </a:r>
            <a:r>
              <a:rPr lang="da-DK" sz="1500">
                <a:latin typeface="+mn-lt"/>
              </a:rPr>
              <a:t>, </a:t>
            </a:r>
            <a:r>
              <a:rPr lang="da-DK" sz="1500" err="1">
                <a:latin typeface="+mn-lt"/>
              </a:rPr>
              <a:t>NewLocale</a:t>
            </a:r>
            <a:r>
              <a:rPr lang="da-DK" sz="1500">
                <a:latin typeface="+mn-lt"/>
              </a:rPr>
              <a:t>) </a:t>
            </a:r>
          </a:p>
          <a:p>
            <a:pPr marL="0" indent="0">
              <a:buNone/>
            </a:pPr>
            <a:r>
              <a:rPr lang="da-DK" sz="1500">
                <a:latin typeface="+mn-lt"/>
              </a:rPr>
              <a:t>    </a:t>
            </a:r>
            <a:r>
              <a:rPr lang="da-DK" sz="1500" b="1" err="1">
                <a:latin typeface="+mn-lt"/>
              </a:rPr>
              <a:t>void</a:t>
            </a:r>
            <a:r>
              <a:rPr lang="da-DK" sz="1500">
                <a:latin typeface="+mn-lt"/>
              </a:rPr>
              <a:t> </a:t>
            </a:r>
            <a:r>
              <a:rPr lang="da-DK" sz="1500" b="1" err="1">
                <a:solidFill>
                  <a:schemeClr val="tx1"/>
                </a:solidFill>
                <a:latin typeface="+mn-lt"/>
              </a:rPr>
              <a:t>CreateCustomer</a:t>
            </a:r>
            <a:r>
              <a:rPr lang="da-DK" sz="1500">
                <a:latin typeface="+mn-lt"/>
              </a:rPr>
              <a:t>(Customer) </a:t>
            </a:r>
          </a:p>
          <a:p>
            <a:pPr marL="0" indent="0">
              <a:buNone/>
            </a:pPr>
            <a:r>
              <a:rPr lang="da-DK" sz="1500">
                <a:latin typeface="+mn-lt"/>
              </a:rPr>
              <a:t>    </a:t>
            </a:r>
            <a:r>
              <a:rPr lang="da-DK" sz="1500" b="1" err="1">
                <a:latin typeface="+mn-lt"/>
              </a:rPr>
              <a:t>void</a:t>
            </a:r>
            <a:r>
              <a:rPr lang="da-DK" sz="1500">
                <a:latin typeface="+mn-lt"/>
              </a:rPr>
              <a:t> </a:t>
            </a:r>
            <a:r>
              <a:rPr lang="da-DK" sz="1500" b="1" err="1">
                <a:solidFill>
                  <a:schemeClr val="tx1"/>
                </a:solidFill>
                <a:latin typeface="+mn-lt"/>
              </a:rPr>
              <a:t>EditCustomerDetails</a:t>
            </a:r>
            <a:r>
              <a:rPr lang="da-DK" sz="1500">
                <a:latin typeface="+mn-lt"/>
              </a:rPr>
              <a:t>(</a:t>
            </a:r>
            <a:r>
              <a:rPr lang="da-DK" sz="1500" err="1">
                <a:latin typeface="+mn-lt"/>
              </a:rPr>
              <a:t>CustomerDetails</a:t>
            </a:r>
            <a:r>
              <a:rPr lang="da-DK" sz="1500">
                <a:latin typeface="+mn-lt"/>
              </a:rPr>
              <a:t>)</a:t>
            </a:r>
          </a:p>
          <a:p>
            <a:pPr marL="0" indent="0">
              <a:buNone/>
            </a:pPr>
            <a:endParaRPr lang="da-DK" sz="1500">
              <a:latin typeface="+mn-lt"/>
            </a:endParaRPr>
          </a:p>
          <a:p>
            <a:pPr marL="0" indent="0">
              <a:buNone/>
            </a:pPr>
            <a:r>
              <a:rPr lang="en-US" sz="1500">
                <a:solidFill>
                  <a:schemeClr val="bg2">
                    <a:lumMod val="50000"/>
                  </a:schemeClr>
                </a:solidFill>
                <a:latin typeface="+mn-lt"/>
              </a:rPr>
              <a:t>    </a:t>
            </a:r>
            <a:r>
              <a:rPr lang="en-US" sz="1500" i="1">
                <a:solidFill>
                  <a:schemeClr val="bg2">
                    <a:lumMod val="50000"/>
                  </a:schemeClr>
                </a:solidFill>
                <a:latin typeface="+mn-lt"/>
              </a:rPr>
              <a:t>// Queries</a:t>
            </a:r>
            <a:endParaRPr lang="en-US" sz="1500">
              <a:solidFill>
                <a:schemeClr val="bg2">
                  <a:lumMod val="50000"/>
                </a:schemeClr>
              </a:solidFill>
              <a:latin typeface="+mn-lt"/>
            </a:endParaRPr>
          </a:p>
          <a:p>
            <a:pPr marL="0" indent="0">
              <a:buNone/>
            </a:pPr>
            <a:r>
              <a:rPr lang="en-US" sz="1500">
                <a:latin typeface="+mn-lt"/>
              </a:rPr>
              <a:t>    Customer </a:t>
            </a:r>
            <a:r>
              <a:rPr lang="en-US" sz="1500" b="1" err="1">
                <a:solidFill>
                  <a:schemeClr val="accent3"/>
                </a:solidFill>
                <a:latin typeface="+mn-lt"/>
              </a:rPr>
              <a:t>GetCustomer</a:t>
            </a:r>
            <a:r>
              <a:rPr lang="en-US" sz="1500">
                <a:latin typeface="+mn-lt"/>
              </a:rPr>
              <a:t>(</a:t>
            </a:r>
            <a:r>
              <a:rPr lang="en-US" sz="1500" err="1">
                <a:latin typeface="+mn-lt"/>
              </a:rPr>
              <a:t>CustomerId</a:t>
            </a:r>
            <a:r>
              <a:rPr lang="en-US" sz="1500">
                <a:latin typeface="+mn-lt"/>
              </a:rPr>
              <a:t>) </a:t>
            </a:r>
          </a:p>
          <a:p>
            <a:pPr marL="0" indent="0">
              <a:buNone/>
            </a:pPr>
            <a:r>
              <a:rPr lang="en-US" sz="1500">
                <a:latin typeface="+mn-lt"/>
              </a:rPr>
              <a:t>    </a:t>
            </a:r>
            <a:r>
              <a:rPr lang="en-US" sz="1500" err="1">
                <a:latin typeface="+mn-lt"/>
              </a:rPr>
              <a:t>CustomerSet</a:t>
            </a:r>
            <a:r>
              <a:rPr lang="en-US" sz="1500">
                <a:latin typeface="+mn-lt"/>
              </a:rPr>
              <a:t> </a:t>
            </a:r>
            <a:r>
              <a:rPr lang="en-US" sz="1500" b="1" err="1">
                <a:solidFill>
                  <a:schemeClr val="accent3"/>
                </a:solidFill>
                <a:latin typeface="+mn-lt"/>
              </a:rPr>
              <a:t>GetCustomersWithName</a:t>
            </a:r>
            <a:r>
              <a:rPr lang="en-US" sz="1500">
                <a:latin typeface="+mn-lt"/>
              </a:rPr>
              <a:t>(Name) </a:t>
            </a:r>
          </a:p>
          <a:p>
            <a:pPr marL="0" indent="0">
              <a:buNone/>
            </a:pPr>
            <a:r>
              <a:rPr lang="en-US" sz="1500">
                <a:latin typeface="+mn-lt"/>
              </a:rPr>
              <a:t>    </a:t>
            </a:r>
            <a:r>
              <a:rPr lang="en-US" sz="1500" err="1">
                <a:latin typeface="+mn-lt"/>
              </a:rPr>
              <a:t>CustomerSet</a:t>
            </a:r>
            <a:r>
              <a:rPr lang="en-US" sz="1500">
                <a:latin typeface="+mn-lt"/>
              </a:rPr>
              <a:t> </a:t>
            </a:r>
            <a:r>
              <a:rPr lang="en-US" sz="1500" b="1" err="1">
                <a:solidFill>
                  <a:schemeClr val="accent3"/>
                </a:solidFill>
                <a:latin typeface="+mn-lt"/>
              </a:rPr>
              <a:t>GetPreferredCustomers</a:t>
            </a:r>
            <a:r>
              <a:rPr lang="en-US" sz="1500">
                <a:latin typeface="+mn-lt"/>
              </a:rPr>
              <a:t>()</a:t>
            </a:r>
          </a:p>
          <a:p>
            <a:pPr marL="0" indent="0">
              <a:buNone/>
            </a:pPr>
            <a:r>
              <a:rPr lang="en-US" sz="1500">
                <a:latin typeface="+mn-lt"/>
              </a:rPr>
              <a:t>}</a:t>
            </a:r>
            <a:endParaRPr lang="da-DK" sz="15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9427772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540C3-3123-DAAF-8819-F82D765AB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260CA-611E-E3FC-F0A6-D10E80A21F4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209800" y="2085951"/>
            <a:ext cx="7772400" cy="1362075"/>
          </a:xfrm>
        </p:spPr>
        <p:txBody>
          <a:bodyPr>
            <a:normAutofit/>
          </a:bodyPr>
          <a:lstStyle/>
          <a:p>
            <a:pPr algn="ctr"/>
            <a:r>
              <a:rPr lang="da-DK" sz="5400"/>
              <a:t>So </a:t>
            </a:r>
            <a:r>
              <a:rPr lang="da-DK" sz="5400" err="1"/>
              <a:t>what</a:t>
            </a:r>
            <a:r>
              <a:rPr lang="da-DK" sz="5400"/>
              <a:t> is CQRS?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A6C7C8-6D73-E3DA-BB29-41260D95B659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64457" y="3429000"/>
            <a:ext cx="10515600" cy="15001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da-DK" i="1">
                <a:latin typeface="+mn-lt"/>
              </a:rPr>
              <a:t>CQRS is </a:t>
            </a:r>
            <a:r>
              <a:rPr lang="da-DK" i="1" err="1">
                <a:latin typeface="+mn-lt"/>
              </a:rPr>
              <a:t>simply</a:t>
            </a:r>
            <a:r>
              <a:rPr lang="da-DK" i="1">
                <a:latin typeface="+mn-lt"/>
              </a:rPr>
              <a:t> the </a:t>
            </a:r>
            <a:r>
              <a:rPr lang="da-DK" i="1" err="1">
                <a:latin typeface="+mn-lt"/>
              </a:rPr>
              <a:t>creation</a:t>
            </a:r>
            <a:r>
              <a:rPr lang="da-DK" i="1">
                <a:latin typeface="+mn-lt"/>
              </a:rPr>
              <a:t> of </a:t>
            </a:r>
            <a:r>
              <a:rPr lang="da-DK" i="1" err="1">
                <a:latin typeface="+mn-lt"/>
              </a:rPr>
              <a:t>two</a:t>
            </a:r>
            <a:r>
              <a:rPr lang="da-DK" i="1">
                <a:latin typeface="+mn-lt"/>
              </a:rPr>
              <a:t> </a:t>
            </a:r>
            <a:r>
              <a:rPr lang="da-DK" i="1" err="1">
                <a:latin typeface="+mn-lt"/>
              </a:rPr>
              <a:t>objects</a:t>
            </a:r>
            <a:r>
              <a:rPr lang="da-DK" i="1">
                <a:latin typeface="+mn-lt"/>
              </a:rPr>
              <a:t> </a:t>
            </a:r>
          </a:p>
          <a:p>
            <a:pPr marL="0" indent="0" algn="ctr">
              <a:buNone/>
            </a:pPr>
            <a:r>
              <a:rPr lang="da-DK" i="1" err="1">
                <a:latin typeface="+mn-lt"/>
              </a:rPr>
              <a:t>where</a:t>
            </a:r>
            <a:r>
              <a:rPr lang="da-DK" i="1">
                <a:latin typeface="+mn-lt"/>
              </a:rPr>
              <a:t> </a:t>
            </a:r>
            <a:r>
              <a:rPr lang="da-DK" i="1" err="1">
                <a:latin typeface="+mn-lt"/>
              </a:rPr>
              <a:t>there</a:t>
            </a:r>
            <a:r>
              <a:rPr lang="da-DK" i="1">
                <a:latin typeface="+mn-lt"/>
              </a:rPr>
              <a:t> </a:t>
            </a:r>
            <a:r>
              <a:rPr lang="da-DK" i="1" err="1">
                <a:latin typeface="+mn-lt"/>
              </a:rPr>
              <a:t>was</a:t>
            </a:r>
            <a:r>
              <a:rPr lang="da-DK" i="1">
                <a:latin typeface="+mn-lt"/>
              </a:rPr>
              <a:t> </a:t>
            </a:r>
            <a:r>
              <a:rPr lang="da-DK" i="1" err="1">
                <a:latin typeface="+mn-lt"/>
              </a:rPr>
              <a:t>previously</a:t>
            </a:r>
            <a:r>
              <a:rPr lang="da-DK" i="1">
                <a:latin typeface="+mn-lt"/>
              </a:rPr>
              <a:t> </a:t>
            </a:r>
            <a:r>
              <a:rPr lang="da-DK" i="1" err="1">
                <a:latin typeface="+mn-lt"/>
              </a:rPr>
              <a:t>only</a:t>
            </a:r>
            <a:r>
              <a:rPr lang="da-DK" i="1">
                <a:latin typeface="+mn-lt"/>
              </a:rPr>
              <a:t> </a:t>
            </a:r>
            <a:r>
              <a:rPr lang="da-DK" i="1" err="1">
                <a:latin typeface="+mn-lt"/>
              </a:rPr>
              <a:t>one</a:t>
            </a:r>
            <a:r>
              <a:rPr lang="da-DK" i="1">
                <a:latin typeface="+mn-lt"/>
              </a:rPr>
              <a:t> </a:t>
            </a:r>
          </a:p>
          <a:p>
            <a:pPr marL="0" indent="0" algn="r">
              <a:buNone/>
            </a:pPr>
            <a:r>
              <a:rPr lang="da-DK" sz="2400" i="1">
                <a:solidFill>
                  <a:schemeClr val="accent2"/>
                </a:solidFill>
                <a:latin typeface="+mn-lt"/>
              </a:rPr>
              <a:t>Greg Young</a:t>
            </a:r>
            <a:endParaRPr lang="da-DK" sz="2400">
              <a:solidFill>
                <a:schemeClr val="accent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38597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DEFA2-A544-0F18-975E-EE88C3FDB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300E04-56EC-1C41-FDCA-79128504EC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CQRS In its simplest 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0B5C0-BC26-4ECD-015D-0374F0F248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713" y="1442454"/>
            <a:ext cx="10515600" cy="4712685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da-DK" b="1">
                <a:solidFill>
                  <a:schemeClr val="bg1"/>
                </a:solidFill>
                <a:latin typeface="+mn-lt"/>
              </a:rPr>
              <a:t>public</a:t>
            </a:r>
            <a:r>
              <a:rPr lang="da-DK">
                <a:solidFill>
                  <a:schemeClr val="bg1"/>
                </a:solidFill>
                <a:latin typeface="+mn-lt"/>
              </a:rPr>
              <a:t> </a:t>
            </a:r>
            <a:r>
              <a:rPr lang="da-DK" b="1" err="1">
                <a:solidFill>
                  <a:schemeClr val="bg1"/>
                </a:solidFill>
                <a:latin typeface="+mn-lt"/>
              </a:rPr>
              <a:t>class</a:t>
            </a:r>
            <a:r>
              <a:rPr lang="da-DK">
                <a:solidFill>
                  <a:schemeClr val="bg1"/>
                </a:solidFill>
                <a:latin typeface="+mn-lt"/>
              </a:rPr>
              <a:t> </a:t>
            </a:r>
            <a:r>
              <a:rPr lang="da-DK" b="1" err="1">
                <a:solidFill>
                  <a:schemeClr val="accent4"/>
                </a:solidFill>
                <a:latin typeface="+mn-lt"/>
              </a:rPr>
              <a:t>CustomerWriteService</a:t>
            </a:r>
            <a:endParaRPr lang="da-DK">
              <a:solidFill>
                <a:schemeClr val="accent4"/>
              </a:solidFill>
              <a:latin typeface="+mn-lt"/>
            </a:endParaRPr>
          </a:p>
          <a:p>
            <a:pPr marL="0" indent="0">
              <a:buNone/>
            </a:pPr>
            <a:r>
              <a:rPr lang="da-DK">
                <a:solidFill>
                  <a:schemeClr val="bg1"/>
                </a:solidFill>
                <a:latin typeface="+mn-lt"/>
              </a:rPr>
              <a:t>{</a:t>
            </a:r>
          </a:p>
          <a:p>
            <a:pPr marL="0" indent="0">
              <a:buNone/>
            </a:pPr>
            <a:r>
              <a:rPr lang="da-DK">
                <a:solidFill>
                  <a:schemeClr val="bg1"/>
                </a:solidFill>
                <a:latin typeface="+mn-lt"/>
              </a:rPr>
              <a:t>   </a:t>
            </a:r>
            <a:r>
              <a:rPr lang="da-DK">
                <a:solidFill>
                  <a:schemeClr val="accent5"/>
                </a:solidFill>
                <a:latin typeface="+mn-lt"/>
              </a:rPr>
              <a:t> </a:t>
            </a:r>
            <a:r>
              <a:rPr lang="da-DK" i="1">
                <a:solidFill>
                  <a:schemeClr val="accent5"/>
                </a:solidFill>
                <a:latin typeface="+mn-lt"/>
              </a:rPr>
              <a:t>// Commands</a:t>
            </a:r>
            <a:endParaRPr lang="da-DK">
              <a:solidFill>
                <a:schemeClr val="accent5"/>
              </a:solidFill>
              <a:latin typeface="+mn-lt"/>
            </a:endParaRPr>
          </a:p>
          <a:p>
            <a:pPr marL="0" indent="0">
              <a:buNone/>
            </a:pPr>
            <a:r>
              <a:rPr lang="da-DK">
                <a:solidFill>
                  <a:schemeClr val="bg1"/>
                </a:solidFill>
                <a:latin typeface="+mn-lt"/>
              </a:rPr>
              <a:t>    </a:t>
            </a:r>
            <a:r>
              <a:rPr lang="da-DK" b="1" err="1">
                <a:solidFill>
                  <a:schemeClr val="bg1"/>
                </a:solidFill>
                <a:latin typeface="+mn-lt"/>
              </a:rPr>
              <a:t>void</a:t>
            </a:r>
            <a:r>
              <a:rPr lang="da-DK">
                <a:solidFill>
                  <a:schemeClr val="bg1"/>
                </a:solidFill>
                <a:latin typeface="+mn-lt"/>
              </a:rPr>
              <a:t> </a:t>
            </a:r>
            <a:r>
              <a:rPr lang="da-DK" b="1" err="1">
                <a:solidFill>
                  <a:schemeClr val="accent4"/>
                </a:solidFill>
                <a:latin typeface="+mn-lt"/>
              </a:rPr>
              <a:t>MakeCustomerPreferred</a:t>
            </a:r>
            <a:r>
              <a:rPr lang="da-DK">
                <a:solidFill>
                  <a:schemeClr val="bg1"/>
                </a:solidFill>
                <a:latin typeface="+mn-lt"/>
              </a:rPr>
              <a:t>(</a:t>
            </a:r>
            <a:r>
              <a:rPr lang="da-DK" err="1">
                <a:solidFill>
                  <a:schemeClr val="bg1"/>
                </a:solidFill>
                <a:latin typeface="+mn-lt"/>
              </a:rPr>
              <a:t>CustomerId</a:t>
            </a:r>
            <a:r>
              <a:rPr lang="da-DK">
                <a:solidFill>
                  <a:schemeClr val="bg1"/>
                </a:solidFill>
                <a:latin typeface="+mn-lt"/>
              </a:rPr>
              <a:t>) </a:t>
            </a:r>
          </a:p>
          <a:p>
            <a:pPr marL="0" indent="0">
              <a:buNone/>
            </a:pPr>
            <a:r>
              <a:rPr lang="da-DK">
                <a:solidFill>
                  <a:schemeClr val="bg1"/>
                </a:solidFill>
                <a:latin typeface="+mn-lt"/>
              </a:rPr>
              <a:t>    </a:t>
            </a:r>
            <a:r>
              <a:rPr lang="da-DK" b="1" err="1">
                <a:solidFill>
                  <a:schemeClr val="bg1"/>
                </a:solidFill>
                <a:latin typeface="+mn-lt"/>
              </a:rPr>
              <a:t>void</a:t>
            </a:r>
            <a:r>
              <a:rPr lang="da-DK">
                <a:solidFill>
                  <a:schemeClr val="bg1"/>
                </a:solidFill>
                <a:latin typeface="+mn-lt"/>
              </a:rPr>
              <a:t> </a:t>
            </a:r>
            <a:r>
              <a:rPr lang="da-DK" b="1" err="1">
                <a:solidFill>
                  <a:schemeClr val="accent4"/>
                </a:solidFill>
                <a:latin typeface="+mn-lt"/>
              </a:rPr>
              <a:t>ChangeCustomerLocale</a:t>
            </a:r>
            <a:r>
              <a:rPr lang="da-DK">
                <a:solidFill>
                  <a:schemeClr val="bg1"/>
                </a:solidFill>
                <a:latin typeface="+mn-lt"/>
              </a:rPr>
              <a:t>(</a:t>
            </a:r>
            <a:r>
              <a:rPr lang="da-DK" err="1">
                <a:solidFill>
                  <a:schemeClr val="bg1"/>
                </a:solidFill>
                <a:latin typeface="+mn-lt"/>
              </a:rPr>
              <a:t>CustomerId</a:t>
            </a:r>
            <a:r>
              <a:rPr lang="da-DK">
                <a:solidFill>
                  <a:schemeClr val="bg1"/>
                </a:solidFill>
                <a:latin typeface="+mn-lt"/>
              </a:rPr>
              <a:t>, </a:t>
            </a:r>
            <a:r>
              <a:rPr lang="da-DK" err="1">
                <a:solidFill>
                  <a:schemeClr val="bg1"/>
                </a:solidFill>
                <a:latin typeface="+mn-lt"/>
              </a:rPr>
              <a:t>NewLocale</a:t>
            </a:r>
            <a:r>
              <a:rPr lang="da-DK">
                <a:solidFill>
                  <a:schemeClr val="bg1"/>
                </a:solidFill>
                <a:latin typeface="+mn-lt"/>
              </a:rPr>
              <a:t>) </a:t>
            </a:r>
          </a:p>
          <a:p>
            <a:pPr marL="0" indent="0">
              <a:buNone/>
            </a:pPr>
            <a:r>
              <a:rPr lang="da-DK">
                <a:solidFill>
                  <a:schemeClr val="bg1"/>
                </a:solidFill>
                <a:latin typeface="+mn-lt"/>
              </a:rPr>
              <a:t>    </a:t>
            </a:r>
            <a:r>
              <a:rPr lang="da-DK" b="1" err="1">
                <a:solidFill>
                  <a:schemeClr val="bg1"/>
                </a:solidFill>
                <a:latin typeface="+mn-lt"/>
              </a:rPr>
              <a:t>void</a:t>
            </a:r>
            <a:r>
              <a:rPr lang="da-DK">
                <a:solidFill>
                  <a:schemeClr val="bg1"/>
                </a:solidFill>
                <a:latin typeface="+mn-lt"/>
              </a:rPr>
              <a:t> </a:t>
            </a:r>
            <a:r>
              <a:rPr lang="da-DK" b="1" err="1">
                <a:solidFill>
                  <a:schemeClr val="accent4"/>
                </a:solidFill>
                <a:latin typeface="+mn-lt"/>
              </a:rPr>
              <a:t>CreateCustomer</a:t>
            </a:r>
            <a:r>
              <a:rPr lang="da-DK">
                <a:solidFill>
                  <a:schemeClr val="bg1"/>
                </a:solidFill>
                <a:latin typeface="+mn-lt"/>
              </a:rPr>
              <a:t>(</a:t>
            </a:r>
            <a:r>
              <a:rPr lang="da-DK" err="1">
                <a:solidFill>
                  <a:schemeClr val="bg1"/>
                </a:solidFill>
                <a:latin typeface="+mn-lt"/>
              </a:rPr>
              <a:t>CreateCustomer</a:t>
            </a:r>
            <a:r>
              <a:rPr lang="da-DK">
                <a:solidFill>
                  <a:schemeClr val="bg1"/>
                </a:solidFill>
                <a:latin typeface="+mn-lt"/>
              </a:rPr>
              <a:t>) </a:t>
            </a:r>
          </a:p>
          <a:p>
            <a:pPr marL="0" indent="0">
              <a:buNone/>
            </a:pPr>
            <a:r>
              <a:rPr lang="da-DK">
                <a:solidFill>
                  <a:schemeClr val="bg1"/>
                </a:solidFill>
                <a:latin typeface="+mn-lt"/>
              </a:rPr>
              <a:t>    </a:t>
            </a:r>
            <a:r>
              <a:rPr lang="da-DK" b="1" err="1">
                <a:solidFill>
                  <a:schemeClr val="bg1"/>
                </a:solidFill>
                <a:latin typeface="+mn-lt"/>
              </a:rPr>
              <a:t>void</a:t>
            </a:r>
            <a:r>
              <a:rPr lang="da-DK">
                <a:solidFill>
                  <a:schemeClr val="bg1"/>
                </a:solidFill>
                <a:latin typeface="+mn-lt"/>
              </a:rPr>
              <a:t> </a:t>
            </a:r>
            <a:r>
              <a:rPr lang="da-DK" b="1" err="1">
                <a:solidFill>
                  <a:schemeClr val="accent4"/>
                </a:solidFill>
                <a:latin typeface="+mn-lt"/>
              </a:rPr>
              <a:t>EditCustomerDetails</a:t>
            </a:r>
            <a:r>
              <a:rPr lang="da-DK">
                <a:solidFill>
                  <a:schemeClr val="bg1"/>
                </a:solidFill>
                <a:latin typeface="+mn-lt"/>
              </a:rPr>
              <a:t>(</a:t>
            </a:r>
            <a:r>
              <a:rPr lang="da-DK" err="1">
                <a:solidFill>
                  <a:schemeClr val="bg1"/>
                </a:solidFill>
                <a:latin typeface="+mn-lt"/>
              </a:rPr>
              <a:t>CustomerDetails</a:t>
            </a:r>
            <a:r>
              <a:rPr lang="da-DK">
                <a:solidFill>
                  <a:schemeClr val="bg1"/>
                </a:solidFill>
                <a:latin typeface="+mn-lt"/>
              </a:rPr>
              <a:t>)</a:t>
            </a:r>
          </a:p>
          <a:p>
            <a:pPr marL="0" indent="0">
              <a:buNone/>
            </a:pPr>
            <a:r>
              <a:rPr lang="da-DK">
                <a:solidFill>
                  <a:schemeClr val="bg1"/>
                </a:solidFill>
                <a:latin typeface="+mn-lt"/>
              </a:rPr>
              <a:t>}</a:t>
            </a:r>
          </a:p>
          <a:p>
            <a:pPr marL="0" indent="0">
              <a:buNone/>
            </a:pPr>
            <a:endParaRPr lang="da-DK">
              <a:solidFill>
                <a:schemeClr val="bg1"/>
              </a:solidFill>
              <a:latin typeface="+mn-lt"/>
            </a:endParaRPr>
          </a:p>
          <a:p>
            <a:pPr marL="0" indent="0">
              <a:buNone/>
            </a:pPr>
            <a:r>
              <a:rPr lang="da-DK" b="1">
                <a:solidFill>
                  <a:schemeClr val="bg1"/>
                </a:solidFill>
                <a:latin typeface="+mn-lt"/>
              </a:rPr>
              <a:t>public</a:t>
            </a:r>
            <a:r>
              <a:rPr lang="da-DK">
                <a:solidFill>
                  <a:schemeClr val="bg1"/>
                </a:solidFill>
                <a:latin typeface="+mn-lt"/>
              </a:rPr>
              <a:t> </a:t>
            </a:r>
            <a:r>
              <a:rPr lang="da-DK" b="1" err="1">
                <a:solidFill>
                  <a:schemeClr val="bg1"/>
                </a:solidFill>
                <a:latin typeface="+mn-lt"/>
              </a:rPr>
              <a:t>class</a:t>
            </a:r>
            <a:r>
              <a:rPr lang="da-DK">
                <a:solidFill>
                  <a:schemeClr val="bg1"/>
                </a:solidFill>
                <a:latin typeface="+mn-lt"/>
              </a:rPr>
              <a:t> </a:t>
            </a:r>
            <a:r>
              <a:rPr lang="da-DK" b="1" err="1">
                <a:solidFill>
                  <a:schemeClr val="accent4"/>
                </a:solidFill>
                <a:latin typeface="+mn-lt"/>
              </a:rPr>
              <a:t>CustomerReadService</a:t>
            </a:r>
            <a:endParaRPr lang="da-DK">
              <a:solidFill>
                <a:schemeClr val="accent4"/>
              </a:solidFill>
              <a:latin typeface="+mn-lt"/>
            </a:endParaRPr>
          </a:p>
          <a:p>
            <a:pPr marL="0" indent="0">
              <a:buNone/>
            </a:pPr>
            <a:r>
              <a:rPr lang="da-DK">
                <a:solidFill>
                  <a:schemeClr val="bg1"/>
                </a:solidFill>
                <a:latin typeface="+mn-lt"/>
              </a:rPr>
              <a:t>{</a:t>
            </a:r>
          </a:p>
          <a:p>
            <a:pPr marL="0" indent="0">
              <a:buNone/>
            </a:pPr>
            <a:r>
              <a:rPr lang="en-US">
                <a:solidFill>
                  <a:schemeClr val="bg1"/>
                </a:solidFill>
                <a:latin typeface="+mn-lt"/>
              </a:rPr>
              <a:t>    </a:t>
            </a:r>
            <a:r>
              <a:rPr lang="en-US" i="1">
                <a:solidFill>
                  <a:schemeClr val="accent5"/>
                </a:solidFill>
                <a:latin typeface="+mn-lt"/>
              </a:rPr>
              <a:t>// Queries</a:t>
            </a:r>
            <a:endParaRPr lang="en-US">
              <a:solidFill>
                <a:schemeClr val="accent5"/>
              </a:solidFill>
              <a:latin typeface="+mn-lt"/>
            </a:endParaRPr>
          </a:p>
          <a:p>
            <a:pPr marL="0" indent="0">
              <a:buNone/>
            </a:pPr>
            <a:r>
              <a:rPr lang="en-US">
                <a:solidFill>
                  <a:schemeClr val="bg1"/>
                </a:solidFill>
                <a:latin typeface="+mn-lt"/>
              </a:rPr>
              <a:t>    Customer </a:t>
            </a:r>
            <a:r>
              <a:rPr lang="en-US" b="1" err="1">
                <a:solidFill>
                  <a:schemeClr val="accent3">
                    <a:lumMod val="75000"/>
                    <a:lumOff val="25000"/>
                  </a:schemeClr>
                </a:solidFill>
                <a:latin typeface="+mn-lt"/>
              </a:rPr>
              <a:t>GetCustomer</a:t>
            </a:r>
            <a:r>
              <a:rPr lang="en-US">
                <a:solidFill>
                  <a:schemeClr val="bg1"/>
                </a:solidFill>
                <a:latin typeface="+mn-lt"/>
              </a:rPr>
              <a:t>(</a:t>
            </a:r>
            <a:r>
              <a:rPr lang="en-US" err="1">
                <a:solidFill>
                  <a:schemeClr val="bg1"/>
                </a:solidFill>
                <a:latin typeface="+mn-lt"/>
              </a:rPr>
              <a:t>CustomerId</a:t>
            </a:r>
            <a:r>
              <a:rPr lang="en-US">
                <a:solidFill>
                  <a:schemeClr val="bg1"/>
                </a:solidFill>
                <a:latin typeface="+mn-lt"/>
              </a:rPr>
              <a:t>) </a:t>
            </a:r>
          </a:p>
          <a:p>
            <a:pPr marL="0" indent="0">
              <a:buNone/>
            </a:pPr>
            <a:r>
              <a:rPr lang="en-US">
                <a:solidFill>
                  <a:schemeClr val="bg1"/>
                </a:solidFill>
                <a:latin typeface="+mn-lt"/>
              </a:rPr>
              <a:t>    </a:t>
            </a:r>
            <a:r>
              <a:rPr lang="en-US" err="1">
                <a:solidFill>
                  <a:schemeClr val="bg1"/>
                </a:solidFill>
                <a:latin typeface="+mn-lt"/>
              </a:rPr>
              <a:t>CustomerSet</a:t>
            </a:r>
            <a:r>
              <a:rPr lang="en-US">
                <a:solidFill>
                  <a:schemeClr val="bg1"/>
                </a:solidFill>
                <a:latin typeface="+mn-lt"/>
              </a:rPr>
              <a:t> </a:t>
            </a:r>
            <a:r>
              <a:rPr lang="en-US" b="1" err="1">
                <a:solidFill>
                  <a:schemeClr val="accent3">
                    <a:lumMod val="75000"/>
                    <a:lumOff val="25000"/>
                  </a:schemeClr>
                </a:solidFill>
                <a:latin typeface="+mn-lt"/>
              </a:rPr>
              <a:t>GetCustomersWithName</a:t>
            </a:r>
            <a:r>
              <a:rPr lang="en-US">
                <a:solidFill>
                  <a:schemeClr val="bg1"/>
                </a:solidFill>
                <a:latin typeface="+mn-lt"/>
              </a:rPr>
              <a:t>(Name) </a:t>
            </a:r>
          </a:p>
          <a:p>
            <a:pPr marL="0" indent="0">
              <a:buNone/>
            </a:pPr>
            <a:r>
              <a:rPr lang="en-US">
                <a:solidFill>
                  <a:schemeClr val="bg1"/>
                </a:solidFill>
                <a:latin typeface="+mn-lt"/>
              </a:rPr>
              <a:t>    </a:t>
            </a:r>
            <a:r>
              <a:rPr lang="en-US" err="1">
                <a:solidFill>
                  <a:schemeClr val="bg1"/>
                </a:solidFill>
                <a:latin typeface="+mn-lt"/>
              </a:rPr>
              <a:t>CustomerSet</a:t>
            </a:r>
            <a:r>
              <a:rPr lang="en-US">
                <a:solidFill>
                  <a:schemeClr val="bg1"/>
                </a:solidFill>
                <a:latin typeface="+mn-lt"/>
              </a:rPr>
              <a:t> </a:t>
            </a:r>
            <a:r>
              <a:rPr lang="en-US" b="1" err="1">
                <a:solidFill>
                  <a:schemeClr val="accent3">
                    <a:lumMod val="75000"/>
                    <a:lumOff val="25000"/>
                  </a:schemeClr>
                </a:solidFill>
                <a:latin typeface="+mn-lt"/>
              </a:rPr>
              <a:t>GetPreferredCustomers</a:t>
            </a:r>
            <a:r>
              <a:rPr lang="en-US">
                <a:solidFill>
                  <a:schemeClr val="bg1"/>
                </a:solidFill>
                <a:latin typeface="+mn-lt"/>
              </a:rPr>
              <a:t>()</a:t>
            </a:r>
          </a:p>
          <a:p>
            <a:pPr marL="0" indent="0">
              <a:buNone/>
            </a:pPr>
            <a:r>
              <a:rPr lang="en-US">
                <a:solidFill>
                  <a:schemeClr val="bg1"/>
                </a:solidFill>
                <a:latin typeface="+mn-lt"/>
              </a:rPr>
              <a:t>}</a:t>
            </a:r>
            <a:endParaRPr lang="da-DK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1660461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A6A51-8EF0-0201-65C9-040E3F57F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21A5F-081C-1CB4-13D0-E0FA22E194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03376" y="1913845"/>
            <a:ext cx="9786937" cy="700425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da-DK" sz="9600" dirty="0">
                <a:solidFill>
                  <a:schemeClr val="tx1"/>
                </a:solidFill>
                <a:latin typeface="+mn-lt"/>
              </a:rPr>
              <a:t>A </a:t>
            </a:r>
            <a:r>
              <a:rPr lang="da-DK" sz="9600" dirty="0" err="1">
                <a:solidFill>
                  <a:schemeClr val="tx1"/>
                </a:solidFill>
                <a:latin typeface="+mn-lt"/>
              </a:rPr>
              <a:t>Command’s</a:t>
            </a:r>
            <a:r>
              <a:rPr lang="da-DK" sz="9600" dirty="0">
                <a:solidFill>
                  <a:schemeClr val="tx1"/>
                </a:solidFill>
                <a:latin typeface="+mn-lt"/>
              </a:rPr>
              <a:t> </a:t>
            </a:r>
            <a:r>
              <a:rPr lang="da-DK" sz="9600" dirty="0" err="1">
                <a:solidFill>
                  <a:schemeClr val="tx1"/>
                </a:solidFill>
                <a:latin typeface="+mn-lt"/>
              </a:rPr>
              <a:t>primary</a:t>
            </a:r>
            <a:r>
              <a:rPr lang="da-DK" sz="9600" dirty="0">
                <a:solidFill>
                  <a:schemeClr val="tx1"/>
                </a:solidFill>
                <a:latin typeface="+mn-lt"/>
              </a:rPr>
              <a:t> </a:t>
            </a:r>
            <a:r>
              <a:rPr lang="da-DK" sz="9600" dirty="0" err="1">
                <a:solidFill>
                  <a:schemeClr val="tx1"/>
                </a:solidFill>
                <a:latin typeface="+mn-lt"/>
              </a:rPr>
              <a:t>goal</a:t>
            </a:r>
            <a:r>
              <a:rPr lang="da-DK" sz="9600" dirty="0">
                <a:solidFill>
                  <a:schemeClr val="tx1"/>
                </a:solidFill>
                <a:latin typeface="+mn-lt"/>
              </a:rPr>
              <a:t> is to </a:t>
            </a:r>
            <a:r>
              <a:rPr lang="da-DK" sz="9600" dirty="0" err="1">
                <a:solidFill>
                  <a:schemeClr val="tx1"/>
                </a:solidFill>
                <a:latin typeface="+mn-lt"/>
              </a:rPr>
              <a:t>capture</a:t>
            </a:r>
            <a:r>
              <a:rPr lang="da-DK" sz="9600" dirty="0">
                <a:solidFill>
                  <a:schemeClr val="tx1"/>
                </a:solidFill>
                <a:latin typeface="+mn-lt"/>
              </a:rPr>
              <a:t> </a:t>
            </a:r>
          </a:p>
          <a:p>
            <a:pPr marL="0" indent="0" algn="ctr">
              <a:buNone/>
            </a:pPr>
            <a:r>
              <a:rPr lang="da-DK" sz="9600" dirty="0">
                <a:solidFill>
                  <a:schemeClr val="accent4"/>
                </a:solidFill>
                <a:latin typeface="+mn-lt"/>
              </a:rPr>
              <a:t>USER INTENT</a:t>
            </a:r>
          </a:p>
          <a:p>
            <a:pPr marL="0" indent="0">
              <a:buNone/>
            </a:pPr>
            <a:endParaRPr lang="da-DK" sz="7200" dirty="0">
              <a:solidFill>
                <a:schemeClr val="tx1"/>
              </a:solidFill>
              <a:latin typeface="+mn-lt"/>
            </a:endParaRPr>
          </a:p>
          <a:p>
            <a:pPr marL="0" indent="0">
              <a:buNone/>
            </a:pPr>
            <a:r>
              <a:rPr lang="da-DK" sz="9600" dirty="0">
                <a:solidFill>
                  <a:schemeClr val="tx1"/>
                </a:solidFill>
                <a:latin typeface="+mn-lt"/>
              </a:rPr>
              <a:t>A </a:t>
            </a:r>
            <a:r>
              <a:rPr lang="da-DK" sz="9600" b="1" dirty="0">
                <a:solidFill>
                  <a:schemeClr val="tx1"/>
                </a:solidFill>
                <a:latin typeface="+mn-lt"/>
              </a:rPr>
              <a:t>Command</a:t>
            </a:r>
            <a:r>
              <a:rPr lang="da-DK" sz="9600" dirty="0">
                <a:solidFill>
                  <a:schemeClr val="tx1"/>
                </a:solidFill>
                <a:latin typeface="+mn-lt"/>
              </a:rPr>
              <a:t> supports a </a:t>
            </a:r>
            <a:r>
              <a:rPr lang="da-DK" sz="9600" b="1" u="sng" dirty="0">
                <a:solidFill>
                  <a:schemeClr val="tx1"/>
                </a:solidFill>
                <a:latin typeface="+mn-lt"/>
              </a:rPr>
              <a:t>single</a:t>
            </a:r>
            <a:r>
              <a:rPr lang="da-DK" sz="9600" dirty="0">
                <a:solidFill>
                  <a:schemeClr val="tx1"/>
                </a:solidFill>
                <a:latin typeface="+mn-lt"/>
              </a:rPr>
              <a:t> </a:t>
            </a:r>
            <a:r>
              <a:rPr lang="da-DK" sz="9600" b="1" dirty="0" err="1">
                <a:solidFill>
                  <a:schemeClr val="accent4"/>
                </a:solidFill>
                <a:latin typeface="+mn-lt"/>
              </a:rPr>
              <a:t>usecase</a:t>
            </a:r>
            <a:r>
              <a:rPr lang="da-DK" sz="9600" b="1" dirty="0">
                <a:solidFill>
                  <a:schemeClr val="tx1"/>
                </a:solidFill>
                <a:latin typeface="+mn-lt"/>
              </a:rPr>
              <a:t> </a:t>
            </a:r>
            <a:r>
              <a:rPr lang="da-DK" sz="9600" dirty="0">
                <a:solidFill>
                  <a:schemeClr val="tx1"/>
                </a:solidFill>
                <a:latin typeface="+mn-lt"/>
              </a:rPr>
              <a:t>and </a:t>
            </a:r>
            <a:r>
              <a:rPr lang="da-DK" sz="9600" dirty="0" err="1">
                <a:solidFill>
                  <a:schemeClr val="tx1"/>
                </a:solidFill>
                <a:latin typeface="+mn-lt"/>
              </a:rPr>
              <a:t>targets</a:t>
            </a:r>
            <a:r>
              <a:rPr lang="da-DK" sz="9600" dirty="0">
                <a:solidFill>
                  <a:schemeClr val="tx1"/>
                </a:solidFill>
                <a:latin typeface="+mn-lt"/>
              </a:rPr>
              <a:t> a </a:t>
            </a:r>
            <a:r>
              <a:rPr lang="da-DK" sz="9600" b="1" u="sng" dirty="0">
                <a:solidFill>
                  <a:schemeClr val="tx1"/>
                </a:solidFill>
                <a:latin typeface="+mn-lt"/>
              </a:rPr>
              <a:t>single</a:t>
            </a:r>
            <a:r>
              <a:rPr lang="da-DK" sz="9600" dirty="0">
                <a:solidFill>
                  <a:schemeClr val="tx1"/>
                </a:solidFill>
                <a:latin typeface="+mn-lt"/>
              </a:rPr>
              <a:t> </a:t>
            </a:r>
            <a:r>
              <a:rPr lang="da-DK" sz="9600" b="1" dirty="0" err="1">
                <a:solidFill>
                  <a:schemeClr val="accent4"/>
                </a:solidFill>
                <a:latin typeface="+mn-lt"/>
              </a:rPr>
              <a:t>Aggregate</a:t>
            </a:r>
            <a:endParaRPr lang="da-DK" sz="9600" b="1" dirty="0">
              <a:solidFill>
                <a:schemeClr val="accent4"/>
              </a:solidFill>
              <a:latin typeface="+mn-lt"/>
            </a:endParaRPr>
          </a:p>
          <a:p>
            <a:pPr marL="0" indent="0">
              <a:buNone/>
            </a:pPr>
            <a:endParaRPr lang="da-DK" sz="17600" dirty="0">
              <a:solidFill>
                <a:schemeClr val="tx1"/>
              </a:solidFill>
              <a:latin typeface="+mn-lt"/>
            </a:endParaRPr>
          </a:p>
          <a:p>
            <a:pPr marL="0" indent="0">
              <a:buNone/>
            </a:pPr>
            <a:r>
              <a:rPr lang="da-DK" sz="9600" b="1" dirty="0">
                <a:solidFill>
                  <a:schemeClr val="tx1"/>
                </a:solidFill>
                <a:latin typeface="+mn-lt"/>
              </a:rPr>
              <a:t>Commands</a:t>
            </a:r>
            <a:r>
              <a:rPr lang="da-DK" sz="9600" dirty="0">
                <a:solidFill>
                  <a:schemeClr val="tx1"/>
                </a:solidFill>
                <a:latin typeface="+mn-lt"/>
              </a:rPr>
              <a:t> </a:t>
            </a:r>
            <a:r>
              <a:rPr lang="da-DK" sz="9600" dirty="0" err="1">
                <a:solidFill>
                  <a:schemeClr val="tx1"/>
                </a:solidFill>
                <a:latin typeface="+mn-lt"/>
              </a:rPr>
              <a:t>are</a:t>
            </a:r>
            <a:r>
              <a:rPr lang="da-DK" sz="9600" dirty="0">
                <a:solidFill>
                  <a:schemeClr val="tx1"/>
                </a:solidFill>
                <a:latin typeface="+mn-lt"/>
              </a:rPr>
              <a:t> </a:t>
            </a:r>
            <a:r>
              <a:rPr lang="da-DK" sz="9600" dirty="0" err="1">
                <a:solidFill>
                  <a:schemeClr val="tx1"/>
                </a:solidFill>
                <a:latin typeface="+mn-lt"/>
              </a:rPr>
              <a:t>stated</a:t>
            </a:r>
            <a:r>
              <a:rPr lang="da-DK" sz="9600" dirty="0">
                <a:solidFill>
                  <a:schemeClr val="tx1"/>
                </a:solidFill>
                <a:latin typeface="+mn-lt"/>
              </a:rPr>
              <a:t> in the </a:t>
            </a:r>
            <a:r>
              <a:rPr lang="da-DK" sz="9600" b="1" dirty="0">
                <a:solidFill>
                  <a:schemeClr val="tx1"/>
                </a:solidFill>
                <a:latin typeface="+mn-lt"/>
              </a:rPr>
              <a:t>imperative</a:t>
            </a:r>
            <a:r>
              <a:rPr lang="da-DK" sz="9600" dirty="0">
                <a:solidFill>
                  <a:schemeClr val="tx1"/>
                </a:solidFill>
                <a:latin typeface="+mn-lt"/>
              </a:rPr>
              <a:t>:</a:t>
            </a:r>
          </a:p>
          <a:p>
            <a:pPr lvl="1"/>
            <a:r>
              <a:rPr lang="da-DK" sz="8000" i="1" dirty="0" err="1">
                <a:latin typeface="+mn-lt"/>
              </a:rPr>
              <a:t>DoStuff</a:t>
            </a:r>
            <a:endParaRPr lang="da-DK" sz="8000" i="1" dirty="0">
              <a:latin typeface="+mn-lt"/>
            </a:endParaRPr>
          </a:p>
          <a:p>
            <a:pPr lvl="1"/>
            <a:r>
              <a:rPr lang="da-DK" sz="8000" i="1" dirty="0" err="1">
                <a:latin typeface="+mn-lt"/>
              </a:rPr>
              <a:t>CreateCustomer</a:t>
            </a:r>
            <a:endParaRPr lang="da-DK" sz="8000" i="1" dirty="0">
              <a:latin typeface="+mn-lt"/>
            </a:endParaRPr>
          </a:p>
          <a:p>
            <a:pPr lvl="1"/>
            <a:r>
              <a:rPr lang="da-DK" sz="8000" i="1" dirty="0" err="1">
                <a:latin typeface="+mn-lt"/>
              </a:rPr>
              <a:t>ShipOrder</a:t>
            </a:r>
            <a:endParaRPr lang="da-DK" sz="8000" i="1" dirty="0">
              <a:latin typeface="+mn-lt"/>
            </a:endParaRPr>
          </a:p>
          <a:p>
            <a:pPr lvl="1"/>
            <a:r>
              <a:rPr lang="da-DK" sz="8000" i="1" dirty="0" err="1">
                <a:latin typeface="+mn-lt"/>
              </a:rPr>
              <a:t>AddComment</a:t>
            </a:r>
            <a:endParaRPr lang="da-DK" sz="8000" i="1" dirty="0">
              <a:latin typeface="+mn-lt"/>
            </a:endParaRPr>
          </a:p>
          <a:p>
            <a:pPr lvl="1"/>
            <a:r>
              <a:rPr lang="da-DK" sz="8000" i="1" dirty="0" err="1">
                <a:latin typeface="+mn-lt"/>
              </a:rPr>
              <a:t>DeleteComment</a:t>
            </a:r>
            <a:endParaRPr lang="da-DK" sz="8000" i="1" dirty="0">
              <a:latin typeface="+mn-lt"/>
            </a:endParaRPr>
          </a:p>
          <a:p>
            <a:pPr marL="457200" lvl="1" indent="0">
              <a:buNone/>
            </a:pPr>
            <a:endParaRPr lang="da-DK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204578-1ACA-8480-48A5-58FA3040D20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74713" y="307068"/>
            <a:ext cx="10515600" cy="1325563"/>
          </a:xfrm>
        </p:spPr>
        <p:txBody>
          <a:bodyPr>
            <a:normAutofit/>
          </a:bodyPr>
          <a:lstStyle/>
          <a:p>
            <a:r>
              <a:rPr lang="da-DK" sz="4600"/>
              <a:t>Commands</a:t>
            </a:r>
          </a:p>
        </p:txBody>
      </p:sp>
    </p:spTree>
    <p:extLst>
      <p:ext uri="{BB962C8B-B14F-4D97-AF65-F5344CB8AC3E}">
        <p14:creationId xmlns:p14="http://schemas.microsoft.com/office/powerpoint/2010/main" val="3903837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1606E-D6A0-2827-CB60-FDB977BBD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669F7-B684-CFE3-7388-8FF2EF4C9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1423"/>
            <a:ext cx="10515600" cy="2852737"/>
          </a:xfrm>
        </p:spPr>
        <p:txBody>
          <a:bodyPr anchor="b">
            <a:normAutofit/>
          </a:bodyPr>
          <a:lstStyle/>
          <a:p>
            <a:r>
              <a:rPr lang="da-DK" sz="4400">
                <a:latin typeface="Bebas Neue" panose="020B0606020202050201" pitchFamily="34" charset="0"/>
              </a:rPr>
              <a:t>1. </a:t>
            </a:r>
            <a:r>
              <a:rPr lang="da-DK" sz="4400" err="1">
                <a:solidFill>
                  <a:schemeClr val="accent4"/>
                </a:solidFill>
                <a:latin typeface="Bebas Neue" panose="020B0606020202050201" pitchFamily="34" charset="0"/>
              </a:rPr>
              <a:t>Realization</a:t>
            </a:r>
            <a:r>
              <a:rPr lang="da-DK" sz="4400">
                <a:solidFill>
                  <a:schemeClr val="accent4"/>
                </a:solidFill>
                <a:latin typeface="Bebas Neue" panose="020B0606020202050201" pitchFamily="34" charset="0"/>
              </a:rPr>
              <a:t> Commands</a:t>
            </a:r>
            <a:r>
              <a:rPr lang="da-DK" sz="4400">
                <a:latin typeface="Bebas Neue" panose="020B0606020202050201" pitchFamily="34" charset="0"/>
              </a:rPr>
              <a:t> and </a:t>
            </a:r>
            <a:r>
              <a:rPr lang="da-DK" sz="4400" err="1">
                <a:solidFill>
                  <a:schemeClr val="accent4"/>
                </a:solidFill>
                <a:latin typeface="Bebas Neue" panose="020B0606020202050201" pitchFamily="34" charset="0"/>
              </a:rPr>
              <a:t>Queries</a:t>
            </a:r>
            <a:br>
              <a:rPr lang="da-DK" sz="4400">
                <a:latin typeface="Bebas Neue" panose="020B0606020202050201" pitchFamily="34" charset="0"/>
              </a:rPr>
            </a:br>
            <a:r>
              <a:rPr lang="da-DK" sz="4400">
                <a:latin typeface="Bebas Neue" panose="020B0606020202050201" pitchFamily="34" charset="0"/>
              </a:rPr>
              <a:t>support </a:t>
            </a:r>
            <a:r>
              <a:rPr lang="da-DK" sz="4400" err="1">
                <a:latin typeface="Bebas Neue" panose="020B0606020202050201" pitchFamily="34" charset="0"/>
              </a:rPr>
              <a:t>very</a:t>
            </a:r>
            <a:r>
              <a:rPr lang="da-DK" sz="4400">
                <a:latin typeface="Bebas Neue" panose="020B0606020202050201" pitchFamily="34" charset="0"/>
              </a:rPr>
              <a:t> </a:t>
            </a:r>
            <a:r>
              <a:rPr lang="da-DK" sz="4400" u="sng" err="1">
                <a:latin typeface="Bebas Neue" panose="020B0606020202050201" pitchFamily="34" charset="0"/>
              </a:rPr>
              <a:t>different</a:t>
            </a:r>
            <a:r>
              <a:rPr lang="da-DK" sz="4400">
                <a:latin typeface="Bebas Neue" panose="020B0606020202050201" pitchFamily="34" charset="0"/>
              </a:rPr>
              <a:t> </a:t>
            </a:r>
            <a:r>
              <a:rPr lang="da-DK" sz="4400" err="1">
                <a:latin typeface="Bebas Neue" panose="020B0606020202050201" pitchFamily="34" charset="0"/>
              </a:rPr>
              <a:t>usecases</a:t>
            </a:r>
            <a:endParaRPr lang="da-DK" sz="4400"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994082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F5515-7DF1-AAAD-62F8-4DE598B5A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9C36E-2B57-CD0B-1313-3B2B239DB2C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4430" y="291742"/>
            <a:ext cx="10515600" cy="1036638"/>
          </a:xfrm>
        </p:spPr>
        <p:txBody>
          <a:bodyPr>
            <a:normAutofit/>
          </a:bodyPr>
          <a:lstStyle/>
          <a:p>
            <a:r>
              <a:rPr lang="en-DK">
                <a:solidFill>
                  <a:schemeClr val="accent5"/>
                </a:solidFill>
                <a:latin typeface="Bebas Neue" panose="020B0606020202050201" pitchFamily="34" charset="0"/>
              </a:rPr>
              <a:t>When to use EAGER vs LAZY fetching?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910A42-CE17-063D-4E6B-8AB19CC89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0691" y="1231900"/>
            <a:ext cx="5638800" cy="21971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3C1FBE-F1B2-D93D-00ED-CD02E64CB3B9}"/>
              </a:ext>
            </a:extLst>
          </p:cNvPr>
          <p:cNvSpPr txBox="1"/>
          <p:nvPr/>
        </p:nvSpPr>
        <p:spPr>
          <a:xfrm>
            <a:off x="735169" y="3634772"/>
            <a:ext cx="5360831" cy="224676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GB" sz="1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@</a:t>
            </a:r>
            <a:r>
              <a:rPr lang="en-GB" sz="14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Entity</a:t>
            </a:r>
            <a:endParaRPr lang="en-GB" sz="1400" b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GB" sz="14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public</a:t>
            </a:r>
            <a:r>
              <a:rPr lang="en-GB" sz="1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4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class</a:t>
            </a:r>
            <a:r>
              <a:rPr lang="en-GB" sz="1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4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Customer</a:t>
            </a:r>
            <a:r>
              <a:rPr lang="en-GB" sz="1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GB" sz="1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  @</a:t>
            </a:r>
            <a:r>
              <a:rPr lang="en-GB" sz="14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Id</a:t>
            </a:r>
            <a:endParaRPr lang="en-GB" sz="1400" b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GB" sz="1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  @</a:t>
            </a:r>
            <a:r>
              <a:rPr lang="en-GB" sz="14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Column</a:t>
            </a:r>
            <a:r>
              <a:rPr lang="en-GB" sz="1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(name=</a:t>
            </a:r>
            <a:r>
              <a:rPr lang="en-GB" sz="14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"CUSTOMER_ID"</a:t>
            </a:r>
            <a:r>
              <a:rPr lang="en-GB" sz="1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r>
              <a:rPr lang="en-GB" sz="14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   private</a:t>
            </a:r>
            <a:r>
              <a:rPr lang="en-GB" sz="1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400" b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CusomterId</a:t>
            </a:r>
            <a:r>
              <a:rPr lang="en-GB" sz="1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4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id</a:t>
            </a:r>
            <a:r>
              <a:rPr lang="en-GB" sz="1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br>
              <a:rPr lang="en-GB" sz="1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</a:br>
            <a:r>
              <a:rPr lang="en-GB" sz="1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  @</a:t>
            </a:r>
            <a:r>
              <a:rPr lang="en-GB" sz="1400" b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OneToMany</a:t>
            </a:r>
            <a:r>
              <a:rPr lang="en-GB" sz="1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(fetch = </a:t>
            </a:r>
            <a:r>
              <a:rPr lang="en-GB" sz="1400" b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FetchType</a:t>
            </a:r>
            <a:r>
              <a:rPr lang="en-GB" sz="1400" b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1400" b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LAZY</a:t>
            </a:r>
            <a:r>
              <a:rPr lang="en-GB" sz="1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 </a:t>
            </a:r>
          </a:p>
          <a:p>
            <a:r>
              <a:rPr lang="en-GB" sz="1400">
                <a:solidFill>
                  <a:srgbClr val="D4D4D4"/>
                </a:solidFill>
                <a:latin typeface="Menlo" panose="020B0609030804020204" pitchFamily="49" charset="0"/>
              </a:rPr>
              <a:t>              </a:t>
            </a:r>
            <a:r>
              <a:rPr lang="en-GB" sz="1400" b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mappedBy</a:t>
            </a:r>
            <a:r>
              <a:rPr lang="en-GB" sz="1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GB" sz="14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"customer"</a:t>
            </a:r>
            <a:r>
              <a:rPr lang="en-GB" sz="1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r>
              <a:rPr lang="en-GB" sz="14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   private</a:t>
            </a:r>
            <a:r>
              <a:rPr lang="en-GB" sz="1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4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Set</a:t>
            </a:r>
            <a:r>
              <a:rPr lang="en-GB" sz="1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GB" sz="14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Order</a:t>
            </a:r>
            <a:r>
              <a:rPr lang="en-GB" sz="1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&gt; </a:t>
            </a:r>
            <a:r>
              <a:rPr lang="en-GB" sz="14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orders</a:t>
            </a:r>
            <a:r>
              <a:rPr lang="en-GB" sz="1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GB" sz="14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new</a:t>
            </a:r>
            <a:r>
              <a:rPr lang="en-GB" sz="1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4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HashSet</a:t>
            </a:r>
            <a:r>
              <a:rPr lang="en-GB" sz="1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&lt;&gt;();</a:t>
            </a:r>
          </a:p>
          <a:p>
            <a:r>
              <a:rPr lang="en-GB" sz="1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00ACC7-A35A-0111-C31B-EDFD7F3CED07}"/>
              </a:ext>
            </a:extLst>
          </p:cNvPr>
          <p:cNvSpPr txBox="1"/>
          <p:nvPr/>
        </p:nvSpPr>
        <p:spPr>
          <a:xfrm>
            <a:off x="6468952" y="3634772"/>
            <a:ext cx="4661078" cy="224676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GB" sz="1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@</a:t>
            </a:r>
            <a:r>
              <a:rPr lang="en-GB" sz="14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Entity</a:t>
            </a:r>
            <a:endParaRPr lang="en-GB" sz="1400" b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GB" sz="14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public</a:t>
            </a:r>
            <a:r>
              <a:rPr lang="en-GB" sz="1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4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class</a:t>
            </a:r>
            <a:r>
              <a:rPr lang="en-GB" sz="1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4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Order</a:t>
            </a:r>
            <a:r>
              <a:rPr lang="en-GB" sz="1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{ </a:t>
            </a:r>
          </a:p>
          <a:p>
            <a:r>
              <a:rPr lang="en-GB" sz="1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  @</a:t>
            </a:r>
            <a:r>
              <a:rPr lang="en-GB" sz="14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Id</a:t>
            </a:r>
            <a:endParaRPr lang="en-GB" sz="1400" b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GB" sz="1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  @</a:t>
            </a:r>
            <a:r>
              <a:rPr lang="en-GB" sz="14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Column</a:t>
            </a:r>
            <a:r>
              <a:rPr lang="en-GB" sz="1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(name=</a:t>
            </a:r>
            <a:r>
              <a:rPr lang="en-GB" sz="14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"ORDER_ID"</a:t>
            </a:r>
            <a:r>
              <a:rPr lang="en-GB" sz="1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r>
              <a:rPr lang="en-GB" sz="14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   private</a:t>
            </a:r>
            <a:r>
              <a:rPr lang="en-GB" sz="1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400" b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OrderId</a:t>
            </a:r>
            <a:r>
              <a:rPr lang="en-GB" sz="1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4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id</a:t>
            </a:r>
            <a:r>
              <a:rPr lang="en-GB" sz="1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endParaRPr lang="en-GB" sz="1400" b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GB" sz="1400">
                <a:solidFill>
                  <a:srgbClr val="D4D4D4"/>
                </a:solidFill>
                <a:latin typeface="Menlo" panose="020B0609030804020204" pitchFamily="49" charset="0"/>
              </a:rPr>
              <a:t>   </a:t>
            </a:r>
            <a:r>
              <a:rPr lang="en-GB" sz="1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@</a:t>
            </a:r>
            <a:r>
              <a:rPr lang="en-GB" sz="1400" b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ManyToOne</a:t>
            </a:r>
            <a:r>
              <a:rPr lang="en-GB" sz="1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(fetch = </a:t>
            </a:r>
            <a:r>
              <a:rPr lang="en-GB" sz="1400" b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FetchType</a:t>
            </a:r>
            <a:r>
              <a:rPr lang="en-GB" sz="1400" b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1400" b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EAGER</a:t>
            </a:r>
            <a:r>
              <a:rPr lang="en-GB" sz="1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r>
              <a:rPr lang="en-GB" sz="1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  @</a:t>
            </a:r>
            <a:r>
              <a:rPr lang="en-GB" sz="1400" b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JoinColumn</a:t>
            </a:r>
            <a:r>
              <a:rPr lang="en-GB" sz="1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(name=</a:t>
            </a:r>
            <a:r>
              <a:rPr lang="en-GB" sz="14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"CUSTOMER_ID"</a:t>
            </a:r>
            <a:r>
              <a:rPr lang="en-GB" sz="1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r>
              <a:rPr lang="en-GB" sz="14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   private</a:t>
            </a:r>
            <a:r>
              <a:rPr lang="en-GB" sz="1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4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Customer</a:t>
            </a:r>
            <a:r>
              <a:rPr lang="en-GB" sz="1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4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customer</a:t>
            </a:r>
            <a:r>
              <a:rPr lang="en-GB" sz="1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GB" sz="1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7376AF-45BE-1036-5D44-570530423D05}"/>
              </a:ext>
            </a:extLst>
          </p:cNvPr>
          <p:cNvSpPr/>
          <p:nvPr/>
        </p:nvSpPr>
        <p:spPr>
          <a:xfrm>
            <a:off x="3160691" y="4905334"/>
            <a:ext cx="1527219" cy="3090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F2A1F7-D455-8BD3-A795-73B5941E011C}"/>
              </a:ext>
            </a:extLst>
          </p:cNvPr>
          <p:cNvSpPr/>
          <p:nvPr/>
        </p:nvSpPr>
        <p:spPr>
          <a:xfrm>
            <a:off x="8854574" y="4917265"/>
            <a:ext cx="1672642" cy="3090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576BECC-628F-60A7-8E41-7811E347014C}"/>
              </a:ext>
            </a:extLst>
          </p:cNvPr>
          <p:cNvSpPr/>
          <p:nvPr/>
        </p:nvSpPr>
        <p:spPr>
          <a:xfrm rot="20189232">
            <a:off x="257579" y="1817385"/>
            <a:ext cx="2653048" cy="1036956"/>
          </a:xfrm>
          <a:prstGeom prst="roundRect">
            <a:avLst/>
          </a:prstGeom>
          <a:noFill/>
          <a:ln w="57150">
            <a:solidFill>
              <a:schemeClr val="accent4"/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2653048"/>
                      <a:gd name="connsiteY0" fmla="*/ 172829 h 1036956"/>
                      <a:gd name="connsiteX1" fmla="*/ 172829 w 2653048"/>
                      <a:gd name="connsiteY1" fmla="*/ 0 h 1036956"/>
                      <a:gd name="connsiteX2" fmla="*/ 703529 w 2653048"/>
                      <a:gd name="connsiteY2" fmla="*/ 0 h 1036956"/>
                      <a:gd name="connsiteX3" fmla="*/ 1280376 w 2653048"/>
                      <a:gd name="connsiteY3" fmla="*/ 0 h 1036956"/>
                      <a:gd name="connsiteX4" fmla="*/ 1811076 w 2653048"/>
                      <a:gd name="connsiteY4" fmla="*/ 0 h 1036956"/>
                      <a:gd name="connsiteX5" fmla="*/ 2480219 w 2653048"/>
                      <a:gd name="connsiteY5" fmla="*/ 0 h 1036956"/>
                      <a:gd name="connsiteX6" fmla="*/ 2653048 w 2653048"/>
                      <a:gd name="connsiteY6" fmla="*/ 172829 h 1036956"/>
                      <a:gd name="connsiteX7" fmla="*/ 2653048 w 2653048"/>
                      <a:gd name="connsiteY7" fmla="*/ 518478 h 1036956"/>
                      <a:gd name="connsiteX8" fmla="*/ 2653048 w 2653048"/>
                      <a:gd name="connsiteY8" fmla="*/ 864127 h 1036956"/>
                      <a:gd name="connsiteX9" fmla="*/ 2480219 w 2653048"/>
                      <a:gd name="connsiteY9" fmla="*/ 1036956 h 1036956"/>
                      <a:gd name="connsiteX10" fmla="*/ 1926445 w 2653048"/>
                      <a:gd name="connsiteY10" fmla="*/ 1036956 h 1036956"/>
                      <a:gd name="connsiteX11" fmla="*/ 1418820 w 2653048"/>
                      <a:gd name="connsiteY11" fmla="*/ 1036956 h 1036956"/>
                      <a:gd name="connsiteX12" fmla="*/ 818898 w 2653048"/>
                      <a:gd name="connsiteY12" fmla="*/ 1036956 h 1036956"/>
                      <a:gd name="connsiteX13" fmla="*/ 172829 w 2653048"/>
                      <a:gd name="connsiteY13" fmla="*/ 1036956 h 1036956"/>
                      <a:gd name="connsiteX14" fmla="*/ 0 w 2653048"/>
                      <a:gd name="connsiteY14" fmla="*/ 864127 h 1036956"/>
                      <a:gd name="connsiteX15" fmla="*/ 0 w 2653048"/>
                      <a:gd name="connsiteY15" fmla="*/ 504652 h 1036956"/>
                      <a:gd name="connsiteX16" fmla="*/ 0 w 2653048"/>
                      <a:gd name="connsiteY16" fmla="*/ 172829 h 10369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2653048" h="1036956" fill="none" extrusionOk="0">
                        <a:moveTo>
                          <a:pt x="0" y="172829"/>
                        </a:moveTo>
                        <a:cubicBezTo>
                          <a:pt x="-4352" y="85159"/>
                          <a:pt x="96001" y="13838"/>
                          <a:pt x="172829" y="0"/>
                        </a:cubicBezTo>
                        <a:cubicBezTo>
                          <a:pt x="425998" y="-41647"/>
                          <a:pt x="559784" y="7760"/>
                          <a:pt x="703529" y="0"/>
                        </a:cubicBezTo>
                        <a:cubicBezTo>
                          <a:pt x="847274" y="-7760"/>
                          <a:pt x="1042833" y="9865"/>
                          <a:pt x="1280376" y="0"/>
                        </a:cubicBezTo>
                        <a:cubicBezTo>
                          <a:pt x="1517919" y="-9865"/>
                          <a:pt x="1564964" y="28173"/>
                          <a:pt x="1811076" y="0"/>
                        </a:cubicBezTo>
                        <a:cubicBezTo>
                          <a:pt x="2057188" y="-28173"/>
                          <a:pt x="2342297" y="54121"/>
                          <a:pt x="2480219" y="0"/>
                        </a:cubicBezTo>
                        <a:cubicBezTo>
                          <a:pt x="2562778" y="-730"/>
                          <a:pt x="2660206" y="83541"/>
                          <a:pt x="2653048" y="172829"/>
                        </a:cubicBezTo>
                        <a:cubicBezTo>
                          <a:pt x="2663051" y="330545"/>
                          <a:pt x="2639391" y="388709"/>
                          <a:pt x="2653048" y="518478"/>
                        </a:cubicBezTo>
                        <a:cubicBezTo>
                          <a:pt x="2666705" y="648247"/>
                          <a:pt x="2647554" y="748443"/>
                          <a:pt x="2653048" y="864127"/>
                        </a:cubicBezTo>
                        <a:cubicBezTo>
                          <a:pt x="2651830" y="934304"/>
                          <a:pt x="2588980" y="1045341"/>
                          <a:pt x="2480219" y="1036956"/>
                        </a:cubicBezTo>
                        <a:cubicBezTo>
                          <a:pt x="2240518" y="1041870"/>
                          <a:pt x="2093948" y="1007675"/>
                          <a:pt x="1926445" y="1036956"/>
                        </a:cubicBezTo>
                        <a:cubicBezTo>
                          <a:pt x="1758942" y="1066237"/>
                          <a:pt x="1638234" y="980873"/>
                          <a:pt x="1418820" y="1036956"/>
                        </a:cubicBezTo>
                        <a:cubicBezTo>
                          <a:pt x="1199407" y="1093039"/>
                          <a:pt x="1030051" y="999329"/>
                          <a:pt x="818898" y="1036956"/>
                        </a:cubicBezTo>
                        <a:cubicBezTo>
                          <a:pt x="607745" y="1074583"/>
                          <a:pt x="475504" y="1007088"/>
                          <a:pt x="172829" y="1036956"/>
                        </a:cubicBezTo>
                        <a:cubicBezTo>
                          <a:pt x="58109" y="1047761"/>
                          <a:pt x="4359" y="971388"/>
                          <a:pt x="0" y="864127"/>
                        </a:cubicBezTo>
                        <a:cubicBezTo>
                          <a:pt x="-3611" y="684530"/>
                          <a:pt x="1355" y="663289"/>
                          <a:pt x="0" y="504652"/>
                        </a:cubicBezTo>
                        <a:cubicBezTo>
                          <a:pt x="-1355" y="346015"/>
                          <a:pt x="22294" y="269884"/>
                          <a:pt x="0" y="172829"/>
                        </a:cubicBezTo>
                        <a:close/>
                      </a:path>
                      <a:path w="2653048" h="1036956" stroke="0" extrusionOk="0">
                        <a:moveTo>
                          <a:pt x="0" y="172829"/>
                        </a:moveTo>
                        <a:cubicBezTo>
                          <a:pt x="-9008" y="71822"/>
                          <a:pt x="68377" y="3378"/>
                          <a:pt x="172829" y="0"/>
                        </a:cubicBezTo>
                        <a:cubicBezTo>
                          <a:pt x="356818" y="-34927"/>
                          <a:pt x="635950" y="44616"/>
                          <a:pt x="795824" y="0"/>
                        </a:cubicBezTo>
                        <a:cubicBezTo>
                          <a:pt x="955699" y="-44616"/>
                          <a:pt x="1101190" y="8944"/>
                          <a:pt x="1349598" y="0"/>
                        </a:cubicBezTo>
                        <a:cubicBezTo>
                          <a:pt x="1598006" y="-8944"/>
                          <a:pt x="1637624" y="13580"/>
                          <a:pt x="1880298" y="0"/>
                        </a:cubicBezTo>
                        <a:cubicBezTo>
                          <a:pt x="2122972" y="-13580"/>
                          <a:pt x="2231509" y="60866"/>
                          <a:pt x="2480219" y="0"/>
                        </a:cubicBezTo>
                        <a:cubicBezTo>
                          <a:pt x="2579361" y="-7596"/>
                          <a:pt x="2639875" y="75361"/>
                          <a:pt x="2653048" y="172829"/>
                        </a:cubicBezTo>
                        <a:cubicBezTo>
                          <a:pt x="2668409" y="292623"/>
                          <a:pt x="2618179" y="397128"/>
                          <a:pt x="2653048" y="518478"/>
                        </a:cubicBezTo>
                        <a:cubicBezTo>
                          <a:pt x="2687917" y="639828"/>
                          <a:pt x="2636231" y="769353"/>
                          <a:pt x="2653048" y="864127"/>
                        </a:cubicBezTo>
                        <a:cubicBezTo>
                          <a:pt x="2662044" y="961741"/>
                          <a:pt x="2561309" y="1034633"/>
                          <a:pt x="2480219" y="1036956"/>
                        </a:cubicBezTo>
                        <a:cubicBezTo>
                          <a:pt x="2316166" y="1097144"/>
                          <a:pt x="2151302" y="970162"/>
                          <a:pt x="1903372" y="1036956"/>
                        </a:cubicBezTo>
                        <a:cubicBezTo>
                          <a:pt x="1655442" y="1103750"/>
                          <a:pt x="1527140" y="1034133"/>
                          <a:pt x="1349598" y="1036956"/>
                        </a:cubicBezTo>
                        <a:cubicBezTo>
                          <a:pt x="1172056" y="1039779"/>
                          <a:pt x="925236" y="1017893"/>
                          <a:pt x="726603" y="1036956"/>
                        </a:cubicBezTo>
                        <a:cubicBezTo>
                          <a:pt x="527970" y="1056019"/>
                          <a:pt x="374680" y="987760"/>
                          <a:pt x="172829" y="1036956"/>
                        </a:cubicBezTo>
                        <a:cubicBezTo>
                          <a:pt x="51575" y="1041193"/>
                          <a:pt x="-2451" y="957887"/>
                          <a:pt x="0" y="864127"/>
                        </a:cubicBezTo>
                        <a:cubicBezTo>
                          <a:pt x="-2470" y="704332"/>
                          <a:pt x="22977" y="665362"/>
                          <a:pt x="0" y="511565"/>
                        </a:cubicBezTo>
                        <a:cubicBezTo>
                          <a:pt x="-22977" y="357768"/>
                          <a:pt x="23640" y="276694"/>
                          <a:pt x="0" y="172829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K">
                <a:solidFill>
                  <a:schemeClr val="accent5"/>
                </a:solidFill>
              </a:rPr>
              <a:t>Highly depends on</a:t>
            </a:r>
          </a:p>
          <a:p>
            <a:pPr algn="ctr"/>
            <a:r>
              <a:rPr lang="en-GB">
                <a:solidFill>
                  <a:schemeClr val="accent5"/>
                </a:solidFill>
              </a:rPr>
              <a:t>t</a:t>
            </a:r>
            <a:r>
              <a:rPr lang="en-DK">
                <a:solidFill>
                  <a:schemeClr val="accent5"/>
                </a:solidFill>
              </a:rPr>
              <a:t>he </a:t>
            </a:r>
            <a:r>
              <a:rPr lang="en-DK" b="1">
                <a:solidFill>
                  <a:schemeClr val="accent5"/>
                </a:solidFill>
              </a:rPr>
              <a:t>use case!</a:t>
            </a:r>
          </a:p>
        </p:txBody>
      </p:sp>
    </p:spTree>
    <p:extLst>
      <p:ext uri="{BB962C8B-B14F-4D97-AF65-F5344CB8AC3E}">
        <p14:creationId xmlns:p14="http://schemas.microsoft.com/office/powerpoint/2010/main" val="3220241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1" grpId="0" animBg="1"/>
      <p:bldP spid="12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FD033-A475-11EC-97A3-20F6B3B27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1CA4D-8D44-3E16-5606-806FCDB2F7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82290" y="2088017"/>
            <a:ext cx="9786937" cy="700425"/>
          </a:xfrm>
        </p:spPr>
        <p:txBody>
          <a:bodyPr>
            <a:noAutofit/>
          </a:bodyPr>
          <a:lstStyle/>
          <a:p>
            <a:r>
              <a:rPr lang="da-DK" sz="2000" dirty="0">
                <a:latin typeface="Arial" panose="020B0604020202020204" pitchFamily="34" charset="0"/>
                <a:cs typeface="Arial" panose="020B0604020202020204" pitchFamily="34" charset="0"/>
              </a:rPr>
              <a:t>Give </a:t>
            </a:r>
            <a:r>
              <a:rPr lang="da-DK" sz="2000" dirty="0" err="1">
                <a:latin typeface="Arial" panose="020B0604020202020204" pitchFamily="34" charset="0"/>
                <a:cs typeface="Arial" panose="020B0604020202020204" pitchFamily="34" charset="0"/>
              </a:rPr>
              <a:t>me</a:t>
            </a:r>
            <a:r>
              <a:rPr lang="da-DK" sz="2000" dirty="0"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da-DK" sz="2000" dirty="0" err="1">
                <a:latin typeface="Arial" panose="020B0604020202020204" pitchFamily="34" charset="0"/>
                <a:cs typeface="Arial" panose="020B0604020202020204" pitchFamily="34" charset="0"/>
              </a:rPr>
              <a:t>customer</a:t>
            </a:r>
            <a:r>
              <a:rPr lang="da-DK" sz="2000" dirty="0">
                <a:latin typeface="Arial" panose="020B0604020202020204" pitchFamily="34" charset="0"/>
                <a:cs typeface="Arial" panose="020B0604020202020204" pitchFamily="34" charset="0"/>
              </a:rPr>
              <a:t> with his last 10 </a:t>
            </a:r>
            <a:r>
              <a:rPr lang="da-DK" sz="2000" dirty="0" err="1">
                <a:latin typeface="Arial" panose="020B0604020202020204" pitchFamily="34" charset="0"/>
                <a:cs typeface="Arial" panose="020B0604020202020204" pitchFamily="34" charset="0"/>
              </a:rPr>
              <a:t>orders</a:t>
            </a:r>
            <a:endParaRPr lang="da-DK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a-DK" sz="2000" dirty="0">
                <a:latin typeface="Arial" panose="020B0604020202020204" pitchFamily="34" charset="0"/>
                <a:cs typeface="Arial" panose="020B0604020202020204" pitchFamily="34" charset="0"/>
              </a:rPr>
              <a:t>Give </a:t>
            </a:r>
            <a:r>
              <a:rPr lang="da-DK" sz="2000" dirty="0" err="1">
                <a:latin typeface="Arial" panose="020B0604020202020204" pitchFamily="34" charset="0"/>
                <a:cs typeface="Arial" panose="020B0604020202020204" pitchFamily="34" charset="0"/>
              </a:rPr>
              <a:t>me</a:t>
            </a:r>
            <a:r>
              <a:rPr lang="da-DK" sz="2000" dirty="0"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da-DK" sz="2000" dirty="0" err="1">
                <a:latin typeface="Arial" panose="020B0604020202020204" pitchFamily="34" charset="0"/>
                <a:cs typeface="Arial" panose="020B0604020202020204" pitchFamily="34" charset="0"/>
              </a:rPr>
              <a:t>customer</a:t>
            </a:r>
            <a:r>
              <a:rPr lang="da-DK" sz="2000" dirty="0">
                <a:latin typeface="Arial" panose="020B0604020202020204" pitchFamily="34" charset="0"/>
                <a:cs typeface="Arial" panose="020B0604020202020204" pitchFamily="34" charset="0"/>
              </a:rPr>
              <a:t> with total sum of </a:t>
            </a:r>
            <a:r>
              <a:rPr lang="da-DK" sz="2000" dirty="0" err="1">
                <a:latin typeface="Arial" panose="020B0604020202020204" pitchFamily="34" charset="0"/>
                <a:cs typeface="Arial" panose="020B0604020202020204" pitchFamily="34" charset="0"/>
              </a:rPr>
              <a:t>orders</a:t>
            </a:r>
            <a:r>
              <a:rPr lang="da-DK" sz="2000" dirty="0">
                <a:latin typeface="Arial" panose="020B0604020202020204" pitchFamily="34" charset="0"/>
                <a:cs typeface="Arial" panose="020B0604020202020204" pitchFamily="34" charset="0"/>
              </a:rPr>
              <a:t> for the last </a:t>
            </a:r>
            <a:r>
              <a:rPr lang="da-DK" sz="2000" dirty="0" err="1">
                <a:latin typeface="Arial" panose="020B0604020202020204" pitchFamily="34" charset="0"/>
                <a:cs typeface="Arial" panose="020B0604020202020204" pitchFamily="34" charset="0"/>
              </a:rPr>
              <a:t>year</a:t>
            </a:r>
            <a:endParaRPr lang="da-DK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a-DK" sz="2000" dirty="0">
                <a:latin typeface="Arial" panose="020B0604020202020204" pitchFamily="34" charset="0"/>
                <a:cs typeface="Arial" panose="020B0604020202020204" pitchFamily="34" charset="0"/>
              </a:rPr>
              <a:t>Give </a:t>
            </a:r>
            <a:r>
              <a:rPr lang="da-DK" sz="2000" dirty="0" err="1">
                <a:latin typeface="Arial" panose="020B0604020202020204" pitchFamily="34" charset="0"/>
                <a:cs typeface="Arial" panose="020B0604020202020204" pitchFamily="34" charset="0"/>
              </a:rPr>
              <a:t>me</a:t>
            </a:r>
            <a:r>
              <a:rPr lang="da-DK" sz="2000" dirty="0"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da-DK" sz="2000" dirty="0" err="1">
                <a:latin typeface="Arial" panose="020B0604020202020204" pitchFamily="34" charset="0"/>
                <a:cs typeface="Arial" panose="020B0604020202020204" pitchFamily="34" charset="0"/>
              </a:rPr>
              <a:t>complete</a:t>
            </a:r>
            <a:r>
              <a:rPr lang="da-DK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a-DK" sz="2000" dirty="0" err="1">
                <a:latin typeface="Arial" panose="020B0604020202020204" pitchFamily="34" charset="0"/>
                <a:cs typeface="Arial" panose="020B0604020202020204" pitchFamily="34" charset="0"/>
              </a:rPr>
              <a:t>order</a:t>
            </a:r>
            <a:endParaRPr lang="da-DK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a-DK" sz="2000" dirty="0">
                <a:latin typeface="Arial" panose="020B0604020202020204" pitchFamily="34" charset="0"/>
                <a:cs typeface="Arial" panose="020B0604020202020204" pitchFamily="34" charset="0"/>
              </a:rPr>
              <a:t>Give </a:t>
            </a:r>
            <a:r>
              <a:rPr lang="da-DK" sz="2000" dirty="0" err="1">
                <a:latin typeface="Arial" panose="020B0604020202020204" pitchFamily="34" charset="0"/>
                <a:cs typeface="Arial" panose="020B0604020202020204" pitchFamily="34" charset="0"/>
              </a:rPr>
              <a:t>me</a:t>
            </a:r>
            <a:r>
              <a:rPr lang="da-DK" sz="2000" dirty="0">
                <a:latin typeface="Arial" panose="020B0604020202020204" pitchFamily="34" charset="0"/>
                <a:cs typeface="Arial" panose="020B0604020202020204" pitchFamily="34" charset="0"/>
              </a:rPr>
              <a:t> the shipping status for the </a:t>
            </a:r>
            <a:r>
              <a:rPr lang="da-DK" sz="2000" dirty="0" err="1">
                <a:latin typeface="Arial" panose="020B0604020202020204" pitchFamily="34" charset="0"/>
                <a:cs typeface="Arial" panose="020B0604020202020204" pitchFamily="34" charset="0"/>
              </a:rPr>
              <a:t>order</a:t>
            </a:r>
            <a:endParaRPr lang="da-DK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a-DK" sz="2000" u="sng" dirty="0">
                <a:latin typeface="Arial" panose="020B0604020202020204" pitchFamily="34" charset="0"/>
                <a:cs typeface="Arial" panose="020B0604020202020204" pitchFamily="34" charset="0"/>
              </a:rPr>
              <a:t>Give </a:t>
            </a:r>
            <a:r>
              <a:rPr lang="da-DK" sz="2000" u="sng" dirty="0" err="1">
                <a:latin typeface="Arial" panose="020B0604020202020204" pitchFamily="34" charset="0"/>
                <a:cs typeface="Arial" panose="020B0604020202020204" pitchFamily="34" charset="0"/>
              </a:rPr>
              <a:t>me</a:t>
            </a:r>
            <a:r>
              <a:rPr lang="da-DK" sz="2000" u="sng" dirty="0"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da-DK" sz="2000" u="sng" dirty="0" err="1">
                <a:latin typeface="Arial" panose="020B0604020202020204" pitchFamily="34" charset="0"/>
                <a:cs typeface="Arial" panose="020B0604020202020204" pitchFamily="34" charset="0"/>
              </a:rPr>
              <a:t>customers</a:t>
            </a:r>
            <a:r>
              <a:rPr lang="da-DK" sz="2000" u="sng" dirty="0">
                <a:latin typeface="Arial" panose="020B0604020202020204" pitchFamily="34" charset="0"/>
                <a:cs typeface="Arial" panose="020B0604020202020204" pitchFamily="34" charset="0"/>
              </a:rPr>
              <a:t> last </a:t>
            </a:r>
            <a:r>
              <a:rPr lang="da-DK" sz="2000" u="sng" dirty="0" err="1">
                <a:latin typeface="Arial" panose="020B0604020202020204" pitchFamily="34" charset="0"/>
                <a:cs typeface="Arial" panose="020B0604020202020204" pitchFamily="34" charset="0"/>
              </a:rPr>
              <a:t>review</a:t>
            </a:r>
            <a:endParaRPr lang="da-DK" sz="2000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BE5C97-54A6-1CD8-678B-E7B2EE80359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49227" y="506858"/>
            <a:ext cx="11361737" cy="700425"/>
          </a:xfrm>
        </p:spPr>
        <p:txBody>
          <a:bodyPr anchor="b">
            <a:noAutofit/>
          </a:bodyPr>
          <a:lstStyle/>
          <a:p>
            <a:r>
              <a:rPr lang="da-DK" sz="3600" dirty="0">
                <a:solidFill>
                  <a:schemeClr val="accent5"/>
                </a:solidFill>
              </a:rPr>
              <a:t>2. </a:t>
            </a:r>
            <a:r>
              <a:rPr lang="da-DK" sz="3600" dirty="0" err="1">
                <a:solidFill>
                  <a:schemeClr val="accent5"/>
                </a:solidFill>
              </a:rPr>
              <a:t>Realization</a:t>
            </a:r>
            <a:r>
              <a:rPr lang="da-DK" sz="3600" dirty="0">
                <a:solidFill>
                  <a:schemeClr val="accent5"/>
                </a:solidFill>
              </a:rPr>
              <a:t> Query</a:t>
            </a:r>
            <a:r>
              <a:rPr lang="da-DK" sz="3600" dirty="0">
                <a:solidFill>
                  <a:schemeClr val="bg1"/>
                </a:solidFill>
              </a:rPr>
              <a:t> </a:t>
            </a:r>
            <a:r>
              <a:rPr lang="da-DK" sz="3600" u="sng" dirty="0" err="1">
                <a:solidFill>
                  <a:schemeClr val="accent4"/>
                </a:solidFill>
              </a:rPr>
              <a:t>results</a:t>
            </a:r>
            <a:r>
              <a:rPr lang="da-DK" sz="3600" dirty="0">
                <a:solidFill>
                  <a:schemeClr val="bg1"/>
                </a:solidFill>
              </a:rPr>
              <a:t> </a:t>
            </a:r>
            <a:r>
              <a:rPr lang="da-DK" sz="3600" dirty="0" err="1">
                <a:solidFill>
                  <a:schemeClr val="accent5"/>
                </a:solidFill>
              </a:rPr>
              <a:t>contain</a:t>
            </a:r>
            <a:r>
              <a:rPr lang="da-DK" sz="3600" dirty="0">
                <a:solidFill>
                  <a:schemeClr val="accent5"/>
                </a:solidFill>
              </a:rPr>
              <a:t> </a:t>
            </a:r>
            <a:r>
              <a:rPr lang="da-DK" sz="3600" dirty="0" err="1">
                <a:solidFill>
                  <a:schemeClr val="accent5"/>
                </a:solidFill>
              </a:rPr>
              <a:t>only</a:t>
            </a:r>
            <a:r>
              <a:rPr lang="da-DK" sz="3600" dirty="0">
                <a:solidFill>
                  <a:schemeClr val="accent5"/>
                </a:solidFill>
              </a:rPr>
              <a:t> data –</a:t>
            </a:r>
            <a:r>
              <a:rPr lang="da-DK" sz="3600" dirty="0">
                <a:solidFill>
                  <a:schemeClr val="bg1"/>
                </a:solidFill>
              </a:rPr>
              <a:t> </a:t>
            </a:r>
            <a:r>
              <a:rPr lang="da-DK" sz="3600" dirty="0">
                <a:solidFill>
                  <a:schemeClr val="accent4"/>
                </a:solidFill>
              </a:rPr>
              <a:t>no </a:t>
            </a:r>
            <a:r>
              <a:rPr lang="da-DK" sz="3600" dirty="0" err="1">
                <a:solidFill>
                  <a:schemeClr val="accent4"/>
                </a:solidFill>
              </a:rPr>
              <a:t>logic</a:t>
            </a:r>
            <a:r>
              <a:rPr lang="da-DK" sz="3600" dirty="0">
                <a:solidFill>
                  <a:schemeClr val="accent4"/>
                </a:solidFill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450B69-0ABE-49D1-3852-A5961D62DBCA}"/>
              </a:ext>
            </a:extLst>
          </p:cNvPr>
          <p:cNvSpPr txBox="1"/>
          <p:nvPr/>
        </p:nvSpPr>
        <p:spPr>
          <a:xfrm>
            <a:off x="1981201" y="5249665"/>
            <a:ext cx="86853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4000" dirty="0">
                <a:solidFill>
                  <a:schemeClr val="accent5"/>
                </a:solidFill>
              </a:rPr>
              <a:t>So </a:t>
            </a:r>
            <a:r>
              <a:rPr lang="da-DK" sz="4000" dirty="0" err="1">
                <a:solidFill>
                  <a:schemeClr val="accent5"/>
                </a:solidFill>
              </a:rPr>
              <a:t>why</a:t>
            </a:r>
            <a:r>
              <a:rPr lang="da-DK" sz="4000" dirty="0">
                <a:solidFill>
                  <a:schemeClr val="accent5"/>
                </a:solidFill>
              </a:rPr>
              <a:t> go </a:t>
            </a:r>
            <a:r>
              <a:rPr lang="da-DK" sz="4000" dirty="0" err="1">
                <a:solidFill>
                  <a:schemeClr val="accent5"/>
                </a:solidFill>
              </a:rPr>
              <a:t>through</a:t>
            </a:r>
            <a:r>
              <a:rPr lang="da-DK" sz="4000" dirty="0">
                <a:solidFill>
                  <a:schemeClr val="accent5"/>
                </a:solidFill>
              </a:rPr>
              <a:t> the domain </a:t>
            </a:r>
            <a:r>
              <a:rPr lang="da-DK" sz="4000" dirty="0" err="1">
                <a:solidFill>
                  <a:schemeClr val="accent5"/>
                </a:solidFill>
              </a:rPr>
              <a:t>layer</a:t>
            </a:r>
            <a:r>
              <a:rPr lang="da-DK" sz="4000" dirty="0">
                <a:solidFill>
                  <a:schemeClr val="accent5"/>
                </a:solidFill>
              </a:rPr>
              <a:t>?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9979CEF-D918-6422-DB21-3C9F3E5871BB}"/>
              </a:ext>
            </a:extLst>
          </p:cNvPr>
          <p:cNvGrpSpPr/>
          <p:nvPr/>
        </p:nvGrpSpPr>
        <p:grpSpPr>
          <a:xfrm>
            <a:off x="2870288" y="6126164"/>
            <a:ext cx="5882523" cy="526007"/>
            <a:chOff x="741882" y="5237333"/>
            <a:chExt cx="7201933" cy="91285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C591990-7B94-0AD0-47F1-4063C25CF6C5}"/>
                </a:ext>
              </a:extLst>
            </p:cNvPr>
            <p:cNvSpPr/>
            <p:nvPr/>
          </p:nvSpPr>
          <p:spPr>
            <a:xfrm>
              <a:off x="741882" y="5237333"/>
              <a:ext cx="1236011" cy="912856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sz="1200">
                  <a:solidFill>
                    <a:schemeClr val="tx1"/>
                  </a:solidFill>
                </a:rPr>
                <a:t>UI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D1C5E09-49D2-C755-BB5F-9F1ECC2426F8}"/>
                </a:ext>
              </a:extLst>
            </p:cNvPr>
            <p:cNvSpPr/>
            <p:nvPr/>
          </p:nvSpPr>
          <p:spPr>
            <a:xfrm>
              <a:off x="3849409" y="5237333"/>
              <a:ext cx="1388962" cy="912856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sz="1200">
                  <a:solidFill>
                    <a:schemeClr val="tx1"/>
                  </a:solidFill>
                </a:rPr>
                <a:t>Application</a:t>
              </a:r>
            </a:p>
          </p:txBody>
        </p:sp>
        <p:sp>
          <p:nvSpPr>
            <p:cNvPr id="10" name="Can 9">
              <a:extLst>
                <a:ext uri="{FF2B5EF4-FFF2-40B4-BE49-F238E27FC236}">
                  <a16:creationId xmlns:a16="http://schemas.microsoft.com/office/drawing/2014/main" id="{1156B81C-AC6B-5CA4-0CF6-39D3F409206C}"/>
                </a:ext>
              </a:extLst>
            </p:cNvPr>
            <p:cNvSpPr/>
            <p:nvPr/>
          </p:nvSpPr>
          <p:spPr>
            <a:xfrm>
              <a:off x="6740048" y="5237333"/>
              <a:ext cx="1203767" cy="912856"/>
            </a:xfrm>
            <a:prstGeom prst="can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sz="1200">
                  <a:solidFill>
                    <a:schemeClr val="tx1"/>
                  </a:solidFill>
                </a:rPr>
                <a:t>Data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14B31B9-D9A5-1651-7FAD-E2264F772009}"/>
                </a:ext>
              </a:extLst>
            </p:cNvPr>
            <p:cNvCxnSpPr>
              <a:stCxn id="8" idx="3"/>
              <a:endCxn id="9" idx="1"/>
            </p:cNvCxnSpPr>
            <p:nvPr/>
          </p:nvCxnSpPr>
          <p:spPr>
            <a:xfrm>
              <a:off x="1977893" y="5693761"/>
              <a:ext cx="1871516" cy="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3D5DFBFC-0A8D-A850-1AAC-BF06597FA5F8}"/>
                </a:ext>
              </a:extLst>
            </p:cNvPr>
            <p:cNvCxnSpPr>
              <a:stCxn id="9" idx="3"/>
              <a:endCxn id="10" idx="2"/>
            </p:cNvCxnSpPr>
            <p:nvPr/>
          </p:nvCxnSpPr>
          <p:spPr>
            <a:xfrm>
              <a:off x="5238371" y="5693761"/>
              <a:ext cx="1501677" cy="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01425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1FCC2-CEDE-5121-D22C-28840C99E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CB4FB-FEE2-5167-2744-020AC3ACD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da-DK"/>
              <a:t>Things to </a:t>
            </a:r>
            <a:r>
              <a:rPr lang="da-DK" err="1"/>
              <a:t>think</a:t>
            </a:r>
            <a:r>
              <a:rPr lang="da-DK"/>
              <a:t> </a:t>
            </a:r>
            <a:r>
              <a:rPr lang="da-DK" err="1"/>
              <a:t>about</a:t>
            </a:r>
            <a:r>
              <a:rPr lang="da-DK"/>
              <a:t> in relation to </a:t>
            </a:r>
            <a:r>
              <a:rPr lang="da-DK" err="1"/>
              <a:t>Queries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B4028-1F0F-E7E7-E180-E91B30A7E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46146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2500" err="1">
                <a:latin typeface="+mn-lt"/>
              </a:rPr>
              <a:t>Why</a:t>
            </a:r>
            <a:r>
              <a:rPr lang="da-DK" sz="2500">
                <a:latin typeface="+mn-lt"/>
              </a:rPr>
              <a:t> </a:t>
            </a:r>
            <a:r>
              <a:rPr lang="da-DK" sz="2500" err="1">
                <a:latin typeface="+mn-lt"/>
              </a:rPr>
              <a:t>take</a:t>
            </a:r>
            <a:r>
              <a:rPr lang="da-DK" sz="2500">
                <a:latin typeface="+mn-lt"/>
              </a:rPr>
              <a:t> the </a:t>
            </a:r>
            <a:r>
              <a:rPr lang="da-DK" sz="2500" err="1">
                <a:latin typeface="+mn-lt"/>
              </a:rPr>
              <a:t>pain</a:t>
            </a:r>
            <a:r>
              <a:rPr lang="da-DK" sz="2500">
                <a:latin typeface="+mn-lt"/>
              </a:rPr>
              <a:t> of </a:t>
            </a:r>
            <a:r>
              <a:rPr lang="da-DK" sz="2500" err="1">
                <a:latin typeface="+mn-lt"/>
              </a:rPr>
              <a:t>performing</a:t>
            </a:r>
            <a:r>
              <a:rPr lang="da-DK" sz="2500">
                <a:latin typeface="+mn-lt"/>
              </a:rPr>
              <a:t> JOINS and/or UNIONS of </a:t>
            </a:r>
            <a:r>
              <a:rPr lang="da-DK" sz="2500" err="1">
                <a:latin typeface="+mn-lt"/>
              </a:rPr>
              <a:t>our</a:t>
            </a:r>
            <a:r>
              <a:rPr lang="da-DK" sz="2500">
                <a:latin typeface="+mn-lt"/>
              </a:rPr>
              <a:t> </a:t>
            </a:r>
            <a:r>
              <a:rPr lang="da-DK" sz="2500" err="1">
                <a:latin typeface="+mn-lt"/>
              </a:rPr>
              <a:t>nicely</a:t>
            </a:r>
            <a:r>
              <a:rPr lang="da-DK" sz="2500">
                <a:latin typeface="+mn-lt"/>
              </a:rPr>
              <a:t> </a:t>
            </a:r>
            <a:r>
              <a:rPr lang="da-DK" sz="2500" err="1">
                <a:latin typeface="+mn-lt"/>
              </a:rPr>
              <a:t>normalized</a:t>
            </a:r>
            <a:r>
              <a:rPr lang="da-DK" sz="2500">
                <a:latin typeface="+mn-lt"/>
              </a:rPr>
              <a:t> </a:t>
            </a:r>
            <a:r>
              <a:rPr lang="da-DK" sz="2500" err="1">
                <a:latin typeface="+mn-lt"/>
              </a:rPr>
              <a:t>Relational</a:t>
            </a:r>
            <a:r>
              <a:rPr lang="da-DK" sz="2500">
                <a:latin typeface="+mn-lt"/>
              </a:rPr>
              <a:t> Model?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2500" err="1">
                <a:latin typeface="+mn-lt"/>
              </a:rPr>
              <a:t>Why</a:t>
            </a:r>
            <a:r>
              <a:rPr lang="da-DK" sz="2500">
                <a:latin typeface="+mn-lt"/>
              </a:rPr>
              <a:t> not </a:t>
            </a:r>
            <a:r>
              <a:rPr lang="da-DK" sz="2500" err="1">
                <a:latin typeface="+mn-lt"/>
              </a:rPr>
              <a:t>having</a:t>
            </a:r>
            <a:r>
              <a:rPr lang="da-DK" sz="2500">
                <a:latin typeface="+mn-lt"/>
              </a:rPr>
              <a:t> a </a:t>
            </a:r>
            <a:r>
              <a:rPr lang="da-DK" sz="2500" err="1">
                <a:latin typeface="+mn-lt"/>
              </a:rPr>
              <a:t>completely</a:t>
            </a:r>
            <a:r>
              <a:rPr lang="da-DK" sz="2500">
                <a:latin typeface="+mn-lt"/>
              </a:rPr>
              <a:t> </a:t>
            </a:r>
            <a:r>
              <a:rPr lang="da-DK" sz="2500" err="1">
                <a:solidFill>
                  <a:schemeClr val="accent4"/>
                </a:solidFill>
                <a:latin typeface="+mn-lt"/>
              </a:rPr>
              <a:t>denormalized</a:t>
            </a:r>
            <a:r>
              <a:rPr lang="da-DK" sz="2500">
                <a:latin typeface="+mn-lt"/>
              </a:rPr>
              <a:t> data model (or View) to support </a:t>
            </a:r>
            <a:r>
              <a:rPr lang="da-DK" sz="2500" err="1">
                <a:latin typeface="+mn-lt"/>
              </a:rPr>
              <a:t>our</a:t>
            </a:r>
            <a:r>
              <a:rPr lang="da-DK" sz="2500">
                <a:latin typeface="+mn-lt"/>
              </a:rPr>
              <a:t> Query?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2500" err="1">
                <a:latin typeface="+mn-lt"/>
              </a:rPr>
              <a:t>When</a:t>
            </a:r>
            <a:r>
              <a:rPr lang="da-DK" sz="2500">
                <a:latin typeface="+mn-lt"/>
              </a:rPr>
              <a:t> </a:t>
            </a:r>
            <a:r>
              <a:rPr lang="da-DK" sz="2500" err="1">
                <a:latin typeface="+mn-lt"/>
              </a:rPr>
              <a:t>we</a:t>
            </a:r>
            <a:r>
              <a:rPr lang="da-DK" sz="2500">
                <a:latin typeface="+mn-lt"/>
              </a:rPr>
              <a:t> </a:t>
            </a:r>
            <a:r>
              <a:rPr lang="da-DK" sz="2500" err="1">
                <a:latin typeface="+mn-lt"/>
              </a:rPr>
              <a:t>completely</a:t>
            </a:r>
            <a:r>
              <a:rPr lang="da-DK" sz="2500">
                <a:latin typeface="+mn-lt"/>
              </a:rPr>
              <a:t> </a:t>
            </a:r>
            <a:r>
              <a:rPr lang="da-DK" sz="2500" err="1">
                <a:solidFill>
                  <a:schemeClr val="accent4"/>
                </a:solidFill>
                <a:latin typeface="+mn-lt"/>
              </a:rPr>
              <a:t>denormalize</a:t>
            </a:r>
            <a:r>
              <a:rPr lang="da-DK" sz="2500">
                <a:latin typeface="+mn-lt"/>
              </a:rPr>
              <a:t> </a:t>
            </a:r>
            <a:r>
              <a:rPr lang="da-DK" sz="2500" err="1">
                <a:latin typeface="+mn-lt"/>
              </a:rPr>
              <a:t>our</a:t>
            </a:r>
            <a:r>
              <a:rPr lang="da-DK" sz="2500">
                <a:latin typeface="+mn-lt"/>
              </a:rPr>
              <a:t> data, do </a:t>
            </a:r>
            <a:r>
              <a:rPr lang="da-DK" sz="2500" err="1">
                <a:latin typeface="+mn-lt"/>
              </a:rPr>
              <a:t>we</a:t>
            </a:r>
            <a:r>
              <a:rPr lang="da-DK" sz="2500">
                <a:latin typeface="+mn-lt"/>
              </a:rPr>
              <a:t> </a:t>
            </a:r>
            <a:r>
              <a:rPr lang="da-DK" sz="2500" err="1">
                <a:latin typeface="+mn-lt"/>
              </a:rPr>
              <a:t>really</a:t>
            </a:r>
            <a:r>
              <a:rPr lang="da-DK" sz="2500">
                <a:latin typeface="+mn-lt"/>
              </a:rPr>
              <a:t> </a:t>
            </a:r>
            <a:r>
              <a:rPr lang="da-DK" sz="2500" err="1">
                <a:latin typeface="+mn-lt"/>
              </a:rPr>
              <a:t>need</a:t>
            </a:r>
            <a:r>
              <a:rPr lang="da-DK" sz="2500">
                <a:latin typeface="+mn-lt"/>
              </a:rPr>
              <a:t> a </a:t>
            </a:r>
            <a:r>
              <a:rPr lang="da-DK" sz="2500" err="1">
                <a:latin typeface="+mn-lt"/>
              </a:rPr>
              <a:t>relational</a:t>
            </a:r>
            <a:r>
              <a:rPr lang="da-DK" sz="2500">
                <a:latin typeface="+mn-lt"/>
              </a:rPr>
              <a:t> database or </a:t>
            </a:r>
            <a:r>
              <a:rPr lang="da-DK" sz="2500" err="1">
                <a:latin typeface="+mn-lt"/>
              </a:rPr>
              <a:t>could</a:t>
            </a:r>
            <a:r>
              <a:rPr lang="da-DK" sz="2500">
                <a:latin typeface="+mn-lt"/>
              </a:rPr>
              <a:t> </a:t>
            </a:r>
            <a:r>
              <a:rPr lang="da-DK" sz="2500" err="1">
                <a:latin typeface="+mn-lt"/>
              </a:rPr>
              <a:t>we</a:t>
            </a:r>
            <a:r>
              <a:rPr lang="da-DK" sz="2500">
                <a:latin typeface="+mn-lt"/>
              </a:rPr>
              <a:t> </a:t>
            </a:r>
            <a:r>
              <a:rPr lang="da-DK" sz="2500" err="1">
                <a:latin typeface="+mn-lt"/>
              </a:rPr>
              <a:t>use</a:t>
            </a:r>
            <a:r>
              <a:rPr lang="da-DK" sz="2500">
                <a:latin typeface="+mn-lt"/>
              </a:rPr>
              <a:t> a </a:t>
            </a:r>
            <a:r>
              <a:rPr lang="da-DK" sz="2500">
                <a:solidFill>
                  <a:schemeClr val="accent4"/>
                </a:solidFill>
                <a:latin typeface="+mn-lt"/>
              </a:rPr>
              <a:t>Key/Value- </a:t>
            </a:r>
            <a:r>
              <a:rPr lang="da-DK" sz="2500">
                <a:latin typeface="+mn-lt"/>
              </a:rPr>
              <a:t>or </a:t>
            </a:r>
            <a:r>
              <a:rPr lang="da-DK" sz="2500">
                <a:solidFill>
                  <a:schemeClr val="accent4"/>
                </a:solidFill>
                <a:latin typeface="+mn-lt"/>
              </a:rPr>
              <a:t>Document Store</a:t>
            </a:r>
            <a:r>
              <a:rPr lang="da-DK" sz="2500">
                <a:latin typeface="+mn-lt"/>
              </a:rPr>
              <a:t>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2500">
                <a:latin typeface="+mn-lt"/>
              </a:rPr>
              <a:t>Do </a:t>
            </a:r>
            <a:r>
              <a:rPr lang="da-DK" sz="2500" err="1">
                <a:latin typeface="+mn-lt"/>
              </a:rPr>
              <a:t>we</a:t>
            </a:r>
            <a:r>
              <a:rPr lang="da-DK" sz="2500">
                <a:latin typeface="+mn-lt"/>
              </a:rPr>
              <a:t> </a:t>
            </a:r>
            <a:r>
              <a:rPr lang="da-DK" sz="2500" err="1">
                <a:latin typeface="+mn-lt"/>
              </a:rPr>
              <a:t>need</a:t>
            </a:r>
            <a:r>
              <a:rPr lang="da-DK" sz="2500">
                <a:latin typeface="+mn-lt"/>
              </a:rPr>
              <a:t> </a:t>
            </a:r>
            <a:r>
              <a:rPr lang="da-DK" sz="2500" err="1">
                <a:latin typeface="+mn-lt"/>
              </a:rPr>
              <a:t>our</a:t>
            </a:r>
            <a:r>
              <a:rPr lang="da-DK" sz="2500">
                <a:latin typeface="+mn-lt"/>
              </a:rPr>
              <a:t> Read Data to up to the </a:t>
            </a:r>
            <a:r>
              <a:rPr lang="da-DK" sz="2500" err="1">
                <a:latin typeface="+mn-lt"/>
              </a:rPr>
              <a:t>microsecond</a:t>
            </a:r>
            <a:r>
              <a:rPr lang="da-DK" sz="2500">
                <a:latin typeface="+mn-lt"/>
              </a:rPr>
              <a:t> </a:t>
            </a:r>
            <a:r>
              <a:rPr lang="da-DK" sz="2500" err="1">
                <a:latin typeface="+mn-lt"/>
              </a:rPr>
              <a:t>consistent</a:t>
            </a:r>
            <a:r>
              <a:rPr lang="da-DK" sz="2500">
                <a:latin typeface="+mn-lt"/>
              </a:rPr>
              <a:t> with </a:t>
            </a:r>
            <a:r>
              <a:rPr lang="da-DK" sz="2500" err="1">
                <a:latin typeface="+mn-lt"/>
              </a:rPr>
              <a:t>our</a:t>
            </a:r>
            <a:r>
              <a:rPr lang="da-DK" sz="2500">
                <a:latin typeface="+mn-lt"/>
              </a:rPr>
              <a:t> Write data?</a:t>
            </a:r>
          </a:p>
        </p:txBody>
      </p:sp>
    </p:spTree>
    <p:extLst>
      <p:ext uri="{BB962C8B-B14F-4D97-AF65-F5344CB8AC3E}">
        <p14:creationId xmlns:p14="http://schemas.microsoft.com/office/powerpoint/2010/main" val="716766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38200" y="2001838"/>
            <a:ext cx="10515600" cy="2854325"/>
          </a:xfrm>
        </p:spPr>
        <p:txBody>
          <a:bodyPr>
            <a:normAutofit/>
          </a:bodyPr>
          <a:lstStyle/>
          <a:p>
            <a:pPr algn="ctr"/>
            <a:r>
              <a:rPr lang="da-DK" sz="5400"/>
              <a:t>So </a:t>
            </a:r>
            <a:r>
              <a:rPr lang="da-DK" sz="5400" err="1"/>
              <a:t>how</a:t>
            </a:r>
            <a:r>
              <a:rPr lang="da-DK" sz="5400"/>
              <a:t> is </a:t>
            </a:r>
            <a:r>
              <a:rPr lang="da-DK" sz="5400" err="1"/>
              <a:t>this</a:t>
            </a:r>
            <a:r>
              <a:rPr lang="da-DK" sz="5400"/>
              <a:t> relevant in the real </a:t>
            </a:r>
            <a:r>
              <a:rPr lang="da-DK" sz="5400" err="1"/>
              <a:t>world</a:t>
            </a:r>
            <a:r>
              <a:rPr lang="da-DK" sz="5400"/>
              <a:t>?</a:t>
            </a:r>
            <a:br>
              <a:rPr lang="da-DK" sz="5400"/>
            </a:br>
            <a:br>
              <a:rPr lang="da-DK" sz="5400"/>
            </a:br>
            <a:endParaRPr lang="da-DK" sz="5400"/>
          </a:p>
        </p:txBody>
      </p:sp>
      <p:sp>
        <p:nvSpPr>
          <p:cNvPr id="3" name="Subtitle 3"/>
          <p:cNvSpPr txBox="1">
            <a:spLocks/>
          </p:cNvSpPr>
          <p:nvPr/>
        </p:nvSpPr>
        <p:spPr>
          <a:xfrm>
            <a:off x="2895600" y="3374277"/>
            <a:ext cx="6400800" cy="17526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a-DK" dirty="0" err="1">
                <a:solidFill>
                  <a:schemeClr val="accent2"/>
                </a:solidFill>
              </a:rPr>
              <a:t>Let’s</a:t>
            </a:r>
            <a:r>
              <a:rPr lang="da-DK" dirty="0">
                <a:solidFill>
                  <a:schemeClr val="accent2"/>
                </a:solidFill>
              </a:rPr>
              <a:t> look at a real </a:t>
            </a:r>
            <a:r>
              <a:rPr lang="da-DK" dirty="0" err="1">
                <a:solidFill>
                  <a:schemeClr val="accent2"/>
                </a:solidFill>
              </a:rPr>
              <a:t>life</a:t>
            </a:r>
            <a:r>
              <a:rPr lang="da-DK" dirty="0">
                <a:solidFill>
                  <a:schemeClr val="accent2"/>
                </a:solidFill>
              </a:rPr>
              <a:t> scenario</a:t>
            </a:r>
          </a:p>
        </p:txBody>
      </p:sp>
    </p:spTree>
    <p:extLst>
      <p:ext uri="{BB962C8B-B14F-4D97-AF65-F5344CB8AC3E}">
        <p14:creationId xmlns:p14="http://schemas.microsoft.com/office/powerpoint/2010/main" val="2136734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5448B-3ED1-3348-56F4-1C7D80422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5C7EF8-EC03-6899-CD7F-CA49F142EF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8800" y="1302363"/>
            <a:ext cx="2412000" cy="2412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6898EC6-22E7-CE99-44E6-9BD818E8B3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5419" y="1198506"/>
            <a:ext cx="2384354" cy="2384355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DE17D3-0E4C-1CC0-A694-A4641672BF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Collaborative domains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F8BDC0-1DC7-B1D4-169E-5BC9448715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3420" y="1417638"/>
            <a:ext cx="1034650" cy="10346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FE0252E-15AC-E7FD-A95E-D7F7FA9521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1981200" y="1417639"/>
            <a:ext cx="1162938" cy="10907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43092E7-C7A9-38E2-572B-CA51FE4AB8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49266" y="3068644"/>
            <a:ext cx="3418442" cy="3418443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3220D94A-5A3D-C9B8-DCB5-FD155B22F5ED}"/>
              </a:ext>
            </a:extLst>
          </p:cNvPr>
          <p:cNvGrpSpPr/>
          <p:nvPr/>
        </p:nvGrpSpPr>
        <p:grpSpPr>
          <a:xfrm>
            <a:off x="4182099" y="2491699"/>
            <a:ext cx="1402110" cy="856727"/>
            <a:chOff x="1911013" y="3486608"/>
            <a:chExt cx="1402110" cy="856727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E3AB69B-583D-7CA2-CC98-D76F63F8F779}"/>
                </a:ext>
              </a:extLst>
            </p:cNvPr>
            <p:cNvCxnSpPr/>
            <p:nvPr/>
          </p:nvCxnSpPr>
          <p:spPr>
            <a:xfrm>
              <a:off x="1911013" y="3486608"/>
              <a:ext cx="1132648" cy="856727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none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7DAEC98-58AE-3B74-BAC3-2D9FA8CCEF7E}"/>
                </a:ext>
              </a:extLst>
            </p:cNvPr>
            <p:cNvSpPr txBox="1"/>
            <p:nvPr/>
          </p:nvSpPr>
          <p:spPr>
            <a:xfrm>
              <a:off x="2320544" y="3486608"/>
              <a:ext cx="9925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/>
                <a:t>1. Read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EB6E55C-A3DD-8D6E-4278-BA2EBE7F84C2}"/>
              </a:ext>
            </a:extLst>
          </p:cNvPr>
          <p:cNvGrpSpPr/>
          <p:nvPr/>
        </p:nvGrpSpPr>
        <p:grpSpPr>
          <a:xfrm>
            <a:off x="6525295" y="2412851"/>
            <a:ext cx="1515771" cy="1073759"/>
            <a:chOff x="5091680" y="3561463"/>
            <a:chExt cx="1211418" cy="781872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E67CC93C-0607-847E-A72F-0A612937700E}"/>
                </a:ext>
              </a:extLst>
            </p:cNvPr>
            <p:cNvCxnSpPr/>
            <p:nvPr/>
          </p:nvCxnSpPr>
          <p:spPr>
            <a:xfrm flipH="1">
              <a:off x="5166345" y="3582859"/>
              <a:ext cx="1136753" cy="760476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none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977A4AC-986A-B307-08BB-5FF125C5DA3A}"/>
                </a:ext>
              </a:extLst>
            </p:cNvPr>
            <p:cNvSpPr txBox="1"/>
            <p:nvPr/>
          </p:nvSpPr>
          <p:spPr>
            <a:xfrm>
              <a:off x="5091680" y="3561463"/>
              <a:ext cx="793278" cy="2689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/>
                <a:t>2. Read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D662F54-8A6C-7C49-9416-00F59DD9EDAE}"/>
              </a:ext>
            </a:extLst>
          </p:cNvPr>
          <p:cNvGrpSpPr/>
          <p:nvPr/>
        </p:nvGrpSpPr>
        <p:grpSpPr>
          <a:xfrm>
            <a:off x="2617379" y="3068644"/>
            <a:ext cx="1842394" cy="1515359"/>
            <a:chOff x="1016197" y="3999667"/>
            <a:chExt cx="1234341" cy="903516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17080230-201E-DD92-B1B7-335AAFC0CFCA}"/>
                </a:ext>
              </a:extLst>
            </p:cNvPr>
            <p:cNvCxnSpPr/>
            <p:nvPr/>
          </p:nvCxnSpPr>
          <p:spPr>
            <a:xfrm>
              <a:off x="1016197" y="3999667"/>
              <a:ext cx="1234341" cy="903516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none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4D42AAF-1B2D-D23A-9FCB-C09AB039D556}"/>
                </a:ext>
              </a:extLst>
            </p:cNvPr>
            <p:cNvSpPr txBox="1"/>
            <p:nvPr/>
          </p:nvSpPr>
          <p:spPr>
            <a:xfrm>
              <a:off x="1030747" y="4537718"/>
              <a:ext cx="793869" cy="220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/>
                <a:t>4. Update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940D28E-7A71-1717-0BE4-3613C076860B}"/>
              </a:ext>
            </a:extLst>
          </p:cNvPr>
          <p:cNvGrpSpPr/>
          <p:nvPr/>
        </p:nvGrpSpPr>
        <p:grpSpPr>
          <a:xfrm>
            <a:off x="6910378" y="2861862"/>
            <a:ext cx="1616789" cy="1663189"/>
            <a:chOff x="5971495" y="3162057"/>
            <a:chExt cx="1616789" cy="1663189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ED61113-AF25-FD0B-1F9B-17E5026391D5}"/>
                </a:ext>
              </a:extLst>
            </p:cNvPr>
            <p:cNvSpPr txBox="1"/>
            <p:nvPr/>
          </p:nvSpPr>
          <p:spPr>
            <a:xfrm>
              <a:off x="5971495" y="4455914"/>
              <a:ext cx="16167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>
                  <a:solidFill>
                    <a:schemeClr val="accent4"/>
                  </a:solidFill>
                </a:rPr>
                <a:t>3. </a:t>
              </a:r>
              <a:r>
                <a:rPr lang="da-DK" err="1">
                  <a:solidFill>
                    <a:schemeClr val="accent4"/>
                  </a:solidFill>
                </a:rPr>
                <a:t>Coffee</a:t>
              </a:r>
              <a:r>
                <a:rPr lang="da-DK">
                  <a:solidFill>
                    <a:schemeClr val="accent4"/>
                  </a:solidFill>
                </a:rPr>
                <a:t> time</a:t>
              </a: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EC4CD29-BAA9-3FA1-98E2-69ECD145503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flipH="1">
              <a:off x="6137834" y="3162057"/>
              <a:ext cx="1433731" cy="1537475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B4833D6-2DDC-013F-E65C-52EB8ED77C3B}"/>
              </a:ext>
            </a:extLst>
          </p:cNvPr>
          <p:cNvGrpSpPr/>
          <p:nvPr/>
        </p:nvGrpSpPr>
        <p:grpSpPr>
          <a:xfrm>
            <a:off x="6781398" y="3393807"/>
            <a:ext cx="3458099" cy="2109880"/>
            <a:chOff x="5166347" y="2790529"/>
            <a:chExt cx="2478512" cy="1552806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50ADD090-1505-4A0D-4A42-FDF9D4124EBC}"/>
                </a:ext>
              </a:extLst>
            </p:cNvPr>
            <p:cNvCxnSpPr/>
            <p:nvPr/>
          </p:nvCxnSpPr>
          <p:spPr>
            <a:xfrm flipH="1">
              <a:off x="5166347" y="2790529"/>
              <a:ext cx="2478512" cy="1552806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none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D9F13B1-54FF-422A-3686-7137BAA7B28C}"/>
                </a:ext>
              </a:extLst>
            </p:cNvPr>
            <p:cNvSpPr txBox="1"/>
            <p:nvPr/>
          </p:nvSpPr>
          <p:spPr>
            <a:xfrm>
              <a:off x="5739153" y="3993134"/>
              <a:ext cx="1060678" cy="2718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/>
                <a:t>5. </a:t>
              </a:r>
              <a:r>
                <a:rPr lang="da-DK" err="1"/>
                <a:t>Stale</a:t>
              </a:r>
              <a:r>
                <a:rPr lang="da-DK"/>
                <a:t> 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70795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E4D587-716D-A97A-56FB-BC484D1BC4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a-DK" err="1"/>
              <a:t>We’re</a:t>
            </a:r>
            <a:r>
              <a:rPr lang="da-DK"/>
              <a:t> </a:t>
            </a:r>
            <a:r>
              <a:rPr lang="da-DK" err="1"/>
              <a:t>working</a:t>
            </a:r>
            <a:r>
              <a:rPr lang="da-DK"/>
              <a:t> with </a:t>
            </a:r>
            <a:r>
              <a:rPr lang="da-DK" err="1"/>
              <a:t>stale</a:t>
            </a:r>
            <a:r>
              <a:rPr lang="da-DK"/>
              <a:t> data</a:t>
            </a:r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 rot="19448188">
            <a:off x="2574719" y="3673107"/>
            <a:ext cx="6343968" cy="970007"/>
            <a:chOff x="517320" y="2652024"/>
            <a:chExt cx="6343968" cy="970007"/>
          </a:xfrm>
        </p:grpSpPr>
        <p:sp>
          <p:nvSpPr>
            <p:cNvPr id="3" name="Rounded Rectangle 2"/>
            <p:cNvSpPr/>
            <p:nvPr/>
          </p:nvSpPr>
          <p:spPr>
            <a:xfrm>
              <a:off x="517320" y="2652024"/>
              <a:ext cx="6343968" cy="970007"/>
            </a:xfrm>
            <a:prstGeom prst="roundRect">
              <a:avLst/>
            </a:prstGeom>
            <a:noFill/>
            <a:ln w="34925">
              <a:solidFill>
                <a:schemeClr val="accent4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774056" y="2832999"/>
              <a:ext cx="5957681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sz="3200" err="1">
                  <a:solidFill>
                    <a:schemeClr val="accent4"/>
                  </a:solidFill>
                  <a:latin typeface="Arial Rounded MT Bold"/>
                  <a:cs typeface="Arial Rounded MT Bold"/>
                </a:rPr>
                <a:t>Optimistic</a:t>
              </a:r>
              <a:r>
                <a:rPr lang="da-DK" sz="3200">
                  <a:solidFill>
                    <a:schemeClr val="accent4"/>
                  </a:solidFill>
                  <a:latin typeface="Arial Rounded MT Bold"/>
                  <a:cs typeface="Arial Rounded MT Bold"/>
                </a:rPr>
                <a:t> </a:t>
              </a:r>
              <a:r>
                <a:rPr lang="da-DK" sz="3200" err="1">
                  <a:solidFill>
                    <a:schemeClr val="accent4"/>
                  </a:solidFill>
                  <a:latin typeface="Arial Rounded MT Bold"/>
                  <a:cs typeface="Arial Rounded MT Bold"/>
                </a:rPr>
                <a:t>Locking</a:t>
              </a:r>
              <a:r>
                <a:rPr lang="da-DK" sz="3200">
                  <a:solidFill>
                    <a:schemeClr val="accent4"/>
                  </a:solidFill>
                  <a:latin typeface="Arial Rounded MT Bold"/>
                  <a:cs typeface="Arial Rounded MT Bold"/>
                </a:rPr>
                <a:t> </a:t>
              </a:r>
              <a:r>
                <a:rPr lang="da-DK" sz="3200" err="1">
                  <a:solidFill>
                    <a:schemeClr val="accent4"/>
                  </a:solidFill>
                  <a:latin typeface="Arial Rounded MT Bold"/>
                  <a:cs typeface="Arial Rounded MT Bold"/>
                </a:rPr>
                <a:t>Exception</a:t>
              </a:r>
              <a:endParaRPr lang="da-DK" sz="3200">
                <a:solidFill>
                  <a:schemeClr val="accent4"/>
                </a:solidFill>
                <a:latin typeface="Arial Rounded MT Bold"/>
                <a:cs typeface="Arial Rounded MT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80300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B8F3A-4EC5-0FD7-7A80-9CBBADADF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D81AF0-02A8-61EC-4815-D534E5CAEC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We’re always working with stale data!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B74823-7278-43B9-64C9-0C1DF7E5B9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6604" y="1491475"/>
            <a:ext cx="892638" cy="8926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EEAD26-F61C-4790-7CF1-F4A4876019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2969476" y="1197288"/>
            <a:ext cx="857129" cy="8039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47D552A-865C-B394-BCE4-D2FA592D5C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6605" y="3116099"/>
            <a:ext cx="840951" cy="6498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A2BE8F2-25E3-77CA-EC7A-850A3AC2C2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6602" y="4179412"/>
            <a:ext cx="1032641" cy="10326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51728C7-4F74-F534-FDFC-80829D8935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26605" y="5669217"/>
            <a:ext cx="737127" cy="737127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20F04732-1352-1D62-137D-C190FE39F385}"/>
              </a:ext>
            </a:extLst>
          </p:cNvPr>
          <p:cNvGrpSpPr/>
          <p:nvPr/>
        </p:nvGrpSpPr>
        <p:grpSpPr>
          <a:xfrm>
            <a:off x="3229272" y="2384114"/>
            <a:ext cx="811441" cy="731985"/>
            <a:chOff x="1705271" y="2384113"/>
            <a:chExt cx="811441" cy="731985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96A789A-D62D-E13A-621B-E9F277DAB42F}"/>
                </a:ext>
              </a:extLst>
            </p:cNvPr>
            <p:cNvCxnSpPr/>
            <p:nvPr/>
          </p:nvCxnSpPr>
          <p:spPr>
            <a:xfrm>
              <a:off x="2508542" y="2384113"/>
              <a:ext cx="0" cy="73198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B570FCA-7752-3694-EB67-653A2835C07A}"/>
                </a:ext>
              </a:extLst>
            </p:cNvPr>
            <p:cNvSpPr txBox="1"/>
            <p:nvPr/>
          </p:nvSpPr>
          <p:spPr>
            <a:xfrm>
              <a:off x="1705271" y="2554842"/>
              <a:ext cx="8114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>
                  <a:solidFill>
                    <a:schemeClr val="bg1"/>
                  </a:solidFill>
                </a:rPr>
                <a:t>20 ms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629B882-EB43-ED94-BFA7-AF4E983073E3}"/>
              </a:ext>
            </a:extLst>
          </p:cNvPr>
          <p:cNvGrpSpPr/>
          <p:nvPr/>
        </p:nvGrpSpPr>
        <p:grpSpPr>
          <a:xfrm>
            <a:off x="3274676" y="3758645"/>
            <a:ext cx="757867" cy="420767"/>
            <a:chOff x="1750675" y="3758644"/>
            <a:chExt cx="757867" cy="420767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8611757A-56A3-CA61-2BC3-DB7E12742485}"/>
                </a:ext>
              </a:extLst>
            </p:cNvPr>
            <p:cNvCxnSpPr/>
            <p:nvPr/>
          </p:nvCxnSpPr>
          <p:spPr>
            <a:xfrm>
              <a:off x="2508542" y="3765901"/>
              <a:ext cx="0" cy="41351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6AEB134-ECE9-41AF-ECF7-1AA523D5CB30}"/>
                </a:ext>
              </a:extLst>
            </p:cNvPr>
            <p:cNvSpPr txBox="1"/>
            <p:nvPr/>
          </p:nvSpPr>
          <p:spPr>
            <a:xfrm>
              <a:off x="1750675" y="3758644"/>
              <a:ext cx="6832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>
                  <a:solidFill>
                    <a:schemeClr val="bg1"/>
                  </a:solidFill>
                </a:rPr>
                <a:t>1 ms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53A0580-E744-7235-C541-23D4F183F391}"/>
              </a:ext>
            </a:extLst>
          </p:cNvPr>
          <p:cNvGrpSpPr/>
          <p:nvPr/>
        </p:nvGrpSpPr>
        <p:grpSpPr>
          <a:xfrm>
            <a:off x="3803217" y="5212053"/>
            <a:ext cx="939681" cy="1489305"/>
            <a:chOff x="2279216" y="5212052"/>
            <a:chExt cx="939681" cy="1489305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6C3BA3AA-FB18-90D8-707F-F0016CEAFAC9}"/>
                </a:ext>
              </a:extLst>
            </p:cNvPr>
            <p:cNvCxnSpPr/>
            <p:nvPr/>
          </p:nvCxnSpPr>
          <p:spPr>
            <a:xfrm>
              <a:off x="2454194" y="5212052"/>
              <a:ext cx="0" cy="51802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83B17D3B-8B60-90D9-F924-2493B47EBFF7}"/>
                </a:ext>
              </a:extLst>
            </p:cNvPr>
            <p:cNvCxnSpPr/>
            <p:nvPr/>
          </p:nvCxnSpPr>
          <p:spPr>
            <a:xfrm flipV="1">
              <a:off x="2820726" y="5212052"/>
              <a:ext cx="0" cy="45716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D4203EC-5413-5C56-8C93-6BF83DA8322B}"/>
                </a:ext>
              </a:extLst>
            </p:cNvPr>
            <p:cNvSpPr txBox="1"/>
            <p:nvPr/>
          </p:nvSpPr>
          <p:spPr>
            <a:xfrm>
              <a:off x="2279216" y="6332025"/>
              <a:ext cx="9396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>
                  <a:solidFill>
                    <a:schemeClr val="bg1"/>
                  </a:solidFill>
                </a:rPr>
                <a:t>100 ms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2E2418C4-C592-1CDA-7C81-0AE92BCB6C62}"/>
              </a:ext>
            </a:extLst>
          </p:cNvPr>
          <p:cNvSpPr txBox="1"/>
          <p:nvPr/>
        </p:nvSpPr>
        <p:spPr>
          <a:xfrm>
            <a:off x="4468201" y="4504332"/>
            <a:ext cx="939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>
                <a:solidFill>
                  <a:schemeClr val="bg1"/>
                </a:solidFill>
              </a:rPr>
              <a:t>100 ms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A19153-E15A-CA25-C6D7-FA116EBD062A}"/>
              </a:ext>
            </a:extLst>
          </p:cNvPr>
          <p:cNvSpPr txBox="1"/>
          <p:nvPr/>
        </p:nvSpPr>
        <p:spPr>
          <a:xfrm>
            <a:off x="3113856" y="4499361"/>
            <a:ext cx="939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>
                <a:solidFill>
                  <a:schemeClr val="bg1"/>
                </a:solidFill>
              </a:rPr>
              <a:t>100 ms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395139E-49B5-5E81-6D31-914501D922A8}"/>
              </a:ext>
            </a:extLst>
          </p:cNvPr>
          <p:cNvGrpSpPr/>
          <p:nvPr/>
        </p:nvGrpSpPr>
        <p:grpSpPr>
          <a:xfrm>
            <a:off x="4408521" y="3722247"/>
            <a:ext cx="838411" cy="457164"/>
            <a:chOff x="2884520" y="3722247"/>
            <a:chExt cx="838411" cy="457164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17FD525B-CAEC-E566-12E5-97861AD4096B}"/>
                </a:ext>
              </a:extLst>
            </p:cNvPr>
            <p:cNvCxnSpPr/>
            <p:nvPr/>
          </p:nvCxnSpPr>
          <p:spPr>
            <a:xfrm flipV="1">
              <a:off x="2884520" y="3722247"/>
              <a:ext cx="0" cy="45716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082CEEF-BC87-7C79-AE08-1CC5D3F95029}"/>
                </a:ext>
              </a:extLst>
            </p:cNvPr>
            <p:cNvSpPr txBox="1"/>
            <p:nvPr/>
          </p:nvSpPr>
          <p:spPr>
            <a:xfrm>
              <a:off x="3039731" y="3770638"/>
              <a:ext cx="6832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>
                  <a:solidFill>
                    <a:schemeClr val="bg1"/>
                  </a:solidFill>
                </a:rPr>
                <a:t>1 ms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9ED6A6F-C759-1BF4-D7D1-E67F72A5637D}"/>
              </a:ext>
            </a:extLst>
          </p:cNvPr>
          <p:cNvGrpSpPr/>
          <p:nvPr/>
        </p:nvGrpSpPr>
        <p:grpSpPr>
          <a:xfrm>
            <a:off x="4408520" y="2384114"/>
            <a:ext cx="966652" cy="731985"/>
            <a:chOff x="2884520" y="2384113"/>
            <a:chExt cx="966652" cy="731985"/>
          </a:xfrm>
        </p:grpSpPr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0E20ED2C-8AF4-6FEF-E23E-7A53129CCF2E}"/>
                </a:ext>
              </a:extLst>
            </p:cNvPr>
            <p:cNvCxnSpPr/>
            <p:nvPr/>
          </p:nvCxnSpPr>
          <p:spPr>
            <a:xfrm flipV="1">
              <a:off x="2884520" y="2384113"/>
              <a:ext cx="0" cy="73198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D6EF5AC-1CE6-1B48-6D8A-4A502ADA4089}"/>
                </a:ext>
              </a:extLst>
            </p:cNvPr>
            <p:cNvSpPr txBox="1"/>
            <p:nvPr/>
          </p:nvSpPr>
          <p:spPr>
            <a:xfrm>
              <a:off x="3039731" y="2554842"/>
              <a:ext cx="8114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>
                  <a:solidFill>
                    <a:schemeClr val="bg1"/>
                  </a:solidFill>
                </a:rPr>
                <a:t>20 ms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0CCA5352-50B1-5A56-2130-A7AE5A7E7EF5}"/>
              </a:ext>
            </a:extLst>
          </p:cNvPr>
          <p:cNvSpPr txBox="1"/>
          <p:nvPr/>
        </p:nvSpPr>
        <p:spPr>
          <a:xfrm>
            <a:off x="5858385" y="2965256"/>
            <a:ext cx="5495415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a-DK" sz="2800" b="1">
                <a:solidFill>
                  <a:schemeClr val="accent5"/>
                </a:solidFill>
              </a:rPr>
              <a:t>At </a:t>
            </a:r>
            <a:r>
              <a:rPr lang="da-DK" sz="2800" b="1" err="1">
                <a:solidFill>
                  <a:schemeClr val="accent5"/>
                </a:solidFill>
              </a:rPr>
              <a:t>this</a:t>
            </a:r>
            <a:r>
              <a:rPr lang="da-DK" sz="2800" b="1">
                <a:solidFill>
                  <a:schemeClr val="accent5"/>
                </a:solidFill>
              </a:rPr>
              <a:t> point </a:t>
            </a:r>
            <a:r>
              <a:rPr lang="da-DK" sz="2800" b="1" err="1">
                <a:solidFill>
                  <a:schemeClr val="accent5"/>
                </a:solidFill>
              </a:rPr>
              <a:t>our</a:t>
            </a:r>
            <a:r>
              <a:rPr lang="da-DK" sz="2800" b="1">
                <a:solidFill>
                  <a:schemeClr val="accent5"/>
                </a:solidFill>
              </a:rPr>
              <a:t> data is at </a:t>
            </a:r>
            <a:r>
              <a:rPr lang="da-DK" sz="2800" b="1" err="1">
                <a:solidFill>
                  <a:schemeClr val="accent5"/>
                </a:solidFill>
              </a:rPr>
              <a:t>least</a:t>
            </a:r>
            <a:endParaRPr lang="da-DK" sz="2800" b="1">
              <a:solidFill>
                <a:schemeClr val="accent5"/>
              </a:solidFill>
            </a:endParaRPr>
          </a:p>
          <a:p>
            <a:pPr algn="ctr"/>
            <a:r>
              <a:rPr lang="da-DK" sz="2800" b="1">
                <a:solidFill>
                  <a:schemeClr val="accent5"/>
                </a:solidFill>
              </a:rPr>
              <a:t>120 ms </a:t>
            </a:r>
            <a:r>
              <a:rPr lang="da-DK" sz="2800" b="1" err="1">
                <a:solidFill>
                  <a:schemeClr val="accent5"/>
                </a:solidFill>
              </a:rPr>
              <a:t>stale</a:t>
            </a:r>
            <a:endParaRPr lang="da-DK" sz="2800" b="1">
              <a:solidFill>
                <a:schemeClr val="accent5"/>
              </a:solidFill>
            </a:endParaRPr>
          </a:p>
          <a:p>
            <a:pPr algn="ctr"/>
            <a:r>
              <a:rPr lang="da-DK" sz="2800" b="1">
                <a:solidFill>
                  <a:schemeClr val="accent5"/>
                </a:solidFill>
              </a:rPr>
              <a:t>+</a:t>
            </a:r>
          </a:p>
          <a:p>
            <a:pPr algn="ctr"/>
            <a:r>
              <a:rPr lang="da-DK" sz="2800" b="1" err="1">
                <a:solidFill>
                  <a:schemeClr val="accent5"/>
                </a:solidFill>
              </a:rPr>
              <a:t>Thinking</a:t>
            </a:r>
            <a:r>
              <a:rPr lang="da-DK" sz="2800" b="1">
                <a:solidFill>
                  <a:schemeClr val="accent5"/>
                </a:solidFill>
              </a:rPr>
              <a:t> time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EB1C71C-09D3-31F4-4CF4-E6E8300305B2}"/>
              </a:ext>
            </a:extLst>
          </p:cNvPr>
          <p:cNvSpPr txBox="1"/>
          <p:nvPr/>
        </p:nvSpPr>
        <p:spPr>
          <a:xfrm>
            <a:off x="4831974" y="1615198"/>
            <a:ext cx="47147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2400" b="1">
                <a:solidFill>
                  <a:schemeClr val="accent5"/>
                </a:solidFill>
              </a:rPr>
              <a:t>+ </a:t>
            </a:r>
            <a:r>
              <a:rPr lang="da-DK" sz="2400" b="1" err="1">
                <a:solidFill>
                  <a:schemeClr val="accent5"/>
                </a:solidFill>
              </a:rPr>
              <a:t>thinking</a:t>
            </a:r>
            <a:r>
              <a:rPr lang="da-DK" sz="2400" b="1">
                <a:solidFill>
                  <a:schemeClr val="accent5"/>
                </a:solidFill>
              </a:rPr>
              <a:t> time (1000-1500 ms)</a:t>
            </a:r>
          </a:p>
        </p:txBody>
      </p:sp>
    </p:spTree>
    <p:extLst>
      <p:ext uri="{BB962C8B-B14F-4D97-AF65-F5344CB8AC3E}">
        <p14:creationId xmlns:p14="http://schemas.microsoft.com/office/powerpoint/2010/main" val="720726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9" grpId="0"/>
      <p:bldP spid="35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81285-A684-1F35-C552-CE6469B85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AB868B-E068-BA9B-597B-C8E42A370A5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84514" y="1040725"/>
            <a:ext cx="9622971" cy="1362075"/>
          </a:xfrm>
        </p:spPr>
        <p:txBody>
          <a:bodyPr>
            <a:noAutofit/>
          </a:bodyPr>
          <a:lstStyle/>
          <a:p>
            <a:r>
              <a:rPr lang="da-DK" sz="3600" dirty="0" err="1">
                <a:latin typeface="Bebas Neue" panose="020B0606020202050201" pitchFamily="34" charset="0"/>
                <a:cs typeface="Arial" panose="020B0604020202020204" pitchFamily="34" charset="0"/>
              </a:rPr>
              <a:t>Let’s</a:t>
            </a:r>
            <a:r>
              <a:rPr lang="da-DK" sz="3600" dirty="0">
                <a:latin typeface="Bebas Neue" panose="020B0606020202050201" pitchFamily="34" charset="0"/>
                <a:cs typeface="Arial" panose="020B0604020202020204" pitchFamily="34" charset="0"/>
              </a:rPr>
              <a:t> </a:t>
            </a:r>
            <a:r>
              <a:rPr lang="da-DK" sz="3600" dirty="0" err="1">
                <a:latin typeface="Bebas Neue" panose="020B0606020202050201" pitchFamily="34" charset="0"/>
                <a:cs typeface="Arial" panose="020B0604020202020204" pitchFamily="34" charset="0"/>
              </a:rPr>
              <a:t>use</a:t>
            </a:r>
            <a:r>
              <a:rPr lang="da-DK" sz="3600" dirty="0">
                <a:latin typeface="Bebas Neue" panose="020B0606020202050201" pitchFamily="34" charset="0"/>
                <a:cs typeface="Arial" panose="020B0604020202020204" pitchFamily="34" charset="0"/>
              </a:rPr>
              <a:t> </a:t>
            </a:r>
            <a:r>
              <a:rPr lang="da-DK" sz="3600" dirty="0" err="1">
                <a:solidFill>
                  <a:schemeClr val="accent4"/>
                </a:solidFill>
                <a:latin typeface="Bebas Neue" panose="020B0606020202050201" pitchFamily="34" charset="0"/>
                <a:cs typeface="Arial" panose="020B0604020202020204" pitchFamily="34" charset="0"/>
              </a:rPr>
              <a:t>stale</a:t>
            </a:r>
            <a:r>
              <a:rPr lang="da-DK" sz="3600" dirty="0">
                <a:latin typeface="Bebas Neue" panose="020B0606020202050201" pitchFamily="34" charset="0"/>
                <a:cs typeface="Arial" panose="020B0604020202020204" pitchFamily="34" charset="0"/>
              </a:rPr>
              <a:t> data to </a:t>
            </a:r>
            <a:r>
              <a:rPr lang="da-DK" sz="3600" dirty="0" err="1">
                <a:latin typeface="Bebas Neue" panose="020B0606020202050201" pitchFamily="34" charset="0"/>
                <a:cs typeface="Arial" panose="020B0604020202020204" pitchFamily="34" charset="0"/>
              </a:rPr>
              <a:t>our</a:t>
            </a:r>
            <a:r>
              <a:rPr lang="da-DK" sz="3600" dirty="0">
                <a:latin typeface="Bebas Neue" panose="020B0606020202050201" pitchFamily="34" charset="0"/>
                <a:cs typeface="Arial" panose="020B0604020202020204" pitchFamily="34" charset="0"/>
              </a:rPr>
              <a:t> </a:t>
            </a:r>
            <a:r>
              <a:rPr lang="da-DK" sz="3600" dirty="0" err="1">
                <a:solidFill>
                  <a:schemeClr val="accent4"/>
                </a:solidFill>
                <a:latin typeface="Bebas Neue" panose="020B0606020202050201" pitchFamily="34" charset="0"/>
                <a:cs typeface="Arial" panose="020B0604020202020204" pitchFamily="34" charset="0"/>
              </a:rPr>
              <a:t>advantage</a:t>
            </a:r>
            <a:r>
              <a:rPr lang="da-DK" sz="3600" dirty="0">
                <a:solidFill>
                  <a:srgbClr val="F79646"/>
                </a:solidFill>
                <a:latin typeface="Bebas Neue" panose="020B0606020202050201" pitchFamily="34" charset="0"/>
                <a:cs typeface="Arial" panose="020B0604020202020204" pitchFamily="34" charset="0"/>
              </a:rPr>
              <a:t> </a:t>
            </a:r>
            <a:r>
              <a:rPr lang="da-DK" sz="3600" dirty="0">
                <a:latin typeface="Bebas Neue" panose="020B0606020202050201" pitchFamily="34" charset="0"/>
                <a:cs typeface="Arial" panose="020B0604020202020204" pitchFamily="34" charset="0"/>
              </a:rPr>
              <a:t>by </a:t>
            </a:r>
            <a:r>
              <a:rPr lang="da-DK" sz="3600" dirty="0" err="1">
                <a:latin typeface="Bebas Neue" panose="020B0606020202050201" pitchFamily="34" charset="0"/>
                <a:cs typeface="Arial" panose="020B0604020202020204" pitchFamily="34" charset="0"/>
              </a:rPr>
              <a:t>offloading</a:t>
            </a:r>
            <a:r>
              <a:rPr lang="da-DK" sz="3600" dirty="0">
                <a:latin typeface="Bebas Neue" panose="020B0606020202050201" pitchFamily="34" charset="0"/>
                <a:cs typeface="Arial" panose="020B0604020202020204" pitchFamily="34" charset="0"/>
              </a:rPr>
              <a:t> the database by </a:t>
            </a:r>
            <a:r>
              <a:rPr lang="da-DK" sz="3600" dirty="0" err="1">
                <a:solidFill>
                  <a:schemeClr val="accent4"/>
                </a:solidFill>
                <a:latin typeface="Bebas Neue" panose="020B0606020202050201" pitchFamily="34" charset="0"/>
                <a:cs typeface="Arial" panose="020B0604020202020204" pitchFamily="34" charset="0"/>
              </a:rPr>
              <a:t>using</a:t>
            </a:r>
            <a:r>
              <a:rPr lang="da-DK" sz="3600" dirty="0">
                <a:solidFill>
                  <a:srgbClr val="F79646"/>
                </a:solidFill>
                <a:latin typeface="Bebas Neue" panose="020B0606020202050201" pitchFamily="34" charset="0"/>
                <a:cs typeface="Arial" panose="020B0604020202020204" pitchFamily="34" charset="0"/>
              </a:rPr>
              <a:t> </a:t>
            </a:r>
            <a:r>
              <a:rPr lang="da-DK" sz="3600" dirty="0" err="1">
                <a:latin typeface="Bebas Neue" panose="020B0606020202050201" pitchFamily="34" charset="0"/>
                <a:cs typeface="Arial" panose="020B0604020202020204" pitchFamily="34" charset="0"/>
              </a:rPr>
              <a:t>our</a:t>
            </a:r>
            <a:r>
              <a:rPr lang="da-DK" sz="3600" dirty="0">
                <a:latin typeface="Bebas Neue" panose="020B0606020202050201" pitchFamily="34" charset="0"/>
                <a:cs typeface="Arial" panose="020B0604020202020204" pitchFamily="34" charset="0"/>
              </a:rPr>
              <a:t> </a:t>
            </a:r>
            <a:r>
              <a:rPr lang="da-DK" sz="3600" dirty="0" err="1">
                <a:solidFill>
                  <a:schemeClr val="accent4"/>
                </a:solidFill>
                <a:latin typeface="Bebas Neue" panose="020B0606020202050201" pitchFamily="34" charset="0"/>
                <a:cs typeface="Arial" panose="020B0604020202020204" pitchFamily="34" charset="0"/>
              </a:rPr>
              <a:t>read</a:t>
            </a:r>
            <a:r>
              <a:rPr lang="da-DK" sz="3600" dirty="0">
                <a:solidFill>
                  <a:schemeClr val="accent4"/>
                </a:solidFill>
                <a:latin typeface="Bebas Neue" panose="020B0606020202050201" pitchFamily="34" charset="0"/>
                <a:cs typeface="Arial" panose="020B0604020202020204" pitchFamily="34" charset="0"/>
              </a:rPr>
              <a:t> models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9645758-88EA-DD90-61F4-A622FABB2499}"/>
              </a:ext>
            </a:extLst>
          </p:cNvPr>
          <p:cNvGrpSpPr/>
          <p:nvPr/>
        </p:nvGrpSpPr>
        <p:grpSpPr>
          <a:xfrm>
            <a:off x="2159657" y="2820900"/>
            <a:ext cx="7354333" cy="1389765"/>
            <a:chOff x="589482" y="2451566"/>
            <a:chExt cx="7354333" cy="138976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CC8E289-0AAD-A719-CD60-E22F55B21089}"/>
                </a:ext>
              </a:extLst>
            </p:cNvPr>
            <p:cNvSpPr/>
            <p:nvPr/>
          </p:nvSpPr>
          <p:spPr>
            <a:xfrm>
              <a:off x="589482" y="2928475"/>
              <a:ext cx="1236011" cy="912856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>
                  <a:solidFill>
                    <a:schemeClr val="bg1"/>
                  </a:solidFill>
                </a:rPr>
                <a:t>UI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79961CD-928E-85BF-48ED-D077B89C2595}"/>
                </a:ext>
              </a:extLst>
            </p:cNvPr>
            <p:cNvSpPr/>
            <p:nvPr/>
          </p:nvSpPr>
          <p:spPr>
            <a:xfrm>
              <a:off x="2460447" y="2928475"/>
              <a:ext cx="1388962" cy="912856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sz="1600">
                  <a:solidFill>
                    <a:schemeClr val="bg1"/>
                  </a:solidFill>
                </a:rPr>
                <a:t>Application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5B6F53C-95C2-0E87-E383-AAFF563B1BC1}"/>
                </a:ext>
              </a:extLst>
            </p:cNvPr>
            <p:cNvSpPr/>
            <p:nvPr/>
          </p:nvSpPr>
          <p:spPr>
            <a:xfrm>
              <a:off x="4669558" y="2928475"/>
              <a:ext cx="1230223" cy="912856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>
                  <a:solidFill>
                    <a:schemeClr val="bg1"/>
                  </a:solidFill>
                </a:rPr>
                <a:t>Domain</a:t>
              </a:r>
            </a:p>
          </p:txBody>
        </p:sp>
        <p:sp>
          <p:nvSpPr>
            <p:cNvPr id="10" name="Can 9">
              <a:extLst>
                <a:ext uri="{FF2B5EF4-FFF2-40B4-BE49-F238E27FC236}">
                  <a16:creationId xmlns:a16="http://schemas.microsoft.com/office/drawing/2014/main" id="{52522A64-0D2B-A5D7-058A-90ABA69BC346}"/>
                </a:ext>
              </a:extLst>
            </p:cNvPr>
            <p:cNvSpPr/>
            <p:nvPr/>
          </p:nvSpPr>
          <p:spPr>
            <a:xfrm>
              <a:off x="6740048" y="2928475"/>
              <a:ext cx="1203767" cy="912856"/>
            </a:xfrm>
            <a:prstGeom prst="can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>
                  <a:solidFill>
                    <a:schemeClr val="bg1"/>
                  </a:solidFill>
                </a:rPr>
                <a:t>Write model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6A1FFFC6-AA0C-5C42-6339-44639C6BD89B}"/>
                </a:ext>
              </a:extLst>
            </p:cNvPr>
            <p:cNvCxnSpPr>
              <a:stCxn id="7" idx="3"/>
              <a:endCxn id="8" idx="1"/>
            </p:cNvCxnSpPr>
            <p:nvPr/>
          </p:nvCxnSpPr>
          <p:spPr>
            <a:xfrm>
              <a:off x="1825493" y="3384903"/>
              <a:ext cx="634954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DBB1621A-6CAA-AF30-B4A8-80971FD1E5C4}"/>
                </a:ext>
              </a:extLst>
            </p:cNvPr>
            <p:cNvCxnSpPr>
              <a:stCxn id="8" idx="3"/>
              <a:endCxn id="9" idx="1"/>
            </p:cNvCxnSpPr>
            <p:nvPr/>
          </p:nvCxnSpPr>
          <p:spPr>
            <a:xfrm>
              <a:off x="3849409" y="3384903"/>
              <a:ext cx="820149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7D5D61B0-DA31-A2BF-C6D4-908A516DED17}"/>
                </a:ext>
              </a:extLst>
            </p:cNvPr>
            <p:cNvCxnSpPr>
              <a:stCxn id="9" idx="3"/>
              <a:endCxn id="10" idx="2"/>
            </p:cNvCxnSpPr>
            <p:nvPr/>
          </p:nvCxnSpPr>
          <p:spPr>
            <a:xfrm>
              <a:off x="5899781" y="3384903"/>
              <a:ext cx="840267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BCDB799-3DA7-46CF-5389-155D42C72028}"/>
                </a:ext>
              </a:extLst>
            </p:cNvPr>
            <p:cNvSpPr txBox="1"/>
            <p:nvPr/>
          </p:nvSpPr>
          <p:spPr>
            <a:xfrm>
              <a:off x="589482" y="2451566"/>
              <a:ext cx="32944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/>
                <a:t>Commands – Change data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E99AE10-FCB3-A0CC-13F6-DEB50071F600}"/>
              </a:ext>
            </a:extLst>
          </p:cNvPr>
          <p:cNvGrpSpPr/>
          <p:nvPr/>
        </p:nvGrpSpPr>
        <p:grpSpPr>
          <a:xfrm>
            <a:off x="2205605" y="4667093"/>
            <a:ext cx="7248105" cy="1395451"/>
            <a:chOff x="695710" y="4754738"/>
            <a:chExt cx="7248105" cy="1395451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6EF8000-8C94-6EAC-B176-578380085ABD}"/>
                </a:ext>
              </a:extLst>
            </p:cNvPr>
            <p:cNvGrpSpPr/>
            <p:nvPr/>
          </p:nvGrpSpPr>
          <p:grpSpPr>
            <a:xfrm>
              <a:off x="741882" y="5237333"/>
              <a:ext cx="7201933" cy="912856"/>
              <a:chOff x="741882" y="5237333"/>
              <a:chExt cx="7201933" cy="912856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76DDB78-4D80-E96F-6C54-9563D4C97B01}"/>
                  </a:ext>
                </a:extLst>
              </p:cNvPr>
              <p:cNvSpPr/>
              <p:nvPr/>
            </p:nvSpPr>
            <p:spPr>
              <a:xfrm>
                <a:off x="741882" y="5237333"/>
                <a:ext cx="1236011" cy="912856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a-DK">
                    <a:solidFill>
                      <a:schemeClr val="bg1"/>
                    </a:solidFill>
                  </a:rPr>
                  <a:t>UI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127E859-698C-D588-8069-84E017E0D941}"/>
                  </a:ext>
                </a:extLst>
              </p:cNvPr>
              <p:cNvSpPr/>
              <p:nvPr/>
            </p:nvSpPr>
            <p:spPr>
              <a:xfrm>
                <a:off x="3849409" y="5237333"/>
                <a:ext cx="1388962" cy="912856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a-DK" sz="1600">
                    <a:solidFill>
                      <a:schemeClr val="bg1"/>
                    </a:solidFill>
                  </a:rPr>
                  <a:t>Application</a:t>
                </a:r>
              </a:p>
            </p:txBody>
          </p:sp>
          <p:sp>
            <p:nvSpPr>
              <p:cNvPr id="20" name="Can 19">
                <a:extLst>
                  <a:ext uri="{FF2B5EF4-FFF2-40B4-BE49-F238E27FC236}">
                    <a16:creationId xmlns:a16="http://schemas.microsoft.com/office/drawing/2014/main" id="{3A2340E9-FC1F-68A8-1D15-CED677549B35}"/>
                  </a:ext>
                </a:extLst>
              </p:cNvPr>
              <p:cNvSpPr/>
              <p:nvPr/>
            </p:nvSpPr>
            <p:spPr>
              <a:xfrm>
                <a:off x="6740048" y="5237333"/>
                <a:ext cx="1203767" cy="912856"/>
              </a:xfrm>
              <a:prstGeom prst="can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a-DK">
                    <a:solidFill>
                      <a:schemeClr val="bg1"/>
                    </a:solidFill>
                  </a:rPr>
                  <a:t>Read models</a:t>
                </a:r>
              </a:p>
            </p:txBody>
          </p: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55D22E84-CF5C-FD35-2A49-330A6155984B}"/>
                  </a:ext>
                </a:extLst>
              </p:cNvPr>
              <p:cNvCxnSpPr>
                <a:stCxn id="18" idx="3"/>
                <a:endCxn id="19" idx="1"/>
              </p:cNvCxnSpPr>
              <p:nvPr/>
            </p:nvCxnSpPr>
            <p:spPr>
              <a:xfrm>
                <a:off x="1977893" y="5693761"/>
                <a:ext cx="1871516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arrow"/>
                <a:tailEnd type="arrow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333CA3DD-5E7C-5724-D4F4-B387BFBA27B6}"/>
                  </a:ext>
                </a:extLst>
              </p:cNvPr>
              <p:cNvCxnSpPr>
                <a:stCxn id="19" idx="3"/>
                <a:endCxn id="20" idx="2"/>
              </p:cNvCxnSpPr>
              <p:nvPr/>
            </p:nvCxnSpPr>
            <p:spPr>
              <a:xfrm>
                <a:off x="5238371" y="5693761"/>
                <a:ext cx="1501677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arrow"/>
                <a:tailEnd type="arrow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CB12157-1592-391A-952E-BFBDAFB5D508}"/>
                </a:ext>
              </a:extLst>
            </p:cNvPr>
            <p:cNvSpPr txBox="1"/>
            <p:nvPr/>
          </p:nvSpPr>
          <p:spPr>
            <a:xfrm>
              <a:off x="695710" y="4754738"/>
              <a:ext cx="44871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err="1"/>
                <a:t>Queries</a:t>
              </a:r>
              <a:r>
                <a:rPr lang="da-DK"/>
                <a:t> – Ask for data (</a:t>
              </a:r>
              <a:r>
                <a:rPr lang="da-DK" err="1"/>
                <a:t>no</a:t>
              </a:r>
              <a:r>
                <a:rPr lang="da-DK"/>
                <a:t> side </a:t>
              </a:r>
              <a:r>
                <a:rPr lang="da-DK" err="1"/>
                <a:t>effects</a:t>
              </a:r>
              <a:r>
                <a:rPr lang="da-DK"/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66748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DAB50-C311-12FA-AE13-AFCF0FB4D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E33EB-F04F-C6C0-36DD-90FBF934906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4129" y="899202"/>
            <a:ext cx="10769409" cy="1362075"/>
          </a:xfrm>
        </p:spPr>
        <p:txBody>
          <a:bodyPr>
            <a:noAutofit/>
          </a:bodyPr>
          <a:lstStyle/>
          <a:p>
            <a:r>
              <a:rPr lang="da-DK" sz="3600">
                <a:latin typeface="Bebas Neue" panose="020B0606020202050201" pitchFamily="34" charset="0"/>
              </a:rPr>
              <a:t>All </a:t>
            </a:r>
            <a:r>
              <a:rPr lang="da-DK" sz="3600" err="1">
                <a:latin typeface="Bebas Neue" panose="020B0606020202050201" pitchFamily="34" charset="0"/>
              </a:rPr>
              <a:t>we</a:t>
            </a:r>
            <a:r>
              <a:rPr lang="da-DK" sz="3600">
                <a:latin typeface="Bebas Neue" panose="020B0606020202050201" pitchFamily="34" charset="0"/>
              </a:rPr>
              <a:t> </a:t>
            </a:r>
            <a:r>
              <a:rPr lang="da-DK" sz="3600" err="1">
                <a:latin typeface="Bebas Neue" panose="020B0606020202050201" pitchFamily="34" charset="0"/>
              </a:rPr>
              <a:t>need</a:t>
            </a:r>
            <a:r>
              <a:rPr lang="da-DK" sz="3600">
                <a:latin typeface="Bebas Neue" panose="020B0606020202050201" pitchFamily="34" charset="0"/>
              </a:rPr>
              <a:t> is a </a:t>
            </a:r>
            <a:r>
              <a:rPr lang="da-DK" sz="3600" err="1">
                <a:latin typeface="Bebas Neue" panose="020B0606020202050201" pitchFamily="34" charset="0"/>
              </a:rPr>
              <a:t>good</a:t>
            </a:r>
            <a:r>
              <a:rPr lang="da-DK" sz="3600">
                <a:latin typeface="Bebas Neue" panose="020B0606020202050201" pitchFamily="34" charset="0"/>
              </a:rPr>
              <a:t> </a:t>
            </a:r>
            <a:r>
              <a:rPr lang="da-DK" sz="3600" err="1">
                <a:latin typeface="Bebas Neue" panose="020B0606020202050201" pitchFamily="34" charset="0"/>
              </a:rPr>
              <a:t>way</a:t>
            </a:r>
            <a:r>
              <a:rPr lang="da-DK" sz="3600">
                <a:latin typeface="Bebas Neue" panose="020B0606020202050201" pitchFamily="34" charset="0"/>
              </a:rPr>
              <a:t> to </a:t>
            </a:r>
            <a:r>
              <a:rPr lang="da-DK" sz="3600" err="1">
                <a:latin typeface="Bebas Neue" panose="020B0606020202050201" pitchFamily="34" charset="0"/>
              </a:rPr>
              <a:t>synchronize</a:t>
            </a:r>
            <a:r>
              <a:rPr lang="da-DK" sz="3600">
                <a:latin typeface="Bebas Neue" panose="020B0606020202050201" pitchFamily="34" charset="0"/>
              </a:rPr>
              <a:t> </a:t>
            </a:r>
            <a:r>
              <a:rPr lang="da-DK" sz="3600" err="1">
                <a:latin typeface="Bebas Neue" panose="020B0606020202050201" pitchFamily="34" charset="0"/>
              </a:rPr>
              <a:t>our</a:t>
            </a:r>
            <a:r>
              <a:rPr lang="da-DK" sz="3600">
                <a:latin typeface="Bebas Neue" panose="020B0606020202050201" pitchFamily="34" charset="0"/>
              </a:rPr>
              <a:t> </a:t>
            </a:r>
            <a:r>
              <a:rPr lang="da-DK" sz="3600" err="1">
                <a:latin typeface="Bebas Neue" panose="020B0606020202050201" pitchFamily="34" charset="0"/>
              </a:rPr>
              <a:t>write</a:t>
            </a:r>
            <a:r>
              <a:rPr lang="da-DK" sz="3600">
                <a:latin typeface="Bebas Neue" panose="020B0606020202050201" pitchFamily="34" charset="0"/>
              </a:rPr>
              <a:t> and </a:t>
            </a:r>
            <a:r>
              <a:rPr lang="da-DK" sz="3600" err="1">
                <a:latin typeface="Bebas Neue" panose="020B0606020202050201" pitchFamily="34" charset="0"/>
              </a:rPr>
              <a:t>read</a:t>
            </a:r>
            <a:r>
              <a:rPr lang="da-DK" sz="3600">
                <a:latin typeface="Bebas Neue" panose="020B0606020202050201" pitchFamily="34" charset="0"/>
              </a:rPr>
              <a:t> models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A2E6422-FDD7-2D90-19CB-8D69A08D7953}"/>
              </a:ext>
            </a:extLst>
          </p:cNvPr>
          <p:cNvGrpSpPr/>
          <p:nvPr/>
        </p:nvGrpSpPr>
        <p:grpSpPr>
          <a:xfrm>
            <a:off x="2418833" y="2241351"/>
            <a:ext cx="7354333" cy="1389765"/>
            <a:chOff x="589482" y="2451566"/>
            <a:chExt cx="7354333" cy="138976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C93238F-9398-3C01-C2F6-C013DCAE074D}"/>
                </a:ext>
              </a:extLst>
            </p:cNvPr>
            <p:cNvSpPr/>
            <p:nvPr/>
          </p:nvSpPr>
          <p:spPr>
            <a:xfrm>
              <a:off x="589482" y="2928475"/>
              <a:ext cx="1236011" cy="912856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>
                  <a:solidFill>
                    <a:schemeClr val="bg1"/>
                  </a:solidFill>
                </a:rPr>
                <a:t>UI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9F6C87B-CAF9-4A6F-71D6-E14EDF5179DA}"/>
                </a:ext>
              </a:extLst>
            </p:cNvPr>
            <p:cNvSpPr/>
            <p:nvPr/>
          </p:nvSpPr>
          <p:spPr>
            <a:xfrm>
              <a:off x="2460447" y="2928475"/>
              <a:ext cx="1388962" cy="912856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sz="1600">
                  <a:solidFill>
                    <a:schemeClr val="bg1"/>
                  </a:solidFill>
                </a:rPr>
                <a:t>Application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835FC3D-8001-6AAC-F57A-46A4D745B696}"/>
                </a:ext>
              </a:extLst>
            </p:cNvPr>
            <p:cNvSpPr/>
            <p:nvPr/>
          </p:nvSpPr>
          <p:spPr>
            <a:xfrm>
              <a:off x="4669558" y="2928475"/>
              <a:ext cx="1230223" cy="912856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>
                  <a:solidFill>
                    <a:schemeClr val="bg1"/>
                  </a:solidFill>
                </a:rPr>
                <a:t>Domain</a:t>
              </a:r>
            </a:p>
          </p:txBody>
        </p:sp>
        <p:sp>
          <p:nvSpPr>
            <p:cNvPr id="8" name="Can 7">
              <a:extLst>
                <a:ext uri="{FF2B5EF4-FFF2-40B4-BE49-F238E27FC236}">
                  <a16:creationId xmlns:a16="http://schemas.microsoft.com/office/drawing/2014/main" id="{CB25F820-DF5B-98D1-C02E-CA714D84D346}"/>
                </a:ext>
              </a:extLst>
            </p:cNvPr>
            <p:cNvSpPr/>
            <p:nvPr/>
          </p:nvSpPr>
          <p:spPr>
            <a:xfrm>
              <a:off x="6740048" y="2928475"/>
              <a:ext cx="1203767" cy="912856"/>
            </a:xfrm>
            <a:prstGeom prst="can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>
                  <a:solidFill>
                    <a:schemeClr val="bg1"/>
                  </a:solidFill>
                </a:rPr>
                <a:t>Write model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CB8EE4D-FAE8-83F6-1A3B-A00DD44BACA7}"/>
                </a:ext>
              </a:extLst>
            </p:cNvPr>
            <p:cNvCxnSpPr>
              <a:stCxn id="5" idx="3"/>
              <a:endCxn id="6" idx="1"/>
            </p:cNvCxnSpPr>
            <p:nvPr/>
          </p:nvCxnSpPr>
          <p:spPr>
            <a:xfrm>
              <a:off x="1825493" y="3384903"/>
              <a:ext cx="634954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741283AA-C053-BAAA-74E1-0C501535A92F}"/>
                </a:ext>
              </a:extLst>
            </p:cNvPr>
            <p:cNvCxnSpPr>
              <a:stCxn id="6" idx="3"/>
              <a:endCxn id="7" idx="1"/>
            </p:cNvCxnSpPr>
            <p:nvPr/>
          </p:nvCxnSpPr>
          <p:spPr>
            <a:xfrm>
              <a:off x="3849409" y="3384903"/>
              <a:ext cx="820149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F53D64D4-99C2-86A6-7BB9-CC64C60F2B3B}"/>
                </a:ext>
              </a:extLst>
            </p:cNvPr>
            <p:cNvCxnSpPr>
              <a:stCxn id="7" idx="3"/>
              <a:endCxn id="8" idx="2"/>
            </p:cNvCxnSpPr>
            <p:nvPr/>
          </p:nvCxnSpPr>
          <p:spPr>
            <a:xfrm>
              <a:off x="5899781" y="3384903"/>
              <a:ext cx="840267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DE52329-821D-B942-0F22-38E16D25BBD8}"/>
                </a:ext>
              </a:extLst>
            </p:cNvPr>
            <p:cNvSpPr txBox="1"/>
            <p:nvPr/>
          </p:nvSpPr>
          <p:spPr>
            <a:xfrm>
              <a:off x="589482" y="2451566"/>
              <a:ext cx="32944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/>
                <a:t>Commands – Change data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B97A0A2-B7D8-9F19-4CE3-B8E6B6284AB6}"/>
              </a:ext>
            </a:extLst>
          </p:cNvPr>
          <p:cNvGrpSpPr/>
          <p:nvPr/>
        </p:nvGrpSpPr>
        <p:grpSpPr>
          <a:xfrm>
            <a:off x="2525061" y="4544523"/>
            <a:ext cx="7248105" cy="1395451"/>
            <a:chOff x="695710" y="4754738"/>
            <a:chExt cx="7248105" cy="1395451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592D929-0E8B-727A-6996-1473CC5B4E82}"/>
                </a:ext>
              </a:extLst>
            </p:cNvPr>
            <p:cNvGrpSpPr/>
            <p:nvPr/>
          </p:nvGrpSpPr>
          <p:grpSpPr>
            <a:xfrm>
              <a:off x="741882" y="5237333"/>
              <a:ext cx="7201933" cy="912856"/>
              <a:chOff x="741882" y="5237333"/>
              <a:chExt cx="7201933" cy="912856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C3BD8B3-E078-8061-831D-CF98DF40F0FC}"/>
                  </a:ext>
                </a:extLst>
              </p:cNvPr>
              <p:cNvSpPr/>
              <p:nvPr/>
            </p:nvSpPr>
            <p:spPr>
              <a:xfrm>
                <a:off x="741882" y="5237333"/>
                <a:ext cx="1236011" cy="912856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a-DK">
                    <a:solidFill>
                      <a:schemeClr val="bg1"/>
                    </a:solidFill>
                  </a:rPr>
                  <a:t>UI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0BAA4B2-75C2-7A1B-759F-12DEB33FF8E9}"/>
                  </a:ext>
                </a:extLst>
              </p:cNvPr>
              <p:cNvSpPr/>
              <p:nvPr/>
            </p:nvSpPr>
            <p:spPr>
              <a:xfrm>
                <a:off x="3849409" y="5237333"/>
                <a:ext cx="1388962" cy="912856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a-DK" sz="1600">
                    <a:solidFill>
                      <a:schemeClr val="bg1"/>
                    </a:solidFill>
                  </a:rPr>
                  <a:t>Application</a:t>
                </a:r>
              </a:p>
            </p:txBody>
          </p:sp>
          <p:sp>
            <p:nvSpPr>
              <p:cNvPr id="18" name="Can 17">
                <a:extLst>
                  <a:ext uri="{FF2B5EF4-FFF2-40B4-BE49-F238E27FC236}">
                    <a16:creationId xmlns:a16="http://schemas.microsoft.com/office/drawing/2014/main" id="{B49137B0-5C35-8B1F-88E1-F1292288AA2F}"/>
                  </a:ext>
                </a:extLst>
              </p:cNvPr>
              <p:cNvSpPr/>
              <p:nvPr/>
            </p:nvSpPr>
            <p:spPr>
              <a:xfrm>
                <a:off x="6740048" y="5237333"/>
                <a:ext cx="1203767" cy="912856"/>
              </a:xfrm>
              <a:prstGeom prst="can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a-DK">
                    <a:solidFill>
                      <a:schemeClr val="bg1"/>
                    </a:solidFill>
                  </a:rPr>
                  <a:t>Read models</a:t>
                </a:r>
              </a:p>
            </p:txBody>
          </p: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239B9E7A-2B0D-0670-CA45-C603F73D9532}"/>
                  </a:ext>
                </a:extLst>
              </p:cNvPr>
              <p:cNvCxnSpPr>
                <a:stCxn id="16" idx="3"/>
                <a:endCxn id="17" idx="1"/>
              </p:cNvCxnSpPr>
              <p:nvPr/>
            </p:nvCxnSpPr>
            <p:spPr>
              <a:xfrm>
                <a:off x="1977893" y="5693761"/>
                <a:ext cx="1871516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arrow"/>
                <a:tailEnd type="arrow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AD61856E-47A6-A801-B038-EA74F24CB2EA}"/>
                  </a:ext>
                </a:extLst>
              </p:cNvPr>
              <p:cNvCxnSpPr>
                <a:stCxn id="17" idx="3"/>
                <a:endCxn id="18" idx="2"/>
              </p:cNvCxnSpPr>
              <p:nvPr/>
            </p:nvCxnSpPr>
            <p:spPr>
              <a:xfrm>
                <a:off x="5238371" y="5693761"/>
                <a:ext cx="1501677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arrow"/>
                <a:tailEnd type="arrow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6E122D7-2D31-6855-3B3F-DA1FEA7064FB}"/>
                </a:ext>
              </a:extLst>
            </p:cNvPr>
            <p:cNvSpPr txBox="1"/>
            <p:nvPr/>
          </p:nvSpPr>
          <p:spPr>
            <a:xfrm>
              <a:off x="695710" y="4754738"/>
              <a:ext cx="44871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err="1"/>
                <a:t>Queries</a:t>
              </a:r>
              <a:r>
                <a:rPr lang="da-DK"/>
                <a:t> – Ask for data (</a:t>
              </a:r>
              <a:r>
                <a:rPr lang="da-DK" err="1"/>
                <a:t>no</a:t>
              </a:r>
              <a:r>
                <a:rPr lang="da-DK"/>
                <a:t> side </a:t>
              </a:r>
              <a:r>
                <a:rPr lang="da-DK" err="1"/>
                <a:t>effects</a:t>
              </a:r>
              <a:r>
                <a:rPr lang="da-DK"/>
                <a:t>)</a:t>
              </a:r>
            </a:p>
          </p:txBody>
        </p:sp>
      </p:grpSp>
      <p:sp>
        <p:nvSpPr>
          <p:cNvPr id="21" name="Right Arrow 20">
            <a:extLst>
              <a:ext uri="{FF2B5EF4-FFF2-40B4-BE49-F238E27FC236}">
                <a16:creationId xmlns:a16="http://schemas.microsoft.com/office/drawing/2014/main" id="{BEF53F54-D16E-BDC3-D6D3-63D32E09650B}"/>
              </a:ext>
            </a:extLst>
          </p:cNvPr>
          <p:cNvSpPr/>
          <p:nvPr/>
        </p:nvSpPr>
        <p:spPr>
          <a:xfrm rot="5400000">
            <a:off x="8428381" y="4139103"/>
            <a:ext cx="1475447" cy="300583"/>
          </a:xfrm>
          <a:prstGeom prst="rightArrow">
            <a:avLst/>
          </a:prstGeom>
          <a:ln w="3175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37066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7" presetClass="emph" presetSubtype="0" repeatCount="200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50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3" dur="50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" dur="50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50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873C8-0280-4C24-55F0-26D2D711B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6F677-1D9F-0BEB-D50B-C767535BE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69424"/>
            <a:ext cx="10515600" cy="1325563"/>
          </a:xfrm>
        </p:spPr>
        <p:txBody>
          <a:bodyPr anchor="b">
            <a:normAutofit/>
          </a:bodyPr>
          <a:lstStyle/>
          <a:p>
            <a:r>
              <a:rPr lang="da-DK"/>
              <a:t>Commands &amp; Events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CA527-392C-5DAF-F33C-8E8B2A4F15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6255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da-DK" sz="2000" b="1">
                <a:latin typeface="+mn-lt"/>
              </a:rPr>
              <a:t>Commands</a:t>
            </a:r>
            <a:r>
              <a:rPr lang="da-DK" sz="2000">
                <a:latin typeface="+mn-lt"/>
              </a:rPr>
              <a:t> </a:t>
            </a:r>
            <a:r>
              <a:rPr lang="da-DK" sz="2000" err="1">
                <a:latin typeface="+mn-lt"/>
              </a:rPr>
              <a:t>mutate</a:t>
            </a:r>
            <a:r>
              <a:rPr lang="da-DK" sz="2000">
                <a:latin typeface="+mn-lt"/>
              </a:rPr>
              <a:t> </a:t>
            </a:r>
            <a:r>
              <a:rPr lang="da-DK" sz="2000" b="1" err="1">
                <a:latin typeface="+mn-lt"/>
              </a:rPr>
              <a:t>Aggregate</a:t>
            </a:r>
            <a:r>
              <a:rPr lang="da-DK" sz="2000">
                <a:latin typeface="+mn-lt"/>
              </a:rPr>
              <a:t> </a:t>
            </a:r>
            <a:r>
              <a:rPr lang="da-DK" sz="2000" err="1">
                <a:latin typeface="+mn-lt"/>
              </a:rPr>
              <a:t>state</a:t>
            </a:r>
            <a:r>
              <a:rPr lang="da-DK" sz="2000">
                <a:latin typeface="+mn-lt"/>
              </a:rPr>
              <a:t> </a:t>
            </a:r>
            <a:r>
              <a:rPr lang="da-DK" sz="2000" err="1">
                <a:latin typeface="+mn-lt"/>
              </a:rPr>
              <a:t>which</a:t>
            </a:r>
            <a:r>
              <a:rPr lang="da-DK" sz="2000">
                <a:latin typeface="+mn-lt"/>
              </a:rPr>
              <a:t> </a:t>
            </a:r>
            <a:r>
              <a:rPr lang="da-DK" sz="2000" err="1">
                <a:latin typeface="+mn-lt"/>
              </a:rPr>
              <a:t>results</a:t>
            </a:r>
            <a:r>
              <a:rPr lang="da-DK" sz="2000">
                <a:latin typeface="+mn-lt"/>
              </a:rPr>
              <a:t> in </a:t>
            </a:r>
            <a:r>
              <a:rPr lang="da-DK" sz="2000" b="1" err="1">
                <a:latin typeface="+mn-lt"/>
              </a:rPr>
              <a:t>one</a:t>
            </a:r>
            <a:r>
              <a:rPr lang="da-DK" sz="2000">
                <a:latin typeface="+mn-lt"/>
              </a:rPr>
              <a:t> or </a:t>
            </a:r>
            <a:r>
              <a:rPr lang="da-DK" sz="2000" b="1">
                <a:latin typeface="+mn-lt"/>
              </a:rPr>
              <a:t>more Events</a:t>
            </a:r>
            <a:r>
              <a:rPr lang="da-DK" sz="2000">
                <a:latin typeface="+mn-lt"/>
              </a:rPr>
              <a:t> </a:t>
            </a:r>
            <a:r>
              <a:rPr lang="da-DK" sz="2000" err="1">
                <a:latin typeface="+mn-lt"/>
              </a:rPr>
              <a:t>being</a:t>
            </a:r>
            <a:r>
              <a:rPr lang="da-DK" sz="2000">
                <a:latin typeface="+mn-lt"/>
              </a:rPr>
              <a:t> </a:t>
            </a:r>
            <a:r>
              <a:rPr lang="da-DK" sz="2000" err="1">
                <a:latin typeface="+mn-lt"/>
              </a:rPr>
              <a:t>issued</a:t>
            </a:r>
            <a:r>
              <a:rPr lang="da-DK" sz="2000">
                <a:latin typeface="+mn-lt"/>
              </a:rPr>
              <a:t>/</a:t>
            </a:r>
            <a:r>
              <a:rPr lang="da-DK" sz="2000" b="1" err="1">
                <a:latin typeface="+mn-lt"/>
              </a:rPr>
              <a:t>published</a:t>
            </a:r>
            <a:r>
              <a:rPr lang="da-DK" sz="2000">
                <a:latin typeface="+mn-lt"/>
              </a:rPr>
              <a:t>.</a:t>
            </a:r>
          </a:p>
          <a:p>
            <a:pPr>
              <a:lnSpc>
                <a:spcPct val="100000"/>
              </a:lnSpc>
            </a:pPr>
            <a:endParaRPr lang="da-DK" sz="2000"/>
          </a:p>
          <a:p>
            <a:pPr marL="0" indent="0">
              <a:lnSpc>
                <a:spcPct val="100000"/>
              </a:lnSpc>
              <a:buNone/>
            </a:pPr>
            <a:endParaRPr lang="da-DK" sz="2000"/>
          </a:p>
          <a:p>
            <a:pPr>
              <a:lnSpc>
                <a:spcPct val="100000"/>
              </a:lnSpc>
            </a:pPr>
            <a:endParaRPr lang="da-DK" sz="200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15C8F7D-722A-EDB5-A8AA-BB559D10EB43}"/>
              </a:ext>
            </a:extLst>
          </p:cNvPr>
          <p:cNvGraphicFramePr>
            <a:graphicFrameLocks noGrp="1"/>
          </p:cNvGraphicFramePr>
          <p:nvPr/>
        </p:nvGraphicFramePr>
        <p:xfrm>
          <a:off x="6191250" y="2263086"/>
          <a:ext cx="5162551" cy="347641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517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45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5841">
                <a:tc>
                  <a:txBody>
                    <a:bodyPr/>
                    <a:lstStyle/>
                    <a:p>
                      <a:r>
                        <a:rPr lang="da-DK" sz="2400" b="1" cap="none" spc="0">
                          <a:solidFill>
                            <a:schemeClr val="bg1"/>
                          </a:solidFill>
                        </a:rPr>
                        <a:t>Command</a:t>
                      </a:r>
                    </a:p>
                  </a:txBody>
                  <a:tcPr marL="96312" marR="137589" marT="27518" marB="206383" anchor="b"/>
                </a:tc>
                <a:tc>
                  <a:txBody>
                    <a:bodyPr/>
                    <a:lstStyle/>
                    <a:p>
                      <a:r>
                        <a:rPr lang="da-DK" sz="2400" b="1" cap="none" spc="0">
                          <a:solidFill>
                            <a:schemeClr val="bg1"/>
                          </a:solidFill>
                        </a:rPr>
                        <a:t>Event(s)</a:t>
                      </a:r>
                    </a:p>
                  </a:txBody>
                  <a:tcPr marL="96312" marR="137589" marT="27518" marB="206383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4115">
                <a:tc>
                  <a:txBody>
                    <a:bodyPr/>
                    <a:lstStyle/>
                    <a:p>
                      <a:r>
                        <a:rPr lang="da-DK" sz="1800" cap="none" spc="0" err="1">
                          <a:solidFill>
                            <a:schemeClr val="tx1"/>
                          </a:solidFill>
                        </a:rPr>
                        <a:t>AcceptOrder</a:t>
                      </a:r>
                      <a:endParaRPr lang="da-DK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6312" marR="137589" marT="27518" marB="206383"/>
                </a:tc>
                <a:tc>
                  <a:txBody>
                    <a:bodyPr/>
                    <a:lstStyle/>
                    <a:p>
                      <a:r>
                        <a:rPr lang="da-DK" sz="1800" cap="none" spc="0" err="1">
                          <a:solidFill>
                            <a:schemeClr val="tx1"/>
                          </a:solidFill>
                        </a:rPr>
                        <a:t>OrderAccepted</a:t>
                      </a:r>
                      <a:endParaRPr lang="da-DK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6312" marR="137589" marT="27518" marB="20638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4115">
                <a:tc>
                  <a:txBody>
                    <a:bodyPr/>
                    <a:lstStyle/>
                    <a:p>
                      <a:r>
                        <a:rPr lang="da-DK" sz="1800" cap="none" spc="0" err="1">
                          <a:solidFill>
                            <a:schemeClr val="tx1"/>
                          </a:solidFill>
                        </a:rPr>
                        <a:t>ShipOrder</a:t>
                      </a:r>
                      <a:endParaRPr lang="da-DK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6312" marR="137589" marT="27518" marB="206383"/>
                </a:tc>
                <a:tc>
                  <a:txBody>
                    <a:bodyPr/>
                    <a:lstStyle/>
                    <a:p>
                      <a:r>
                        <a:rPr lang="da-DK" sz="1800" cap="none" spc="0" err="1">
                          <a:solidFill>
                            <a:schemeClr val="tx1"/>
                          </a:solidFill>
                        </a:rPr>
                        <a:t>OrderShipped</a:t>
                      </a:r>
                      <a:endParaRPr lang="da-DK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6312" marR="137589" marT="27518" marB="20638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4115">
                <a:tc>
                  <a:txBody>
                    <a:bodyPr/>
                    <a:lstStyle/>
                    <a:p>
                      <a:r>
                        <a:rPr lang="da-DK" sz="1800" cap="none" spc="0" err="1">
                          <a:solidFill>
                            <a:schemeClr val="tx1"/>
                          </a:solidFill>
                        </a:rPr>
                        <a:t>AddComment</a:t>
                      </a:r>
                      <a:endParaRPr lang="da-DK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6312" marR="137589" marT="27518" marB="206383"/>
                </a:tc>
                <a:tc>
                  <a:txBody>
                    <a:bodyPr/>
                    <a:lstStyle/>
                    <a:p>
                      <a:r>
                        <a:rPr lang="da-DK" sz="1800" cap="none" spc="0" err="1">
                          <a:solidFill>
                            <a:schemeClr val="tx1"/>
                          </a:solidFill>
                        </a:rPr>
                        <a:t>CommentAdded</a:t>
                      </a:r>
                      <a:endParaRPr lang="da-DK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6312" marR="137589" marT="27518" marB="20638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4115">
                <a:tc>
                  <a:txBody>
                    <a:bodyPr/>
                    <a:lstStyle/>
                    <a:p>
                      <a:r>
                        <a:rPr lang="da-DK" sz="1800" cap="none" spc="0" err="1">
                          <a:solidFill>
                            <a:schemeClr val="tx1"/>
                          </a:solidFill>
                        </a:rPr>
                        <a:t>QuarantineReview</a:t>
                      </a:r>
                      <a:endParaRPr lang="da-DK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6312" marR="137589" marT="27518" marB="206383"/>
                </a:tc>
                <a:tc>
                  <a:txBody>
                    <a:bodyPr/>
                    <a:lstStyle/>
                    <a:p>
                      <a:r>
                        <a:rPr lang="da-DK" sz="1800" cap="none" spc="0" err="1">
                          <a:solidFill>
                            <a:schemeClr val="tx1"/>
                          </a:solidFill>
                        </a:rPr>
                        <a:t>ReviewQuarantined</a:t>
                      </a:r>
                      <a:endParaRPr lang="da-DK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6312" marR="137589" marT="27518" marB="20638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4115">
                <a:tc>
                  <a:txBody>
                    <a:bodyPr/>
                    <a:lstStyle/>
                    <a:p>
                      <a:r>
                        <a:rPr lang="da-DK" sz="1800" cap="none" spc="0" err="1">
                          <a:solidFill>
                            <a:schemeClr val="tx1"/>
                          </a:solidFill>
                        </a:rPr>
                        <a:t>UnquarantineReview</a:t>
                      </a:r>
                      <a:endParaRPr lang="da-DK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6312" marR="137589" marT="27518" marB="206383"/>
                </a:tc>
                <a:tc>
                  <a:txBody>
                    <a:bodyPr/>
                    <a:lstStyle/>
                    <a:p>
                      <a:r>
                        <a:rPr lang="da-DK" sz="1800" cap="none" spc="0" err="1">
                          <a:solidFill>
                            <a:schemeClr val="tx1"/>
                          </a:solidFill>
                        </a:rPr>
                        <a:t>ReviewUnquarantined</a:t>
                      </a:r>
                      <a:endParaRPr lang="da-DK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6312" marR="137589" marT="27518" marB="20638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360795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FA815-F70E-5CD8-FF21-9ABA7F929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7074D2C1-0FEF-0ECF-1F76-D765A7FDE6C7}"/>
              </a:ext>
            </a:extLst>
          </p:cNvPr>
          <p:cNvSpPr/>
          <p:nvPr/>
        </p:nvSpPr>
        <p:spPr>
          <a:xfrm>
            <a:off x="2549198" y="3971599"/>
            <a:ext cx="2711450" cy="9271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a-DK"/>
              <a:t>Read model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C56FA59-7258-40C9-2BD1-129C55D4569D}"/>
              </a:ext>
            </a:extLst>
          </p:cNvPr>
          <p:cNvSpPr/>
          <p:nvPr/>
        </p:nvSpPr>
        <p:spPr>
          <a:xfrm>
            <a:off x="2400300" y="3826287"/>
            <a:ext cx="2711450" cy="9271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a-DK"/>
              <a:t>Read model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B9B388-AD57-19A8-ED1B-11F62556B2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Commands, Events and Query Models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1A70711-37E6-7259-C380-35EE73AD48A6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>
            <a:off x="6015038" y="2572163"/>
            <a:ext cx="2462212" cy="1101725"/>
          </a:xfrm>
          <a:prstGeom prst="straightConnector1">
            <a:avLst/>
          </a:prstGeom>
          <a:ln w="41275">
            <a:solidFill>
              <a:schemeClr val="bg1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3CD3F60-4205-39BB-9C44-6B662A863435}"/>
              </a:ext>
            </a:extLst>
          </p:cNvPr>
          <p:cNvCxnSpPr>
            <a:stCxn id="11" idx="1"/>
            <a:endCxn id="12" idx="3"/>
          </p:cNvCxnSpPr>
          <p:nvPr/>
        </p:nvCxnSpPr>
        <p:spPr>
          <a:xfrm flipH="1">
            <a:off x="4959353" y="4137436"/>
            <a:ext cx="2162175" cy="0"/>
          </a:xfrm>
          <a:prstGeom prst="straightConnector1">
            <a:avLst/>
          </a:prstGeom>
          <a:ln w="41275">
            <a:solidFill>
              <a:schemeClr val="bg1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DD3A434-BBA6-9458-8353-19D02457EAED}"/>
              </a:ext>
            </a:extLst>
          </p:cNvPr>
          <p:cNvCxnSpPr>
            <a:stCxn id="10" idx="2"/>
            <a:endCxn id="12" idx="0"/>
          </p:cNvCxnSpPr>
          <p:nvPr/>
        </p:nvCxnSpPr>
        <p:spPr>
          <a:xfrm flipH="1">
            <a:off x="3603628" y="2572163"/>
            <a:ext cx="2411413" cy="1101725"/>
          </a:xfrm>
          <a:prstGeom prst="straightConnector1">
            <a:avLst/>
          </a:prstGeom>
          <a:ln w="41275">
            <a:solidFill>
              <a:schemeClr val="bg1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91F33F1-DB11-0A03-CC56-44450A52838B}"/>
              </a:ext>
            </a:extLst>
          </p:cNvPr>
          <p:cNvSpPr/>
          <p:nvPr/>
        </p:nvSpPr>
        <p:spPr>
          <a:xfrm rot="1503012">
            <a:off x="6518634" y="2791895"/>
            <a:ext cx="1522412" cy="30162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a-DK">
                <a:solidFill>
                  <a:schemeClr val="bg1"/>
                </a:solidFill>
              </a:rPr>
              <a:t>Commands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591F1D-AAEA-17B0-937C-FF3F640955ED}"/>
              </a:ext>
            </a:extLst>
          </p:cNvPr>
          <p:cNvSpPr/>
          <p:nvPr/>
        </p:nvSpPr>
        <p:spPr>
          <a:xfrm>
            <a:off x="5400678" y="3811479"/>
            <a:ext cx="1520825" cy="30003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a-DK">
                <a:solidFill>
                  <a:schemeClr val="bg1"/>
                </a:solidFill>
              </a:rPr>
              <a:t>Events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829B01-60CE-054C-1A5A-14E200DFF08F}"/>
              </a:ext>
            </a:extLst>
          </p:cNvPr>
          <p:cNvSpPr/>
          <p:nvPr/>
        </p:nvSpPr>
        <p:spPr>
          <a:xfrm rot="20134525">
            <a:off x="3805213" y="2893888"/>
            <a:ext cx="1522412" cy="30003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a-DK" err="1">
                <a:solidFill>
                  <a:schemeClr val="bg1"/>
                </a:solidFill>
              </a:rPr>
              <a:t>Queries</a:t>
            </a:r>
            <a:endParaRPr lang="da-DK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B49E2C-C474-B377-C5A7-489F630A5479}"/>
              </a:ext>
            </a:extLst>
          </p:cNvPr>
          <p:cNvSpPr/>
          <p:nvPr/>
        </p:nvSpPr>
        <p:spPr>
          <a:xfrm>
            <a:off x="4659313" y="1645062"/>
            <a:ext cx="2711450" cy="927100"/>
          </a:xfrm>
          <a:prstGeom prst="rect">
            <a:avLst/>
          </a:prstGeom>
          <a:solidFill>
            <a:schemeClr val="accent1">
              <a:lumMod val="9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a-DK">
                <a:solidFill>
                  <a:schemeClr val="tx1"/>
                </a:solidFill>
              </a:rPr>
              <a:t>UI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840D99-9726-83B4-9385-DEBFC373BB74}"/>
              </a:ext>
            </a:extLst>
          </p:cNvPr>
          <p:cNvSpPr/>
          <p:nvPr/>
        </p:nvSpPr>
        <p:spPr>
          <a:xfrm>
            <a:off x="7121525" y="3673887"/>
            <a:ext cx="2711450" cy="927100"/>
          </a:xfrm>
          <a:prstGeom prst="rect">
            <a:avLst/>
          </a:prstGeom>
          <a:solidFill>
            <a:schemeClr val="bg2">
              <a:lumMod val="2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a-DK"/>
              <a:t>Domain model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1A7D83-C428-745D-015D-16BBA04FEC30}"/>
              </a:ext>
            </a:extLst>
          </p:cNvPr>
          <p:cNvSpPr/>
          <p:nvPr/>
        </p:nvSpPr>
        <p:spPr>
          <a:xfrm>
            <a:off x="2247900" y="3673887"/>
            <a:ext cx="2711450" cy="9271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a-DK"/>
              <a:t>Query model</a:t>
            </a:r>
          </a:p>
        </p:txBody>
      </p:sp>
      <p:sp>
        <p:nvSpPr>
          <p:cNvPr id="13" name="Rounded Rectangular Callout 12">
            <a:extLst>
              <a:ext uri="{FF2B5EF4-FFF2-40B4-BE49-F238E27FC236}">
                <a16:creationId xmlns:a16="http://schemas.microsoft.com/office/drawing/2014/main" id="{2B5C41F2-B0D5-39F3-DD0D-4AAAE8805B0C}"/>
              </a:ext>
            </a:extLst>
          </p:cNvPr>
          <p:cNvSpPr/>
          <p:nvPr/>
        </p:nvSpPr>
        <p:spPr>
          <a:xfrm>
            <a:off x="8226453" y="2538826"/>
            <a:ext cx="1522412" cy="479425"/>
          </a:xfrm>
          <a:prstGeom prst="wedgeRoundRectCallout">
            <a:avLst>
              <a:gd name="adj1" fmla="val -65461"/>
              <a:gd name="adj2" fmla="val 58864"/>
              <a:gd name="adj3" fmla="val 16667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a-DK" sz="1200">
                <a:solidFill>
                  <a:schemeClr val="bg1"/>
                </a:solidFill>
              </a:rPr>
              <a:t>”</a:t>
            </a:r>
            <a:r>
              <a:rPr lang="da-DK" sz="1200" err="1">
                <a:solidFill>
                  <a:schemeClr val="bg1"/>
                </a:solidFill>
              </a:rPr>
              <a:t>AcceptOrder</a:t>
            </a:r>
            <a:r>
              <a:rPr lang="da-DK" sz="1200">
                <a:solidFill>
                  <a:schemeClr val="bg1"/>
                </a:solidFill>
              </a:rPr>
              <a:t>”</a:t>
            </a:r>
          </a:p>
          <a:p>
            <a:pPr algn="ctr">
              <a:defRPr/>
            </a:pPr>
            <a:r>
              <a:rPr lang="da-DK" sz="1200" i="1" err="1">
                <a:solidFill>
                  <a:schemeClr val="bg1"/>
                </a:solidFill>
              </a:rPr>
              <a:t>command</a:t>
            </a:r>
            <a:endParaRPr lang="da-DK" sz="1200" i="1">
              <a:solidFill>
                <a:schemeClr val="bg1"/>
              </a:solidFill>
            </a:endParaRPr>
          </a:p>
        </p:txBody>
      </p:sp>
      <p:sp>
        <p:nvSpPr>
          <p:cNvPr id="14" name="Rounded Rectangular Callout 13">
            <a:extLst>
              <a:ext uri="{FF2B5EF4-FFF2-40B4-BE49-F238E27FC236}">
                <a16:creationId xmlns:a16="http://schemas.microsoft.com/office/drawing/2014/main" id="{09E7A0BC-9350-90CD-86BC-90FDDE5090B7}"/>
              </a:ext>
            </a:extLst>
          </p:cNvPr>
          <p:cNvSpPr/>
          <p:nvPr/>
        </p:nvSpPr>
        <p:spPr>
          <a:xfrm>
            <a:off x="5400675" y="4713710"/>
            <a:ext cx="1720850" cy="479425"/>
          </a:xfrm>
          <a:prstGeom prst="wedgeRoundRectCallout">
            <a:avLst>
              <a:gd name="adj1" fmla="val -6143"/>
              <a:gd name="adj2" fmla="val -100064"/>
              <a:gd name="adj3" fmla="val 16667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a-DK" sz="1200">
                <a:solidFill>
                  <a:schemeClr val="bg1"/>
                </a:solidFill>
              </a:rPr>
              <a:t>”</a:t>
            </a:r>
            <a:r>
              <a:rPr lang="da-DK" sz="1200" err="1">
                <a:solidFill>
                  <a:schemeClr val="bg1"/>
                </a:solidFill>
              </a:rPr>
              <a:t>OrderAccepted</a:t>
            </a:r>
            <a:r>
              <a:rPr lang="da-DK" sz="1200">
                <a:solidFill>
                  <a:schemeClr val="bg1"/>
                </a:solidFill>
              </a:rPr>
              <a:t>”</a:t>
            </a:r>
          </a:p>
          <a:p>
            <a:pPr algn="ctr">
              <a:defRPr/>
            </a:pPr>
            <a:r>
              <a:rPr lang="da-DK" sz="1200" i="1">
                <a:solidFill>
                  <a:schemeClr val="bg1"/>
                </a:solidFill>
              </a:rPr>
              <a:t>event</a:t>
            </a:r>
          </a:p>
        </p:txBody>
      </p:sp>
      <p:sp>
        <p:nvSpPr>
          <p:cNvPr id="15" name="Rounded Rectangular Callout 14">
            <a:extLst>
              <a:ext uri="{FF2B5EF4-FFF2-40B4-BE49-F238E27FC236}">
                <a16:creationId xmlns:a16="http://schemas.microsoft.com/office/drawing/2014/main" id="{365BDA50-64E4-9087-BFF5-C7AEA29D8712}"/>
              </a:ext>
            </a:extLst>
          </p:cNvPr>
          <p:cNvSpPr/>
          <p:nvPr/>
        </p:nvSpPr>
        <p:spPr>
          <a:xfrm>
            <a:off x="2309013" y="2322294"/>
            <a:ext cx="1725613" cy="763587"/>
          </a:xfrm>
          <a:prstGeom prst="wedgeRoundRectCallout">
            <a:avLst>
              <a:gd name="adj1" fmla="val 64439"/>
              <a:gd name="adj2" fmla="val 42903"/>
              <a:gd name="adj3" fmla="val 16667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a-DK" sz="1200">
                <a:solidFill>
                  <a:schemeClr val="bg1"/>
                </a:solidFill>
              </a:rPr>
              <a:t>”Find all </a:t>
            </a:r>
          </a:p>
          <a:p>
            <a:pPr algn="ctr">
              <a:defRPr/>
            </a:pPr>
            <a:r>
              <a:rPr lang="da-DK" sz="1200" err="1">
                <a:solidFill>
                  <a:schemeClr val="bg1"/>
                </a:solidFill>
              </a:rPr>
              <a:t>Accepted</a:t>
            </a:r>
            <a:r>
              <a:rPr lang="da-DK" sz="1200">
                <a:solidFill>
                  <a:schemeClr val="bg1"/>
                </a:solidFill>
              </a:rPr>
              <a:t> Orders”</a:t>
            </a:r>
          </a:p>
          <a:p>
            <a:pPr algn="ctr">
              <a:defRPr/>
            </a:pPr>
            <a:r>
              <a:rPr lang="da-DK" sz="1200" i="1">
                <a:solidFill>
                  <a:schemeClr val="bg1"/>
                </a:solidFill>
              </a:rPr>
              <a:t>Query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232B0B-2F28-F0B2-C1A2-6AA12A964FA2}"/>
              </a:ext>
            </a:extLst>
          </p:cNvPr>
          <p:cNvSpPr txBox="1"/>
          <p:nvPr/>
        </p:nvSpPr>
        <p:spPr>
          <a:xfrm>
            <a:off x="1729475" y="5256623"/>
            <a:ext cx="7545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3600" dirty="0">
                <a:solidFill>
                  <a:schemeClr val="accent5"/>
                </a:solidFill>
              </a:rPr>
              <a:t>Commands </a:t>
            </a:r>
            <a:r>
              <a:rPr lang="da-DK" sz="3600" dirty="0" err="1">
                <a:solidFill>
                  <a:schemeClr val="accent5"/>
                </a:solidFill>
              </a:rPr>
              <a:t>are</a:t>
            </a:r>
            <a:r>
              <a:rPr lang="da-DK" sz="3600" dirty="0">
                <a:solidFill>
                  <a:schemeClr val="accent5"/>
                </a:solidFill>
              </a:rPr>
              <a:t> Imperative: </a:t>
            </a:r>
            <a:r>
              <a:rPr lang="da-DK" sz="3600" b="1" dirty="0" err="1">
                <a:solidFill>
                  <a:schemeClr val="accent5"/>
                </a:solidFill>
              </a:rPr>
              <a:t>DoStuff</a:t>
            </a:r>
            <a:endParaRPr lang="da-DK" sz="3600" b="1" dirty="0">
              <a:solidFill>
                <a:schemeClr val="accent5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E3F6B9-7E1F-ABAF-43A1-A5445B933634}"/>
              </a:ext>
            </a:extLst>
          </p:cNvPr>
          <p:cNvSpPr txBox="1"/>
          <p:nvPr/>
        </p:nvSpPr>
        <p:spPr>
          <a:xfrm>
            <a:off x="2142809" y="5844015"/>
            <a:ext cx="71609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3600" dirty="0">
                <a:solidFill>
                  <a:schemeClr val="accent5"/>
                </a:solidFill>
              </a:rPr>
              <a:t>Events </a:t>
            </a:r>
            <a:r>
              <a:rPr lang="da-DK" sz="3600" dirty="0" err="1">
                <a:solidFill>
                  <a:schemeClr val="accent5"/>
                </a:solidFill>
              </a:rPr>
              <a:t>are</a:t>
            </a:r>
            <a:r>
              <a:rPr lang="da-DK" sz="3600" dirty="0">
                <a:solidFill>
                  <a:schemeClr val="accent5"/>
                </a:solidFill>
              </a:rPr>
              <a:t> </a:t>
            </a:r>
            <a:r>
              <a:rPr lang="da-DK" sz="3600" dirty="0" err="1">
                <a:solidFill>
                  <a:schemeClr val="accent5"/>
                </a:solidFill>
              </a:rPr>
              <a:t>Past</a:t>
            </a:r>
            <a:r>
              <a:rPr lang="da-DK" sz="3600" dirty="0">
                <a:solidFill>
                  <a:schemeClr val="accent5"/>
                </a:solidFill>
              </a:rPr>
              <a:t> </a:t>
            </a:r>
            <a:r>
              <a:rPr lang="da-DK" sz="3600" dirty="0" err="1">
                <a:solidFill>
                  <a:schemeClr val="accent5"/>
                </a:solidFill>
              </a:rPr>
              <a:t>tense</a:t>
            </a:r>
            <a:r>
              <a:rPr lang="da-DK" sz="3600" dirty="0">
                <a:solidFill>
                  <a:schemeClr val="accent5"/>
                </a:solidFill>
              </a:rPr>
              <a:t>: </a:t>
            </a:r>
            <a:r>
              <a:rPr lang="da-DK" sz="3600" b="1" dirty="0" err="1">
                <a:solidFill>
                  <a:schemeClr val="accent5"/>
                </a:solidFill>
              </a:rPr>
              <a:t>StuffDone</a:t>
            </a:r>
            <a:endParaRPr lang="da-DK" sz="3600" b="1" dirty="0">
              <a:solidFill>
                <a:schemeClr val="accent5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519E19B-1B34-FDE7-74E3-9D07A56BE12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 rot="1532127">
            <a:off x="7833517" y="3094990"/>
            <a:ext cx="399568" cy="39956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3A26EEC-E2FA-ECB3-E0B5-FBE8C388FEF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966181" y="4137436"/>
            <a:ext cx="399568" cy="39956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6559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/>
      <p:bldP spid="17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CF685-203A-0BFA-9FB2-C8F3C6934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A16AD0-ACA2-179C-E7C6-C075076F78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V</a:t>
            </a:r>
            <a:r>
              <a:rPr lang="en-DK" dirty="0"/>
              <a:t>iew projections in cqrs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DC44A4-CCA9-A951-AB64-7769C6958F90}"/>
              </a:ext>
            </a:extLst>
          </p:cNvPr>
          <p:cNvSpPr txBox="1"/>
          <p:nvPr/>
        </p:nvSpPr>
        <p:spPr>
          <a:xfrm>
            <a:off x="874713" y="1406029"/>
            <a:ext cx="10631487" cy="4816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/>
              <a:t>CQRS Principle: 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/>
              <a:t>Command Query Responsibility Segregation suggests separating the responsibility of handling commands (write operations) from that of handling queries (read operations).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/>
              <a:t>Transaction vs. Query Optimization: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/>
              <a:t>The requirements for optimizing a system for transactional operations (writes) are often different from those for query and reporting operations (reads).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/>
              <a:t>Read Models / View Projections</a:t>
            </a:r>
            <a:r>
              <a:rPr lang="en-GB" dirty="0"/>
              <a:t> based on Event Streams have the following </a:t>
            </a:r>
            <a:r>
              <a:rPr lang="en-GB" b="1" dirty="0"/>
              <a:t>advantages</a:t>
            </a:r>
            <a:r>
              <a:rPr lang="en-GB" dirty="0"/>
              <a:t>: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/>
              <a:t>Very simple queries (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select * from [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read_model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] where …</a:t>
            </a:r>
            <a:r>
              <a:rPr lang="en-GB" dirty="0"/>
              <a:t>)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/>
              <a:t>Existing View projections can easily be rebuilt by replaying events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/>
              <a:t>New View Projection can be built by replaying events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/>
              <a:t>Things to consider: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/>
              <a:t>Projections should receive events in order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/>
              <a:t>Projections should never miss an event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/>
              <a:t>Projections should handle duplicate events - aka idempotence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581921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bldLvl="2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CD8F66F-04E6-2629-C7CB-2040F74221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DK" dirty="0"/>
              <a:t>CQRS + eventsourcing example</a:t>
            </a:r>
          </a:p>
        </p:txBody>
      </p:sp>
      <p:sp>
        <p:nvSpPr>
          <p:cNvPr id="33" name="Rounded Rectangle 10">
            <a:extLst>
              <a:ext uri="{FF2B5EF4-FFF2-40B4-BE49-F238E27FC236}">
                <a16:creationId xmlns:a16="http://schemas.microsoft.com/office/drawing/2014/main" id="{BCD6CC38-BAE8-7F49-F3E4-A6B12A6F578B}"/>
              </a:ext>
            </a:extLst>
          </p:cNvPr>
          <p:cNvSpPr/>
          <p:nvPr/>
        </p:nvSpPr>
        <p:spPr>
          <a:xfrm>
            <a:off x="5065483" y="2719923"/>
            <a:ext cx="2159000" cy="811728"/>
          </a:xfrm>
          <a:prstGeom prst="roundRect">
            <a:avLst/>
          </a:prstGeom>
          <a:solidFill>
            <a:srgbClr val="4472C4">
              <a:lumMod val="85000"/>
            </a:srgbClr>
          </a:solidFill>
          <a:ln w="127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ChangeProductPriceDecider</a:t>
            </a:r>
          </a:p>
        </p:txBody>
      </p:sp>
      <p:sp>
        <p:nvSpPr>
          <p:cNvPr id="34" name="Can 11">
            <a:extLst>
              <a:ext uri="{FF2B5EF4-FFF2-40B4-BE49-F238E27FC236}">
                <a16:creationId xmlns:a16="http://schemas.microsoft.com/office/drawing/2014/main" id="{5AFBFA92-D1AE-99EB-CB70-6D3797E0A712}"/>
              </a:ext>
            </a:extLst>
          </p:cNvPr>
          <p:cNvSpPr/>
          <p:nvPr/>
        </p:nvSpPr>
        <p:spPr>
          <a:xfrm>
            <a:off x="9090333" y="2657312"/>
            <a:ext cx="1366402" cy="2722949"/>
          </a:xfrm>
          <a:prstGeom prst="can">
            <a:avLst/>
          </a:prstGeom>
          <a:solidFill>
            <a:schemeClr val="accent4"/>
          </a:solidFill>
          <a:ln w="12700" cap="flat" cmpd="sng" algn="ctr">
            <a:solidFill>
              <a:srgbClr val="FFD900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Event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Store 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7694ABB-B3C7-2E60-C2BE-81AD39865D13}"/>
              </a:ext>
            </a:extLst>
          </p:cNvPr>
          <p:cNvGrpSpPr/>
          <p:nvPr/>
        </p:nvGrpSpPr>
        <p:grpSpPr>
          <a:xfrm>
            <a:off x="1469796" y="2808416"/>
            <a:ext cx="1468437" cy="630052"/>
            <a:chOff x="874713" y="4844540"/>
            <a:chExt cx="1468437" cy="630052"/>
          </a:xfrm>
        </p:grpSpPr>
        <p:sp>
          <p:nvSpPr>
            <p:cNvPr id="36" name="Folded Corner 8">
              <a:extLst>
                <a:ext uri="{FF2B5EF4-FFF2-40B4-BE49-F238E27FC236}">
                  <a16:creationId xmlns:a16="http://schemas.microsoft.com/office/drawing/2014/main" id="{92B010CA-A527-2913-E5CF-3CD38C122A87}"/>
                </a:ext>
              </a:extLst>
            </p:cNvPr>
            <p:cNvSpPr/>
            <p:nvPr/>
          </p:nvSpPr>
          <p:spPr>
            <a:xfrm>
              <a:off x="874713" y="4844540"/>
              <a:ext cx="1175185" cy="630052"/>
            </a:xfrm>
            <a:prstGeom prst="foldedCorner">
              <a:avLst/>
            </a:prstGeom>
            <a:solidFill>
              <a:srgbClr val="00B0F0"/>
            </a:solidFill>
            <a:ln w="12700" cap="flat" cmpd="sng" algn="ctr">
              <a:solidFill>
                <a:srgbClr val="EDA931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DK" sz="1200" b="1" kern="0" dirty="0">
                  <a:solidFill>
                    <a:srgbClr val="000000"/>
                  </a:solidFill>
                  <a:latin typeface="Century Gothic" panose="020F0302020204030204"/>
                </a:rPr>
                <a:t>Change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DK" sz="1200" b="1" kern="0" dirty="0">
                  <a:solidFill>
                    <a:srgbClr val="000000"/>
                  </a:solidFill>
                  <a:latin typeface="Century Gothic" panose="020F0302020204030204"/>
                </a:rPr>
                <a:t>Product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DK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entury Gothic" panose="020F0302020204030204"/>
                  <a:ea typeface="+mn-ea"/>
                  <a:cs typeface="+mn-cs"/>
                </a:rPr>
                <a:t>Price</a:t>
              </a: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64DABBD4-7F79-0CE8-D06E-61E8726502FD}"/>
                </a:ext>
              </a:extLst>
            </p:cNvPr>
            <p:cNvCxnSpPr>
              <a:stCxn id="36" idx="3"/>
              <a:endCxn id="39" idx="3"/>
            </p:cNvCxnSpPr>
            <p:nvPr/>
          </p:nvCxnSpPr>
          <p:spPr>
            <a:xfrm flipV="1">
              <a:off x="2049898" y="5158780"/>
              <a:ext cx="293252" cy="786"/>
            </a:xfrm>
            <a:prstGeom prst="straightConnector1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  <a:miter lim="800000"/>
              <a:tailEnd type="triangle"/>
            </a:ln>
            <a:effectLst/>
          </p:spPr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A69409A-2FF2-D0E8-B268-4D06B2897B46}"/>
              </a:ext>
            </a:extLst>
          </p:cNvPr>
          <p:cNvGrpSpPr/>
          <p:nvPr/>
        </p:nvGrpSpPr>
        <p:grpSpPr>
          <a:xfrm>
            <a:off x="2938233" y="2976152"/>
            <a:ext cx="2135414" cy="293008"/>
            <a:chOff x="2343150" y="5002892"/>
            <a:chExt cx="2135414" cy="293008"/>
          </a:xfrm>
        </p:grpSpPr>
        <p:sp>
          <p:nvSpPr>
            <p:cNvPr id="39" name="Can 9">
              <a:extLst>
                <a:ext uri="{FF2B5EF4-FFF2-40B4-BE49-F238E27FC236}">
                  <a16:creationId xmlns:a16="http://schemas.microsoft.com/office/drawing/2014/main" id="{40A10190-A063-7D5D-8D6A-6586EAA49672}"/>
                </a:ext>
              </a:extLst>
            </p:cNvPr>
            <p:cNvSpPr/>
            <p:nvPr/>
          </p:nvSpPr>
          <p:spPr>
            <a:xfrm rot="5400000">
              <a:off x="3057071" y="4288971"/>
              <a:ext cx="293008" cy="1720850"/>
            </a:xfrm>
            <a:prstGeom prst="can">
              <a:avLst/>
            </a:prstGeom>
            <a:solidFill>
              <a:srgbClr val="4472C4"/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vert="vert27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DK" sz="16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entury Gothic" panose="020F0302020204030204"/>
                  <a:ea typeface="+mn-ea"/>
                  <a:cs typeface="+mn-cs"/>
                </a:rPr>
                <a:t>CommandBus</a:t>
              </a:r>
              <a:endParaRPr kumimoji="0" lang="en-DK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endParaRP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641686F6-B9D7-6001-D078-19F93452A70C}"/>
                </a:ext>
              </a:extLst>
            </p:cNvPr>
            <p:cNvCxnSpPr>
              <a:cxnSpLocks/>
              <a:stCxn id="39" idx="1"/>
              <a:endCxn id="33" idx="1"/>
            </p:cNvCxnSpPr>
            <p:nvPr/>
          </p:nvCxnSpPr>
          <p:spPr>
            <a:xfrm>
              <a:off x="4064000" y="5149396"/>
              <a:ext cx="414564" cy="3131"/>
            </a:xfrm>
            <a:prstGeom prst="straightConnector1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  <a:miter lim="800000"/>
              <a:tailEnd type="triangle"/>
            </a:ln>
            <a:effectLst/>
          </p:spPr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0A50AC1-E1EF-46FB-D0A7-56C5F145947B}"/>
              </a:ext>
            </a:extLst>
          </p:cNvPr>
          <p:cNvGrpSpPr/>
          <p:nvPr/>
        </p:nvGrpSpPr>
        <p:grpSpPr>
          <a:xfrm>
            <a:off x="4862283" y="4290602"/>
            <a:ext cx="2476500" cy="811728"/>
            <a:chOff x="4267200" y="5718209"/>
            <a:chExt cx="2476500" cy="811728"/>
          </a:xfrm>
        </p:grpSpPr>
        <p:sp>
          <p:nvSpPr>
            <p:cNvPr id="42" name="Rounded Rectangle 20">
              <a:extLst>
                <a:ext uri="{FF2B5EF4-FFF2-40B4-BE49-F238E27FC236}">
                  <a16:creationId xmlns:a16="http://schemas.microsoft.com/office/drawing/2014/main" id="{98A15AC5-C031-2202-8DD8-B4D3A987E30F}"/>
                </a:ext>
              </a:extLst>
            </p:cNvPr>
            <p:cNvSpPr/>
            <p:nvPr/>
          </p:nvSpPr>
          <p:spPr>
            <a:xfrm>
              <a:off x="4267200" y="5718209"/>
              <a:ext cx="2476500" cy="811728"/>
            </a:xfrm>
            <a:prstGeom prst="roundRect">
              <a:avLst/>
            </a:prstGeom>
            <a:solidFill>
              <a:schemeClr val="accent3">
                <a:lumMod val="50000"/>
                <a:lumOff val="5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DK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entury Gothic" panose="020F0302020204030204"/>
                  <a:ea typeface="+mn-ea"/>
                  <a:cs typeface="+mn-cs"/>
                </a:rPr>
                <a:t>ProductsForSaleView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DK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entury Gothic" panose="020F0302020204030204"/>
                  <a:ea typeface="+mn-ea"/>
                  <a:cs typeface="+mn-cs"/>
                </a:rPr>
                <a:t>Evolver</a:t>
              </a:r>
            </a:p>
          </p:txBody>
        </p:sp>
        <p:pic>
          <p:nvPicPr>
            <p:cNvPr id="43" name="Graphic 42" descr="Single gear with solid fill">
              <a:extLst>
                <a:ext uri="{FF2B5EF4-FFF2-40B4-BE49-F238E27FC236}">
                  <a16:creationId xmlns:a16="http://schemas.microsoft.com/office/drawing/2014/main" id="{BBEC0344-5374-03D0-B3E2-67701C86BC9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209775" y="6021412"/>
              <a:ext cx="508525" cy="508525"/>
            </a:xfrm>
            <a:prstGeom prst="rect">
              <a:avLst/>
            </a:prstGeom>
          </p:spPr>
        </p:pic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9ED6DD5-6AE5-CB45-7CDF-0DACCC5D50D1}"/>
              </a:ext>
            </a:extLst>
          </p:cNvPr>
          <p:cNvGrpSpPr/>
          <p:nvPr/>
        </p:nvGrpSpPr>
        <p:grpSpPr>
          <a:xfrm>
            <a:off x="7224483" y="2631700"/>
            <a:ext cx="1865850" cy="334898"/>
            <a:chOff x="6629400" y="4655298"/>
            <a:chExt cx="1865850" cy="334898"/>
          </a:xfrm>
        </p:grpSpPr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BFDF78EC-8414-13B6-4C53-9D5017E55E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29400" y="4990196"/>
              <a:ext cx="1865850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16F09E1-6328-0BB4-D3C4-8DBA6C7BFA6B}"/>
                </a:ext>
              </a:extLst>
            </p:cNvPr>
            <p:cNvSpPr txBox="1"/>
            <p:nvPr/>
          </p:nvSpPr>
          <p:spPr>
            <a:xfrm>
              <a:off x="6766467" y="4655298"/>
              <a:ext cx="16081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DK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entury Gothic" panose="020F0302020204030204"/>
                </a:rPr>
                <a:t>fetchEventStream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6A6F67F-5106-F68E-F3A1-58A0C53084CB}"/>
              </a:ext>
            </a:extLst>
          </p:cNvPr>
          <p:cNvGrpSpPr/>
          <p:nvPr/>
        </p:nvGrpSpPr>
        <p:grpSpPr>
          <a:xfrm>
            <a:off x="7224483" y="3062979"/>
            <a:ext cx="1865850" cy="730791"/>
            <a:chOff x="6629400" y="5086577"/>
            <a:chExt cx="1865850" cy="730791"/>
          </a:xfrm>
        </p:grpSpPr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B39D81E6-C44C-06FD-0DCD-E43A0C0B3008}"/>
                </a:ext>
              </a:extLst>
            </p:cNvPr>
            <p:cNvCxnSpPr>
              <a:cxnSpLocks/>
            </p:cNvCxnSpPr>
            <p:nvPr/>
          </p:nvCxnSpPr>
          <p:spPr>
            <a:xfrm>
              <a:off x="6629400" y="5295900"/>
              <a:ext cx="1865850" cy="27665"/>
            </a:xfrm>
            <a:prstGeom prst="straightConnector1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49" name="Folded Corner 26">
              <a:extLst>
                <a:ext uri="{FF2B5EF4-FFF2-40B4-BE49-F238E27FC236}">
                  <a16:creationId xmlns:a16="http://schemas.microsoft.com/office/drawing/2014/main" id="{8AFD386D-3278-7CDD-2ABE-5E81F9068EC8}"/>
                </a:ext>
              </a:extLst>
            </p:cNvPr>
            <p:cNvSpPr/>
            <p:nvPr/>
          </p:nvSpPr>
          <p:spPr>
            <a:xfrm>
              <a:off x="7051151" y="5086577"/>
              <a:ext cx="1085850" cy="473977"/>
            </a:xfrm>
            <a:prstGeom prst="foldedCorner">
              <a:avLst/>
            </a:prstGeom>
            <a:solidFill>
              <a:schemeClr val="accent4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DK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entury Gothic" panose="020F0302020204030204"/>
                  <a:ea typeface="+mn-ea"/>
                  <a:cs typeface="+mn-cs"/>
                </a:rPr>
                <a:t>ProductPriceChange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ACBFEB9-7A26-ECCA-5FD9-702A08C0E51F}"/>
                </a:ext>
              </a:extLst>
            </p:cNvPr>
            <p:cNvSpPr txBox="1"/>
            <p:nvPr/>
          </p:nvSpPr>
          <p:spPr>
            <a:xfrm>
              <a:off x="6782247" y="5509591"/>
              <a:ext cx="154657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DK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entury Gothic" panose="020F0302020204030204"/>
                </a:rPr>
                <a:t>appendToStream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32181F0D-05CD-BF5F-F1F7-79974C8EFB32}"/>
              </a:ext>
            </a:extLst>
          </p:cNvPr>
          <p:cNvGrpSpPr/>
          <p:nvPr/>
        </p:nvGrpSpPr>
        <p:grpSpPr>
          <a:xfrm>
            <a:off x="7322398" y="4290602"/>
            <a:ext cx="1726150" cy="854037"/>
            <a:chOff x="6889694" y="3969649"/>
            <a:chExt cx="1726150" cy="854037"/>
          </a:xfrm>
        </p:grpSpPr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8698E199-104A-CACE-8149-DE8F20AB5B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89694" y="4269235"/>
              <a:ext cx="1726150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345B9B4-BC1A-2CD0-2391-5DABA24E093B}"/>
                </a:ext>
              </a:extLst>
            </p:cNvPr>
            <p:cNvSpPr txBox="1"/>
            <p:nvPr/>
          </p:nvSpPr>
          <p:spPr>
            <a:xfrm>
              <a:off x="7257461" y="3969649"/>
              <a:ext cx="95090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DK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entury Gothic" panose="020F0302020204030204"/>
                </a:rPr>
                <a:t>subscribe</a:t>
              </a:r>
            </a:p>
          </p:txBody>
        </p:sp>
        <p:sp>
          <p:nvSpPr>
            <p:cNvPr id="54" name="Folded Corner 36">
              <a:extLst>
                <a:ext uri="{FF2B5EF4-FFF2-40B4-BE49-F238E27FC236}">
                  <a16:creationId xmlns:a16="http://schemas.microsoft.com/office/drawing/2014/main" id="{080F5D79-00A0-BFFD-F75D-D24BBEC857B0}"/>
                </a:ext>
              </a:extLst>
            </p:cNvPr>
            <p:cNvSpPr/>
            <p:nvPr/>
          </p:nvSpPr>
          <p:spPr>
            <a:xfrm>
              <a:off x="7264328" y="4349709"/>
              <a:ext cx="1085850" cy="473977"/>
            </a:xfrm>
            <a:prstGeom prst="foldedCorner">
              <a:avLst/>
            </a:prstGeom>
            <a:solidFill>
              <a:schemeClr val="accent4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DK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entury Gothic" panose="020F0302020204030204"/>
                  <a:ea typeface="+mn-ea"/>
                  <a:cs typeface="+mn-cs"/>
                </a:rPr>
                <a:t>ProductPriceChanged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3241ECDE-7FB3-30BE-CB76-5FAB3A9F4A58}"/>
              </a:ext>
            </a:extLst>
          </p:cNvPr>
          <p:cNvGrpSpPr/>
          <p:nvPr/>
        </p:nvGrpSpPr>
        <p:grpSpPr>
          <a:xfrm>
            <a:off x="2858162" y="4050545"/>
            <a:ext cx="2012285" cy="1291841"/>
            <a:chOff x="2263079" y="5478152"/>
            <a:chExt cx="2012285" cy="1291841"/>
          </a:xfrm>
        </p:grpSpPr>
        <p:sp>
          <p:nvSpPr>
            <p:cNvPr id="56" name="Can 37">
              <a:extLst>
                <a:ext uri="{FF2B5EF4-FFF2-40B4-BE49-F238E27FC236}">
                  <a16:creationId xmlns:a16="http://schemas.microsoft.com/office/drawing/2014/main" id="{2C3818E3-AC79-1B4F-63DA-7E82D4D236B1}"/>
                </a:ext>
              </a:extLst>
            </p:cNvPr>
            <p:cNvSpPr/>
            <p:nvPr/>
          </p:nvSpPr>
          <p:spPr>
            <a:xfrm>
              <a:off x="2263079" y="5478152"/>
              <a:ext cx="1266299" cy="1291841"/>
            </a:xfrm>
            <a:prstGeom prst="can">
              <a:avLst/>
            </a:prstGeom>
            <a:solidFill>
              <a:schemeClr val="accent3">
                <a:lumMod val="50000"/>
                <a:lumOff val="5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DK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entury Gothic" panose="020F0302020204030204"/>
                  <a:ea typeface="+mn-ea"/>
                  <a:cs typeface="+mn-cs"/>
                </a:rPr>
                <a:t>Products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DK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entury Gothic" panose="020F0302020204030204"/>
                  <a:ea typeface="+mn-ea"/>
                  <a:cs typeface="+mn-cs"/>
                </a:rPr>
                <a:t>For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DK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entury Gothic" panose="020F0302020204030204"/>
                  <a:ea typeface="+mn-ea"/>
                  <a:cs typeface="+mn-cs"/>
                </a:rPr>
                <a:t>Sale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DK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entury Gothic" panose="020F0302020204030204"/>
                  <a:ea typeface="+mn-ea"/>
                  <a:cs typeface="+mn-cs"/>
                </a:rPr>
                <a:t>View</a:t>
              </a:r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085D64B2-DAA0-02E4-B7B4-7FF2AAA6F3B5}"/>
                </a:ext>
              </a:extLst>
            </p:cNvPr>
            <p:cNvCxnSpPr>
              <a:cxnSpLocks/>
              <a:stCxn id="42" idx="1"/>
              <a:endCxn id="56" idx="4"/>
            </p:cNvCxnSpPr>
            <p:nvPr/>
          </p:nvCxnSpPr>
          <p:spPr>
            <a:xfrm flipH="1">
              <a:off x="3529378" y="6124073"/>
              <a:ext cx="745986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  <a:miter lim="800000"/>
              <a:tailEnd type="triangle"/>
            </a:ln>
            <a:effectLst/>
          </p:spPr>
        </p:cxn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3B24B5CB-28BA-4993-518B-A086B73685C6}"/>
              </a:ext>
            </a:extLst>
          </p:cNvPr>
          <p:cNvGrpSpPr/>
          <p:nvPr/>
        </p:nvGrpSpPr>
        <p:grpSpPr>
          <a:xfrm>
            <a:off x="1613476" y="4420409"/>
            <a:ext cx="1244686" cy="307777"/>
            <a:chOff x="992993" y="5848016"/>
            <a:chExt cx="1244686" cy="307777"/>
          </a:xfrm>
        </p:grpSpPr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98AEC742-EF10-1C85-F4CD-E638F6551F41}"/>
                </a:ext>
              </a:extLst>
            </p:cNvPr>
            <p:cNvCxnSpPr>
              <a:cxnSpLocks/>
            </p:cNvCxnSpPr>
            <p:nvPr/>
          </p:nvCxnSpPr>
          <p:spPr>
            <a:xfrm>
              <a:off x="992993" y="6149324"/>
              <a:ext cx="1244686" cy="1"/>
            </a:xfrm>
            <a:prstGeom prst="straightConnector1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14EEE0AD-1F84-BC6B-48A3-8316B67A1164}"/>
                </a:ext>
              </a:extLst>
            </p:cNvPr>
            <p:cNvSpPr txBox="1"/>
            <p:nvPr/>
          </p:nvSpPr>
          <p:spPr>
            <a:xfrm>
              <a:off x="1049806" y="5848016"/>
              <a:ext cx="67197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DK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entury Gothic" panose="020F0302020204030204"/>
                </a:rPr>
                <a:t>Query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41436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CE36B-44C9-9951-7E42-92E591D48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BA2FC9-8167-8271-B16C-1A9AA61650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DK" dirty="0"/>
              <a:t>View Projections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5F8EF02-B1A7-6E76-0B96-3B156B1991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DK" dirty="0"/>
              <a:t>EVOLVER pattern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F51D702-6A2C-0B65-2E08-31C371FCD7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517105" y="1182916"/>
            <a:ext cx="8000248" cy="519078"/>
          </a:xfrm>
          <a:ln w="25400">
            <a:solidFill>
              <a:schemeClr val="accent4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The Evolver pattern plays a crucial role in projecting past events into a view projection or aggregate state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5D660A-5049-D385-FB34-C0FC62CB653D}"/>
              </a:ext>
            </a:extLst>
          </p:cNvPr>
          <p:cNvSpPr txBox="1"/>
          <p:nvPr/>
        </p:nvSpPr>
        <p:spPr>
          <a:xfrm>
            <a:off x="674646" y="1929832"/>
            <a:ext cx="10842707" cy="477053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BBB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@Component</a:t>
            </a:r>
            <a:br>
              <a:rPr lang="en-GB" sz="1600" dirty="0">
                <a:solidFill>
                  <a:srgbClr val="BBB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GB" sz="16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ProductsForSaleViewEvolver</a:t>
            </a: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b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600" dirty="0" err="1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GB" sz="16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600" dirty="0" err="1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productsForSaleViewRepository</a:t>
            </a: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GB" sz="16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ProductsForSaleViewRepository</a:t>
            </a:r>
            <a:r>
              <a:rPr lang="en-GB" sz="16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br>
              <a:rPr lang="en-GB" sz="16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b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: </a:t>
            </a:r>
            <a:r>
              <a:rPr lang="en-GB" sz="16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EventProcessor</a:t>
            </a: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(…) {</a:t>
            </a:r>
            <a:b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override fun </a:t>
            </a:r>
            <a:r>
              <a:rPr lang="en-GB" sz="1600" dirty="0" err="1">
                <a:solidFill>
                  <a:srgbClr val="FFC66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reactsToEventsRelatedToAggregateTypes</a:t>
            </a: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(): List&lt;</a:t>
            </a:r>
            <a:r>
              <a:rPr lang="en-GB" sz="16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AggregateType</a:t>
            </a: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 {</a:t>
            </a:r>
            <a:b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GB" sz="16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GB" sz="1600" i="1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listOf</a:t>
            </a: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6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AggregateType</a:t>
            </a: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"Product"</a:t>
            </a: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  <a:b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600" dirty="0">
                <a:solidFill>
                  <a:srgbClr val="BBB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en-GB" sz="1600" dirty="0" err="1">
                <a:solidFill>
                  <a:srgbClr val="BBB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MessageHandler</a:t>
            </a:r>
            <a:br>
              <a:rPr lang="en-GB" sz="1600" dirty="0">
                <a:solidFill>
                  <a:srgbClr val="BBB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 dirty="0">
                <a:solidFill>
                  <a:srgbClr val="BBB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fun </a:t>
            </a:r>
            <a:r>
              <a:rPr lang="en-GB" sz="1600" dirty="0">
                <a:solidFill>
                  <a:srgbClr val="FFC66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handle</a:t>
            </a: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(e: </a:t>
            </a:r>
            <a:r>
              <a:rPr lang="en-GB" sz="16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ProductAdded</a:t>
            </a:r>
            <a:r>
              <a:rPr lang="en-GB" sz="16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16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orderedMessage</a:t>
            </a: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GB" sz="16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OrderedMessage</a:t>
            </a: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GB" sz="1600" dirty="0">
                <a:solidFill>
                  <a:srgbClr val="A9B7C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…</a:t>
            </a:r>
            <a:b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600" dirty="0">
                <a:solidFill>
                  <a:srgbClr val="BBB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en-GB" sz="1600" dirty="0" err="1">
                <a:solidFill>
                  <a:srgbClr val="BBB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MessageHandler</a:t>
            </a:r>
            <a:br>
              <a:rPr lang="en-GB" sz="1600" dirty="0">
                <a:solidFill>
                  <a:srgbClr val="BBB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 dirty="0">
                <a:solidFill>
                  <a:srgbClr val="BBB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fun </a:t>
            </a:r>
            <a:r>
              <a:rPr lang="en-GB" sz="1600" dirty="0">
                <a:solidFill>
                  <a:srgbClr val="FFC66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handle</a:t>
            </a: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(e: </a:t>
            </a:r>
            <a:r>
              <a:rPr lang="en-GB" sz="16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ProductPriceChanged</a:t>
            </a:r>
            <a:r>
              <a:rPr lang="en-GB" sz="16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16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orderedMessage</a:t>
            </a: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GB" sz="16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OrderedMessage</a:t>
            </a: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b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…  </a:t>
            </a:r>
            <a:b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8872220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705B687-5939-2482-C21B-06982B9E7BC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DK"/>
              <a:t>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FC733-CE18-6EA1-D0DE-81115D0A572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DK"/>
              <a:t>view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9316281-C3C3-E869-5805-EC971FCDE94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/>
              <a:t>V</a:t>
            </a:r>
            <a:r>
              <a:rPr lang="en-DK"/>
              <a:t>iew repository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3B70A8-D6FC-D5A6-4557-AE8562EFF50B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74713" y="1937999"/>
            <a:ext cx="5157787" cy="1750916"/>
          </a:xfrm>
          <a:solidFill>
            <a:schemeClr val="tx1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>
                <a:solidFill>
                  <a:srgbClr val="BBB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@Entity</a:t>
            </a:r>
            <a:r>
              <a:rPr lang="en-GB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(name = </a:t>
            </a:r>
            <a:r>
              <a:rPr lang="en-GB" dirty="0">
                <a:solidFill>
                  <a:srgbClr val="6A875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GB" dirty="0" err="1">
                <a:solidFill>
                  <a:srgbClr val="6A875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products_for_sale_view</a:t>
            </a:r>
            <a:r>
              <a:rPr lang="en-GB" dirty="0">
                <a:solidFill>
                  <a:srgbClr val="6A875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GB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GB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data class </a:t>
            </a:r>
            <a:r>
              <a:rPr lang="en-GB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ProductForSaleView</a:t>
            </a:r>
            <a:r>
              <a:rPr lang="en-GB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br>
              <a:rPr lang="en-GB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dirty="0">
                <a:solidFill>
                  <a:srgbClr val="BBB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@Id </a:t>
            </a:r>
            <a:r>
              <a:rPr lang="en-GB" dirty="0" err="1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GB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en-GB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GB" b="1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GB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br>
              <a:rPr lang="en-GB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var </a:t>
            </a:r>
            <a:r>
              <a:rPr lang="en-GB" dirty="0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GB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String</a:t>
            </a:r>
            <a:r>
              <a:rPr lang="en-GB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br>
              <a:rPr lang="en-GB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var </a:t>
            </a:r>
            <a:r>
              <a:rPr lang="en-GB" dirty="0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price</a:t>
            </a:r>
            <a:r>
              <a:rPr lang="en-GB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Amount</a:t>
            </a:r>
            <a:r>
              <a:rPr lang="en-GB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br>
              <a:rPr lang="en-GB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var </a:t>
            </a:r>
            <a:r>
              <a:rPr lang="en-GB" dirty="0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version</a:t>
            </a:r>
            <a:r>
              <a:rPr lang="en-GB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Long,</a:t>
            </a:r>
            <a:br>
              <a:rPr lang="en-GB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GB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var </a:t>
            </a:r>
            <a:r>
              <a:rPr lang="en-GB" dirty="0" err="1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lastUpdated</a:t>
            </a:r>
            <a:r>
              <a:rPr lang="en-GB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GB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ZonedDateTime</a:t>
            </a:r>
            <a:r>
              <a:rPr lang="en-GB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br>
              <a:rPr lang="en-GB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en-DK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86140FF-6EDB-F143-4E18-F5A9E8055C65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208713" y="1937999"/>
            <a:ext cx="5651191" cy="1549480"/>
          </a:xfrm>
          <a:solidFill>
            <a:schemeClr val="tx1"/>
          </a:solidFill>
        </p:spPr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interface </a:t>
            </a:r>
            <a:r>
              <a:rPr lang="en-GB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ProductsForSaleViewRepository</a:t>
            </a:r>
            <a:r>
              <a:rPr lang="en-GB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:  </a:t>
            </a:r>
            <a:r>
              <a:rPr lang="en-GB" dirty="0">
                <a:solidFill>
                  <a:srgbClr val="A9B7C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GB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br>
              <a:rPr lang="en-GB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GB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JpaRepository</a:t>
            </a:r>
            <a:r>
              <a:rPr lang="en-GB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GB" b="1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ProductForSaleView</a:t>
            </a:r>
            <a:r>
              <a:rPr lang="en-GB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b="1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GB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GB" dirty="0">
                <a:solidFill>
                  <a:srgbClr val="72737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en-GB" dirty="0">
                <a:solidFill>
                  <a:srgbClr val="72737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solidFill>
                  <a:srgbClr val="72737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GB" dirty="0">
              <a:solidFill>
                <a:srgbClr val="A9B7C6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DK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212340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6230F-17C5-9B5A-C15F-F7F04E8D2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C4EAE28-C94E-F796-39F4-9E45CE8E32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DK"/>
              <a:t>View Projections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B8F9203-5684-2E7B-2C42-45A22DA02A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DK"/>
              <a:t>EVOLVER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AEE43-6DCF-258B-A997-2F64F294776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D225E8-2DA3-5568-CBE7-4D8D3C79FAE0}"/>
              </a:ext>
            </a:extLst>
          </p:cNvPr>
          <p:cNvSpPr txBox="1"/>
          <p:nvPr/>
        </p:nvSpPr>
        <p:spPr>
          <a:xfrm>
            <a:off x="801687" y="1824730"/>
            <a:ext cx="10842707" cy="501675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BBB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@Component</a:t>
            </a:r>
            <a:br>
              <a:rPr lang="en-GB" sz="1600" dirty="0">
                <a:solidFill>
                  <a:srgbClr val="BBB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GB" sz="16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ProductsForSaleViewEvolver</a:t>
            </a: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b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600" dirty="0" err="1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GB" sz="16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600" dirty="0" err="1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productsForSaleViewRepository</a:t>
            </a: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GB" sz="16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ProductsForSaleViewRepository</a:t>
            </a:r>
            <a:r>
              <a:rPr lang="en-GB" sz="16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br>
              <a:rPr lang="en-GB" sz="16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b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: </a:t>
            </a:r>
            <a:r>
              <a:rPr lang="en-GB" sz="16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EventProcessor</a:t>
            </a: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(…) {</a:t>
            </a:r>
            <a:b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GB" sz="1600" dirty="0">
                <a:solidFill>
                  <a:srgbClr val="BBB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en-GB" sz="1600" dirty="0" err="1">
                <a:solidFill>
                  <a:srgbClr val="BBB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MessageHandler</a:t>
            </a:r>
            <a:br>
              <a:rPr lang="en-GB" sz="1600" dirty="0">
                <a:solidFill>
                  <a:srgbClr val="BBB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 dirty="0">
                <a:solidFill>
                  <a:srgbClr val="BBB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GB" sz="16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fun </a:t>
            </a:r>
            <a:r>
              <a:rPr lang="en-GB" sz="1600" dirty="0">
                <a:solidFill>
                  <a:srgbClr val="FFC66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handle</a:t>
            </a: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(e: </a:t>
            </a:r>
            <a:r>
              <a:rPr lang="en-GB" sz="1600" b="1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ProductAdded</a:t>
            </a:r>
            <a:r>
              <a:rPr lang="en-GB" sz="16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16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orderedMessage</a:t>
            </a: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GB" sz="16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OrderedMessage</a:t>
            </a: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b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(!</a:t>
            </a:r>
            <a:r>
              <a:rPr lang="en-GB" sz="1600" dirty="0" err="1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productsForSaleViewRepository</a:t>
            </a:r>
            <a:r>
              <a:rPr lang="en-GB" sz="16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.existsById</a:t>
            </a: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6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e.</a:t>
            </a:r>
            <a:r>
              <a:rPr lang="en-GB" sz="1600" dirty="0" err="1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en-GB" sz="16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GB" sz="1600" dirty="0" err="1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)) {</a:t>
            </a:r>
            <a:b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GB" sz="1600" dirty="0" err="1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productsForSaleViewRepository</a:t>
            </a:r>
            <a:r>
              <a:rPr lang="en-GB" sz="16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.save</a:t>
            </a: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b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GB" sz="16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ProductForSaleView</a:t>
            </a: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b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GB" sz="16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e.</a:t>
            </a:r>
            <a:r>
              <a:rPr lang="en-GB" sz="1600" dirty="0" err="1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en-GB" sz="16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GB" sz="1600" dirty="0" err="1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en-GB" sz="16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br>
              <a:rPr lang="en-GB" sz="16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GB" sz="16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e.</a:t>
            </a:r>
            <a:r>
              <a:rPr lang="en-GB" sz="1600" dirty="0" err="1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GB" sz="16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br>
              <a:rPr lang="en-GB" sz="16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GB" sz="16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e.</a:t>
            </a:r>
            <a:r>
              <a:rPr lang="en-GB" sz="1600" dirty="0" err="1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price</a:t>
            </a:r>
            <a:r>
              <a:rPr lang="en-GB" sz="16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br>
              <a:rPr lang="en-GB" sz="16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GB" sz="16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orderedMessage.</a:t>
            </a:r>
            <a:r>
              <a:rPr lang="en-GB" sz="1600" dirty="0" err="1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order</a:t>
            </a:r>
            <a:r>
              <a:rPr lang="en-GB" sz="1600" dirty="0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GB" sz="1600" dirty="0">
                <a:solidFill>
                  <a:srgbClr val="9876A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GB" sz="16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orderedMessage.</a:t>
            </a:r>
            <a:r>
              <a:rPr lang="en-GB" sz="1600" dirty="0" err="1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getMessageTimestamp</a:t>
            </a:r>
            <a:r>
              <a:rPr lang="en-GB" sz="1600" dirty="0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GB" sz="1600" dirty="0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)</a:t>
            </a:r>
            <a:b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en-GB" sz="1600" dirty="0">
              <a:solidFill>
                <a:srgbClr val="CC7832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6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Rounded Rectangular Callout 5">
            <a:extLst>
              <a:ext uri="{FF2B5EF4-FFF2-40B4-BE49-F238E27FC236}">
                <a16:creationId xmlns:a16="http://schemas.microsoft.com/office/drawing/2014/main" id="{74A86D46-EBFA-9513-4F6F-6214E0E265BE}"/>
              </a:ext>
            </a:extLst>
          </p:cNvPr>
          <p:cNvSpPr/>
          <p:nvPr/>
        </p:nvSpPr>
        <p:spPr>
          <a:xfrm>
            <a:off x="9128234" y="3536731"/>
            <a:ext cx="1533416" cy="719959"/>
          </a:xfrm>
          <a:prstGeom prst="wedgeRoundRectCallout">
            <a:avLst>
              <a:gd name="adj1" fmla="val -71399"/>
              <a:gd name="adj2" fmla="val -29471"/>
              <a:gd name="adj3" fmla="val 16667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K"/>
              <a:t>Idempotent</a:t>
            </a:r>
          </a:p>
        </p:txBody>
      </p:sp>
    </p:spTree>
    <p:extLst>
      <p:ext uri="{BB962C8B-B14F-4D97-AF65-F5344CB8AC3E}">
        <p14:creationId xmlns:p14="http://schemas.microsoft.com/office/powerpoint/2010/main" val="216625811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F86D5-DCE0-E400-7075-5D5D2AC2B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75E0AB6-CC49-DAF1-9678-E38631E3B3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DK"/>
              <a:t>View Projections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7DDA4FF-254B-5463-5AE0-887A78774F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DK"/>
              <a:t>EVOLVER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E3DA6-7E57-5B6D-A2F9-D10F5324B10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DBF3E1-D9E2-104D-AC8B-DBB97CC7D60F}"/>
              </a:ext>
            </a:extLst>
          </p:cNvPr>
          <p:cNvSpPr txBox="1"/>
          <p:nvPr/>
        </p:nvSpPr>
        <p:spPr>
          <a:xfrm>
            <a:off x="801687" y="1779687"/>
            <a:ext cx="10842707" cy="507831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GB" sz="1200" dirty="0">
                <a:solidFill>
                  <a:srgbClr val="BBB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@Component</a:t>
            </a:r>
            <a:br>
              <a:rPr lang="en-GB" sz="1200" dirty="0">
                <a:solidFill>
                  <a:srgbClr val="BBB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2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GB" sz="12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ProductsForSaleViewEvolver</a:t>
            </a:r>
            <a:r>
              <a:rPr lang="en-GB" sz="12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br>
              <a:rPr lang="en-GB" sz="12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2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200" dirty="0" err="1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GB" sz="12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200" dirty="0" err="1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productsForSaleViewRepository</a:t>
            </a:r>
            <a:r>
              <a:rPr lang="en-GB" sz="12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GB" sz="12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ProductsForSaleViewRepository</a:t>
            </a:r>
            <a:r>
              <a:rPr lang="en-GB" sz="12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br>
              <a:rPr lang="en-GB" sz="12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2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2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br>
              <a:rPr lang="en-GB" sz="12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2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: </a:t>
            </a:r>
            <a:r>
              <a:rPr lang="en-GB" sz="12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EventProcessor</a:t>
            </a:r>
            <a:r>
              <a:rPr lang="en-GB" sz="12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(…) {</a:t>
            </a:r>
            <a:br>
              <a:rPr lang="en-GB" sz="12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2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200" dirty="0">
                <a:solidFill>
                  <a:srgbClr val="BBB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en-GB" sz="1200" dirty="0" err="1">
                <a:solidFill>
                  <a:srgbClr val="BBB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MessageHandler</a:t>
            </a:r>
            <a:br>
              <a:rPr lang="en-GB" sz="1200" dirty="0">
                <a:solidFill>
                  <a:srgbClr val="BBB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200" dirty="0">
                <a:solidFill>
                  <a:srgbClr val="BBB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2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fun </a:t>
            </a:r>
            <a:r>
              <a:rPr lang="en-GB" sz="1200" dirty="0">
                <a:solidFill>
                  <a:srgbClr val="FFC66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handle</a:t>
            </a:r>
            <a:r>
              <a:rPr lang="en-GB" sz="12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(e: </a:t>
            </a:r>
            <a:r>
              <a:rPr lang="en-GB" sz="12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ProductPriceChanged</a:t>
            </a:r>
            <a:r>
              <a:rPr lang="en-GB" sz="12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12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orderedMessage</a:t>
            </a:r>
            <a:r>
              <a:rPr lang="en-GB" sz="12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GB" sz="12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OrderedMessage</a:t>
            </a:r>
            <a:r>
              <a:rPr lang="en-GB" sz="12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br>
              <a:rPr lang="en-GB" sz="12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2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GB" sz="12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var </a:t>
            </a:r>
            <a:r>
              <a:rPr lang="en-GB" sz="12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productForSale</a:t>
            </a:r>
            <a:r>
              <a:rPr lang="en-GB" sz="12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1200" dirty="0" err="1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productsForSaleViewRepository</a:t>
            </a:r>
            <a:r>
              <a:rPr lang="en-GB" sz="12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.findById</a:t>
            </a:r>
            <a:r>
              <a:rPr lang="en-GB" sz="12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2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e.</a:t>
            </a:r>
            <a:r>
              <a:rPr lang="en-GB" sz="1200" dirty="0" err="1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en-GB" sz="12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GB" sz="1200" dirty="0" err="1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en-GB" sz="12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  <a:r>
              <a:rPr lang="en-GB" sz="12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orElseThrow</a:t>
            </a:r>
            <a:r>
              <a:rPr lang="en-GB" sz="12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br>
              <a:rPr lang="en-GB" sz="12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2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GB" sz="12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GB" sz="12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2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productForSale.</a:t>
            </a:r>
            <a:r>
              <a:rPr lang="en-GB" sz="1200" dirty="0" err="1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version</a:t>
            </a:r>
            <a:r>
              <a:rPr lang="en-GB" sz="1200" dirty="0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2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== </a:t>
            </a:r>
            <a:r>
              <a:rPr lang="en-GB" sz="12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orderedMessage.</a:t>
            </a:r>
            <a:r>
              <a:rPr lang="en-GB" sz="1200" dirty="0" err="1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order</a:t>
            </a:r>
            <a:r>
              <a:rPr lang="en-GB" sz="12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br>
              <a:rPr lang="en-GB" sz="12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2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GB" sz="1200" dirty="0"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Idempotent handling</a:t>
            </a:r>
          </a:p>
          <a:p>
            <a:r>
              <a:rPr lang="en-GB" sz="1200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GB" sz="1200" dirty="0">
                <a:solidFill>
                  <a:srgbClr val="CC783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br>
              <a:rPr lang="en-GB" sz="1200" dirty="0"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200" dirty="0"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GB" sz="12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en-GB" sz="12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2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GB" sz="12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GB" sz="12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2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productForSale.</a:t>
            </a:r>
            <a:r>
              <a:rPr lang="en-GB" sz="1200" dirty="0" err="1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version</a:t>
            </a:r>
            <a:r>
              <a:rPr lang="en-GB" sz="1200" dirty="0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2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GB" sz="1200" dirty="0">
                <a:solidFill>
                  <a:srgbClr val="6897B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 </a:t>
            </a:r>
            <a:r>
              <a:rPr lang="en-GB" sz="12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== </a:t>
            </a:r>
            <a:r>
              <a:rPr lang="en-GB" sz="12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orderedMessage.</a:t>
            </a:r>
            <a:r>
              <a:rPr lang="en-GB" sz="1200" dirty="0" err="1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order</a:t>
            </a:r>
            <a:r>
              <a:rPr lang="en-GB" sz="12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br>
              <a:rPr lang="en-GB" sz="12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2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GB" sz="12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productForSale.</a:t>
            </a:r>
            <a:r>
              <a:rPr lang="en-GB" sz="1200" dirty="0" err="1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price</a:t>
            </a:r>
            <a:r>
              <a:rPr lang="en-GB" sz="1200" dirty="0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2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GB" sz="12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e.</a:t>
            </a:r>
            <a:r>
              <a:rPr lang="en-GB" sz="1200" dirty="0" err="1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price</a:t>
            </a:r>
            <a:br>
              <a:rPr lang="en-GB" sz="1200" dirty="0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200" dirty="0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GB" sz="12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productForSale.</a:t>
            </a:r>
            <a:r>
              <a:rPr lang="en-GB" sz="1200" dirty="0" err="1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version</a:t>
            </a:r>
            <a:r>
              <a:rPr lang="en-GB" sz="1200" dirty="0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2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GB" sz="12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orderedMessage.</a:t>
            </a:r>
            <a:r>
              <a:rPr lang="en-GB" sz="1200" dirty="0" err="1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order</a:t>
            </a:r>
            <a:br>
              <a:rPr lang="en-GB" sz="1200" dirty="0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200" dirty="0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GB" sz="1200" i="1" dirty="0" err="1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productsForSaleViewRepository</a:t>
            </a:r>
            <a:r>
              <a:rPr lang="en-GB" sz="1200" i="1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.save</a:t>
            </a:r>
            <a:r>
              <a:rPr lang="en-GB" sz="1200" i="1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200" i="1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productForSale</a:t>
            </a:r>
            <a:r>
              <a:rPr lang="en-GB" sz="1200" i="1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GB" sz="12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2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} </a:t>
            </a:r>
            <a:r>
              <a:rPr lang="en-GB" sz="12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else </a:t>
            </a:r>
            <a:r>
              <a:rPr lang="en-GB" sz="12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en-GB" sz="12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2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GB" sz="12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throw </a:t>
            </a:r>
            <a:r>
              <a:rPr lang="en-GB" sz="12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EventOutOfOrderException</a:t>
            </a:r>
            <a:r>
              <a:rPr lang="en-GB" sz="12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br>
              <a:rPr lang="en-GB" sz="12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2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GB" sz="12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ProductConfiguration.</a:t>
            </a:r>
            <a:r>
              <a:rPr lang="en-GB" sz="1200" dirty="0" err="1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AGGREGATE_TYPE</a:t>
            </a:r>
            <a:r>
              <a:rPr lang="en-GB" sz="12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br>
              <a:rPr lang="en-GB" sz="12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2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GB" sz="12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e.</a:t>
            </a:r>
            <a:r>
              <a:rPr lang="en-GB" sz="1200" dirty="0" err="1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en-GB" sz="12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.toString</a:t>
            </a:r>
            <a:r>
              <a:rPr lang="en-GB" sz="12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GB" sz="12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br>
              <a:rPr lang="en-GB" sz="12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2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GB" sz="12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ProductPriceChanged</a:t>
            </a:r>
            <a:r>
              <a:rPr lang="en-GB" sz="12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GB" sz="12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class,</a:t>
            </a:r>
            <a:br>
              <a:rPr lang="en-GB" sz="12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2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GB" sz="1200" dirty="0" err="1">
                <a:solidFill>
                  <a:srgbClr val="467C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expectedEventOrder</a:t>
            </a:r>
            <a:r>
              <a:rPr lang="en-GB" sz="1200" dirty="0">
                <a:solidFill>
                  <a:srgbClr val="467C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12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productForSale.</a:t>
            </a:r>
            <a:r>
              <a:rPr lang="en-GB" sz="1200" dirty="0" err="1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version</a:t>
            </a:r>
            <a:r>
              <a:rPr lang="en-GB" sz="1200" dirty="0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2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GB" sz="1200" dirty="0">
                <a:solidFill>
                  <a:srgbClr val="6897B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GB" sz="12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br>
              <a:rPr lang="en-GB" sz="12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2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GB" sz="1200" dirty="0" err="1">
                <a:solidFill>
                  <a:srgbClr val="467C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actualEventOrder</a:t>
            </a:r>
            <a:r>
              <a:rPr lang="en-GB" sz="1200" dirty="0">
                <a:solidFill>
                  <a:srgbClr val="467C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12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orderedMessage.</a:t>
            </a:r>
            <a:r>
              <a:rPr lang="en-GB" sz="1200" dirty="0" err="1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order</a:t>
            </a:r>
            <a:br>
              <a:rPr lang="en-GB" sz="1200" dirty="0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200" dirty="0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GB" sz="12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GB" sz="12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2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  <a:br>
              <a:rPr lang="en-GB" sz="12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2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GB" sz="12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2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30494B7-50D4-E49D-566E-552388F05268}"/>
              </a:ext>
            </a:extLst>
          </p:cNvPr>
          <p:cNvGrpSpPr/>
          <p:nvPr/>
        </p:nvGrpSpPr>
        <p:grpSpPr>
          <a:xfrm>
            <a:off x="1550276" y="4090410"/>
            <a:ext cx="5538951" cy="2236804"/>
            <a:chOff x="1550276" y="4314832"/>
            <a:chExt cx="5538951" cy="2236804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FD816BC-CA7D-E8BD-582A-6B29DBBD05A7}"/>
                </a:ext>
              </a:extLst>
            </p:cNvPr>
            <p:cNvCxnSpPr>
              <a:cxnSpLocks/>
            </p:cNvCxnSpPr>
            <p:nvPr/>
          </p:nvCxnSpPr>
          <p:spPr>
            <a:xfrm>
              <a:off x="1550276" y="4314832"/>
              <a:ext cx="5538951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1F084D6-E977-63E8-26D3-7B8E922A999F}"/>
                </a:ext>
              </a:extLst>
            </p:cNvPr>
            <p:cNvCxnSpPr>
              <a:cxnSpLocks/>
            </p:cNvCxnSpPr>
            <p:nvPr/>
          </p:nvCxnSpPr>
          <p:spPr>
            <a:xfrm>
              <a:off x="1550276" y="5263061"/>
              <a:ext cx="5538951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D78C5FA-D773-2302-F166-988E6FF778BD}"/>
                </a:ext>
              </a:extLst>
            </p:cNvPr>
            <p:cNvCxnSpPr>
              <a:cxnSpLocks/>
            </p:cNvCxnSpPr>
            <p:nvPr/>
          </p:nvCxnSpPr>
          <p:spPr>
            <a:xfrm>
              <a:off x="1550276" y="5457854"/>
              <a:ext cx="5538951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37EA2FA-560D-763A-02F7-96D4259BB9D9}"/>
                </a:ext>
              </a:extLst>
            </p:cNvPr>
            <p:cNvCxnSpPr>
              <a:cxnSpLocks/>
            </p:cNvCxnSpPr>
            <p:nvPr/>
          </p:nvCxnSpPr>
          <p:spPr>
            <a:xfrm>
              <a:off x="1550276" y="5094351"/>
              <a:ext cx="5538951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4C4A23C-1E33-2AFE-F966-E2F297162F60}"/>
                </a:ext>
              </a:extLst>
            </p:cNvPr>
            <p:cNvCxnSpPr>
              <a:cxnSpLocks/>
            </p:cNvCxnSpPr>
            <p:nvPr/>
          </p:nvCxnSpPr>
          <p:spPr>
            <a:xfrm>
              <a:off x="1550276" y="5648810"/>
              <a:ext cx="5538951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FDAF42C-9A94-58BF-A3B8-5120D855B4A0}"/>
                </a:ext>
              </a:extLst>
            </p:cNvPr>
            <p:cNvCxnSpPr>
              <a:cxnSpLocks/>
            </p:cNvCxnSpPr>
            <p:nvPr/>
          </p:nvCxnSpPr>
          <p:spPr>
            <a:xfrm>
              <a:off x="1550276" y="5808528"/>
              <a:ext cx="5538951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3C6BFC0-FAFC-B735-AE7B-9ED7E61A893D}"/>
                </a:ext>
              </a:extLst>
            </p:cNvPr>
            <p:cNvCxnSpPr>
              <a:cxnSpLocks/>
            </p:cNvCxnSpPr>
            <p:nvPr/>
          </p:nvCxnSpPr>
          <p:spPr>
            <a:xfrm>
              <a:off x="1550276" y="5987205"/>
              <a:ext cx="5538951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FB55A86-A985-B74D-D812-E069B259B29D}"/>
                </a:ext>
              </a:extLst>
            </p:cNvPr>
            <p:cNvCxnSpPr>
              <a:cxnSpLocks/>
            </p:cNvCxnSpPr>
            <p:nvPr/>
          </p:nvCxnSpPr>
          <p:spPr>
            <a:xfrm>
              <a:off x="1550276" y="6199539"/>
              <a:ext cx="5538951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73B4E0D-A279-AC55-8062-85B2B05EA6A5}"/>
                </a:ext>
              </a:extLst>
            </p:cNvPr>
            <p:cNvCxnSpPr>
              <a:cxnSpLocks/>
            </p:cNvCxnSpPr>
            <p:nvPr/>
          </p:nvCxnSpPr>
          <p:spPr>
            <a:xfrm>
              <a:off x="1550276" y="6361385"/>
              <a:ext cx="5538951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CBE343F-50B6-F21A-3029-78B37718A7F3}"/>
                </a:ext>
              </a:extLst>
            </p:cNvPr>
            <p:cNvCxnSpPr>
              <a:cxnSpLocks/>
            </p:cNvCxnSpPr>
            <p:nvPr/>
          </p:nvCxnSpPr>
          <p:spPr>
            <a:xfrm>
              <a:off x="1550276" y="6551636"/>
              <a:ext cx="5538951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17634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C1697-51F2-4ECA-FC99-43A64FFCC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77C1190-FD7A-6865-8541-39E60C106E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DK"/>
              <a:t>View Projections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83F55D7-49E1-8BD9-228A-51DB3DC923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DK"/>
              <a:t>EVOLVER pattern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FDDD91-4C81-B41A-0C98-8B2F3542C663}"/>
              </a:ext>
            </a:extLst>
          </p:cNvPr>
          <p:cNvSpPr txBox="1"/>
          <p:nvPr/>
        </p:nvSpPr>
        <p:spPr>
          <a:xfrm>
            <a:off x="801687" y="1966620"/>
            <a:ext cx="10842707" cy="375487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BBB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@Component</a:t>
            </a:r>
            <a:br>
              <a:rPr lang="en-GB" sz="1400" dirty="0">
                <a:solidFill>
                  <a:srgbClr val="BBB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4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GB" sz="14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ProductsForSaleViewEvolver</a:t>
            </a:r>
            <a:r>
              <a:rPr lang="en-GB" sz="14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br>
              <a:rPr lang="en-GB" sz="14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4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400" dirty="0" err="1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GB" sz="14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400" dirty="0" err="1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productsForSaleViewRepository</a:t>
            </a:r>
            <a:r>
              <a:rPr lang="en-GB" sz="14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GB" sz="14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ProductsForSaleViewRepository</a:t>
            </a:r>
            <a:r>
              <a:rPr lang="en-GB" sz="14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br>
              <a:rPr lang="en-GB" sz="14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4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4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br>
              <a:rPr lang="en-GB" sz="14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4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: </a:t>
            </a:r>
            <a:r>
              <a:rPr lang="en-GB" sz="14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EventProcessor</a:t>
            </a:r>
            <a:r>
              <a:rPr lang="en-GB" sz="14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(…) {</a:t>
            </a:r>
            <a:br>
              <a:rPr lang="en-GB" sz="14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4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400" dirty="0">
                <a:solidFill>
                  <a:srgbClr val="BBB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en-GB" sz="1400" dirty="0" err="1">
                <a:solidFill>
                  <a:srgbClr val="BBB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MessageHandler</a:t>
            </a:r>
            <a:br>
              <a:rPr lang="en-GB" sz="1400" dirty="0">
                <a:solidFill>
                  <a:srgbClr val="BBB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400" dirty="0">
                <a:solidFill>
                  <a:srgbClr val="BBB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4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fun </a:t>
            </a:r>
            <a:r>
              <a:rPr lang="en-GB" sz="1400" dirty="0">
                <a:solidFill>
                  <a:srgbClr val="FFC66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handle</a:t>
            </a:r>
            <a:r>
              <a:rPr lang="en-GB" sz="14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(e: </a:t>
            </a:r>
            <a:r>
              <a:rPr lang="en-GB" sz="14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ProductPriceChanged</a:t>
            </a:r>
            <a:r>
              <a:rPr lang="en-GB" sz="14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14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orderedMessage</a:t>
            </a:r>
            <a:r>
              <a:rPr lang="en-GB" sz="14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GB" sz="14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OrderedMessage</a:t>
            </a:r>
            <a:r>
              <a:rPr lang="en-GB" sz="14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br>
              <a:rPr lang="en-GB" sz="14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4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GB" sz="14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var </a:t>
            </a:r>
            <a:r>
              <a:rPr lang="en-GB" sz="14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productForSale</a:t>
            </a:r>
            <a:r>
              <a:rPr lang="en-GB" sz="14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1400" dirty="0" err="1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productsForSaleViewRepository</a:t>
            </a:r>
            <a:r>
              <a:rPr lang="en-GB" sz="14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.findById</a:t>
            </a:r>
            <a:r>
              <a:rPr lang="en-GB" sz="14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4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e.</a:t>
            </a:r>
            <a:r>
              <a:rPr lang="en-GB" sz="1400" dirty="0" err="1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en-GB" sz="14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GB" sz="1400" dirty="0" err="1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en-GB" sz="14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  <a:r>
              <a:rPr lang="en-GB" sz="14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orElseThrow</a:t>
            </a:r>
            <a:r>
              <a:rPr lang="en-GB" sz="14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br>
              <a:rPr lang="en-GB" sz="14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4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GB" sz="14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GB" sz="14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4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productForSale.</a:t>
            </a:r>
            <a:r>
              <a:rPr lang="en-GB" sz="1400" dirty="0" err="1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version</a:t>
            </a:r>
            <a:r>
              <a:rPr lang="en-GB" sz="1400" dirty="0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4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== </a:t>
            </a:r>
            <a:r>
              <a:rPr lang="en-GB" sz="14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orderedMessage.</a:t>
            </a:r>
            <a:r>
              <a:rPr lang="en-GB" sz="1400" dirty="0" err="1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order</a:t>
            </a:r>
            <a:r>
              <a:rPr lang="en-GB" sz="14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br>
              <a:rPr lang="en-GB" sz="14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4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GB" sz="1400" dirty="0"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Idempotent handling</a:t>
            </a:r>
          </a:p>
          <a:p>
            <a:r>
              <a:rPr lang="en-GB" sz="1400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GB" sz="1400" dirty="0">
                <a:solidFill>
                  <a:srgbClr val="CC783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br>
              <a:rPr lang="en-GB" sz="1400" dirty="0"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400" dirty="0"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GB" sz="14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en-GB" sz="14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4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GB" sz="14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productForSale.</a:t>
            </a:r>
            <a:r>
              <a:rPr lang="en-GB" sz="1400" dirty="0" err="1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price</a:t>
            </a:r>
            <a:r>
              <a:rPr lang="en-GB" sz="1400" dirty="0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4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GB" sz="14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e.</a:t>
            </a:r>
            <a:r>
              <a:rPr lang="en-GB" sz="1400" dirty="0" err="1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price</a:t>
            </a:r>
            <a:br>
              <a:rPr lang="en-GB" sz="1400" dirty="0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400" dirty="0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GB" sz="14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productForSale.</a:t>
            </a:r>
            <a:r>
              <a:rPr lang="en-GB" sz="1400" dirty="0" err="1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version</a:t>
            </a:r>
            <a:r>
              <a:rPr lang="en-GB" sz="1400" dirty="0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4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GB" sz="14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orderedMessage.</a:t>
            </a:r>
            <a:r>
              <a:rPr lang="en-GB" sz="1400" dirty="0" err="1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order</a:t>
            </a:r>
            <a:br>
              <a:rPr lang="en-GB" sz="1400" dirty="0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400" dirty="0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GB" sz="1400" i="1" dirty="0" err="1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productsForSaleViewRepository</a:t>
            </a:r>
            <a:r>
              <a:rPr lang="en-GB" sz="1400" i="1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.save</a:t>
            </a:r>
            <a:r>
              <a:rPr lang="en-GB" sz="1400" i="1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400" i="1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productForSale</a:t>
            </a:r>
            <a:r>
              <a:rPr lang="en-GB" sz="1400" i="1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GB" sz="14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4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GB" sz="14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4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7737455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E3473-91C4-8905-FAEF-840A16170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D28B179-51C9-EB4C-83B2-C2F2ADA95D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DK"/>
              <a:t>State projection within a decider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20DD2BB-B241-CA77-FF71-5EE198BDA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DK"/>
              <a:t>EVOLVER pattern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45AD07-7A8C-7C93-16C3-EFDBB3FC6541}"/>
              </a:ext>
            </a:extLst>
          </p:cNvPr>
          <p:cNvSpPr txBox="1"/>
          <p:nvPr/>
        </p:nvSpPr>
        <p:spPr>
          <a:xfrm>
            <a:off x="296917" y="1971875"/>
            <a:ext cx="11598165" cy="418576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GB" sz="14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RemoveItemFromShoppingBasketDecider</a:t>
            </a:r>
            <a:r>
              <a:rPr lang="en-GB" sz="14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: Decider&lt;</a:t>
            </a:r>
            <a:r>
              <a:rPr lang="en-GB" sz="14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RemoveItemFromShoppingBasket</a:t>
            </a:r>
            <a:r>
              <a:rPr lang="en-GB" sz="14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14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ShoppingBasketEvent</a:t>
            </a:r>
            <a:r>
              <a:rPr lang="en-GB" sz="14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 {</a:t>
            </a:r>
            <a:br>
              <a:rPr lang="en-GB" sz="14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4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4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override fun </a:t>
            </a:r>
            <a:r>
              <a:rPr lang="en-GB" sz="1400" dirty="0">
                <a:solidFill>
                  <a:srgbClr val="FFC66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handle</a:t>
            </a:r>
            <a:r>
              <a:rPr lang="en-GB" sz="14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4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cmd</a:t>
            </a:r>
            <a:r>
              <a:rPr lang="en-GB" sz="14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GB" sz="1400" b="1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RemoveItemFromShoppingBasket</a:t>
            </a:r>
            <a:r>
              <a:rPr lang="en-GB" sz="14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14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events: List&lt;</a:t>
            </a:r>
            <a:r>
              <a:rPr lang="en-GB" sz="14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ShoppingBasketEvent</a:t>
            </a:r>
            <a:r>
              <a:rPr lang="en-GB" sz="14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&gt;): </a:t>
            </a:r>
            <a:r>
              <a:rPr lang="en-GB" sz="1400" b="1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ItemRemovedFromShoppingBasket</a:t>
            </a:r>
            <a:r>
              <a:rPr lang="en-GB" sz="14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? {</a:t>
            </a:r>
          </a:p>
          <a:p>
            <a:br>
              <a:rPr lang="en-GB" sz="14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4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GB" sz="14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var </a:t>
            </a:r>
            <a:r>
              <a:rPr lang="en-GB" sz="14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productQuantities</a:t>
            </a:r>
            <a:r>
              <a:rPr lang="en-GB" sz="14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GB" sz="14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MutableMap</a:t>
            </a:r>
            <a:r>
              <a:rPr lang="en-GB" sz="14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GB" sz="14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ProductId</a:t>
            </a:r>
            <a:r>
              <a:rPr lang="en-GB" sz="14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14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Int&gt; = </a:t>
            </a:r>
            <a:r>
              <a:rPr lang="en-GB" sz="1400" b="1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Evolver.applyEvents</a:t>
            </a:r>
            <a:r>
              <a:rPr lang="en-GB" sz="1400" b="1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br>
              <a:rPr lang="en-GB" sz="1400" b="1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400" b="1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GB" sz="1400" b="1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ProductQuantityEvolver</a:t>
            </a:r>
            <a:r>
              <a:rPr lang="en-GB" sz="1400" b="1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GB" sz="1400" b="1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br>
              <a:rPr lang="en-GB" sz="1400" b="1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400" b="1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GB" sz="1400" b="1" i="1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mutableMapOf</a:t>
            </a:r>
            <a:r>
              <a:rPr lang="en-GB" sz="1400" b="1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GB" sz="1400" b="1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br>
              <a:rPr lang="en-GB" sz="1400" b="1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400" b="1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GB" sz="1400" b="1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events</a:t>
            </a:r>
            <a:br>
              <a:rPr lang="en-GB" sz="1400" b="1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400" b="1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)</a:t>
            </a:r>
            <a:br>
              <a:rPr lang="en-GB" sz="1400" b="1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GB" sz="14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4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GB" sz="14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var </a:t>
            </a:r>
            <a:r>
              <a:rPr lang="en-GB" sz="14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productQuantity</a:t>
            </a:r>
            <a:r>
              <a:rPr lang="en-GB" sz="14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14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productQuantities</a:t>
            </a:r>
            <a:r>
              <a:rPr lang="en-GB" sz="14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GB" sz="14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cmd.</a:t>
            </a:r>
            <a:r>
              <a:rPr lang="en-GB" sz="1400" dirty="0" err="1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</a:t>
            </a:r>
            <a:r>
              <a:rPr lang="en-GB" sz="14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 ?: </a:t>
            </a:r>
            <a:r>
              <a:rPr lang="en-GB" sz="1400" dirty="0">
                <a:solidFill>
                  <a:srgbClr val="6897B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br>
              <a:rPr lang="en-GB" sz="1400" dirty="0">
                <a:solidFill>
                  <a:srgbClr val="6897B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400" dirty="0">
                <a:solidFill>
                  <a:srgbClr val="6897B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GB" sz="14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 if </a:t>
            </a:r>
            <a:r>
              <a:rPr lang="en-GB" sz="14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4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productQuantity</a:t>
            </a:r>
            <a:r>
              <a:rPr lang="en-GB" sz="14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&gt; </a:t>
            </a:r>
            <a:r>
              <a:rPr lang="en-GB" sz="1400" dirty="0">
                <a:solidFill>
                  <a:srgbClr val="6897B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GB" sz="14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GB" sz="14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4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GB" sz="14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ItemRemovedFromShoppingBasket</a:t>
            </a:r>
            <a:r>
              <a:rPr lang="en-GB" sz="14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br>
              <a:rPr lang="en-GB" sz="14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4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GB" sz="14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cmd.</a:t>
            </a:r>
            <a:r>
              <a:rPr lang="en-GB" sz="1400" dirty="0" err="1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en-GB" sz="14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br>
              <a:rPr lang="en-GB" sz="14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4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GB" sz="1400" dirty="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cmd.</a:t>
            </a:r>
            <a:r>
              <a:rPr lang="en-GB" sz="1400" dirty="0" err="1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</a:t>
            </a:r>
            <a:br>
              <a:rPr lang="en-GB" sz="1400" dirty="0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400" dirty="0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GB" sz="14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GB" sz="14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4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GB" sz="14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else null</a:t>
            </a:r>
            <a:br>
              <a:rPr lang="en-GB" sz="14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400" dirty="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4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en-GB" sz="14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400" dirty="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1617792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C88CC-CFCA-0738-A7C0-4BC8D39B3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94A0A01-F427-36EB-5AFE-04C742D64B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DK"/>
              <a:t>State projection within a decider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59CB5D1-141E-E9FC-002C-D3D0321D30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DK"/>
              <a:t>EVOLVER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93959-6B2B-213B-3A77-6B46AE84075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FA59C2-3706-27E7-DB37-5FD0B17EA2FC}"/>
              </a:ext>
            </a:extLst>
          </p:cNvPr>
          <p:cNvSpPr txBox="1"/>
          <p:nvPr/>
        </p:nvSpPr>
        <p:spPr>
          <a:xfrm>
            <a:off x="333430" y="1863073"/>
            <a:ext cx="11598165" cy="470898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GB" sz="12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var </a:t>
            </a:r>
            <a:r>
              <a:rPr lang="en-GB" sz="120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productQuantities</a:t>
            </a:r>
            <a:r>
              <a:rPr lang="en-GB" sz="12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GB" sz="120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MutableMap</a:t>
            </a:r>
            <a:r>
              <a:rPr lang="en-GB" sz="12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GB" sz="120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ProductId</a:t>
            </a:r>
            <a:r>
              <a:rPr lang="en-GB" sz="12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12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Int&gt; = </a:t>
            </a:r>
          </a:p>
          <a:p>
            <a:r>
              <a:rPr lang="en-GB" sz="1200" b="1">
                <a:solidFill>
                  <a:srgbClr val="A9B7C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200" b="1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Evolver.applyEvents</a:t>
            </a:r>
            <a:endParaRPr lang="en-GB" sz="1200" b="1">
              <a:solidFill>
                <a:srgbClr val="A9B7C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200" b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GB" sz="1200" b="1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ProductQuantityEvolver</a:t>
            </a:r>
            <a:r>
              <a:rPr lang="en-GB" sz="1200" b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GB" sz="1200" b="1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br>
              <a:rPr lang="en-GB" sz="1200" b="1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200" b="1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GB" sz="1200" b="1" i="1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mutableMapOf</a:t>
            </a:r>
            <a:r>
              <a:rPr lang="en-GB" sz="1200" b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GB" sz="1200" b="1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br>
              <a:rPr lang="en-GB" sz="1200" b="1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200" b="1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GB" sz="1200" b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events)</a:t>
            </a:r>
          </a:p>
          <a:p>
            <a:endParaRPr lang="en-GB" sz="1200" b="1">
              <a:solidFill>
                <a:srgbClr val="A9B7C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2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fun </a:t>
            </a:r>
            <a:r>
              <a:rPr lang="en-GB" sz="1200" b="1" err="1">
                <a:solidFill>
                  <a:srgbClr val="FFC66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ProductQuantityEvolver</a:t>
            </a:r>
            <a:r>
              <a:rPr lang="en-GB" sz="12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 =</a:t>
            </a:r>
            <a:br>
              <a:rPr lang="en-GB" sz="12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2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200" i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Evolver</a:t>
            </a:r>
            <a:r>
              <a:rPr lang="en-GB" sz="12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GB" sz="120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ShoppingBasketEvent</a:t>
            </a:r>
            <a:r>
              <a:rPr lang="en-GB" sz="12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120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MutableMap</a:t>
            </a:r>
            <a:r>
              <a:rPr lang="en-GB" sz="12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GB" sz="120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ProductId</a:t>
            </a:r>
            <a:r>
              <a:rPr lang="en-GB" sz="12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12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Int&gt;&gt; </a:t>
            </a:r>
            <a:r>
              <a:rPr lang="en-GB" sz="1200" b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r>
              <a:rPr lang="en-GB" sz="12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event</a:t>
            </a:r>
            <a:r>
              <a:rPr lang="en-GB" sz="12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120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currentState</a:t>
            </a:r>
            <a:r>
              <a:rPr lang="en-GB" sz="12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200" b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br>
              <a:rPr lang="en-GB" sz="1200" b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200" b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GB" sz="12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when </a:t>
            </a:r>
            <a:r>
              <a:rPr lang="en-GB" sz="12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(event) {</a:t>
            </a:r>
            <a:br>
              <a:rPr lang="en-GB" sz="12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2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GB" sz="12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is </a:t>
            </a:r>
            <a:r>
              <a:rPr lang="en-GB" sz="120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ItemAddedToShoppingBasket</a:t>
            </a:r>
            <a:r>
              <a:rPr lang="en-GB" sz="12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-&gt; </a:t>
            </a:r>
            <a:r>
              <a:rPr lang="en-GB" sz="120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currentState</a:t>
            </a:r>
            <a:r>
              <a:rPr lang="en-GB" sz="12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?.</a:t>
            </a:r>
            <a:r>
              <a:rPr lang="en-GB" sz="1200" i="1">
                <a:solidFill>
                  <a:srgbClr val="FFC66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en-GB" sz="12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br>
              <a:rPr lang="en-GB" sz="12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2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GB" sz="120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event.</a:t>
            </a:r>
            <a:r>
              <a:rPr lang="en-GB" sz="1200" err="1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</a:t>
            </a:r>
            <a:r>
              <a:rPr lang="en-GB" sz="12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br>
              <a:rPr lang="en-GB" sz="12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2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GB" sz="12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20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currentState</a:t>
            </a:r>
            <a:r>
              <a:rPr lang="en-GB" sz="12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GB" sz="120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event.</a:t>
            </a:r>
            <a:r>
              <a:rPr lang="en-GB" sz="1200" err="1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</a:t>
            </a:r>
            <a:r>
              <a:rPr lang="en-GB" sz="12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 ?: </a:t>
            </a:r>
            <a:r>
              <a:rPr lang="en-GB" sz="1200">
                <a:solidFill>
                  <a:srgbClr val="6897B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GB" sz="12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+ </a:t>
            </a:r>
            <a:r>
              <a:rPr lang="en-GB" sz="1200">
                <a:solidFill>
                  <a:srgbClr val="6897B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br>
              <a:rPr lang="en-GB" sz="1200">
                <a:solidFill>
                  <a:srgbClr val="6897B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200">
                <a:solidFill>
                  <a:srgbClr val="6897B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GB" sz="12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GB" sz="12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2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GB" sz="12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is </a:t>
            </a:r>
            <a:r>
              <a:rPr lang="en-GB" sz="120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ItemRemovedFromShoppingBasket</a:t>
            </a:r>
            <a:r>
              <a:rPr lang="en-GB" sz="12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-&gt; {</a:t>
            </a:r>
            <a:br>
              <a:rPr lang="en-GB" sz="12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2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GB" sz="120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currentState</a:t>
            </a:r>
            <a:r>
              <a:rPr lang="en-GB" sz="12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?.</a:t>
            </a:r>
            <a:r>
              <a:rPr lang="en-GB" sz="1200" i="1">
                <a:solidFill>
                  <a:srgbClr val="FFC66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en-GB" sz="12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br>
              <a:rPr lang="en-GB" sz="12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2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        </a:t>
            </a:r>
            <a:r>
              <a:rPr lang="en-GB" sz="120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event.</a:t>
            </a:r>
            <a:r>
              <a:rPr lang="en-GB" sz="1200" err="1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</a:t>
            </a:r>
            <a:r>
              <a:rPr lang="en-GB" sz="12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br>
              <a:rPr lang="en-GB" sz="12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2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        </a:t>
            </a:r>
            <a:r>
              <a:rPr lang="en-GB" sz="12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20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currentState</a:t>
            </a:r>
            <a:r>
              <a:rPr lang="en-GB" sz="12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GB" sz="120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event.</a:t>
            </a:r>
            <a:r>
              <a:rPr lang="en-GB" sz="1200" err="1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</a:t>
            </a:r>
            <a:r>
              <a:rPr lang="en-GB" sz="12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 ?: </a:t>
            </a:r>
            <a:r>
              <a:rPr lang="en-GB" sz="1200">
                <a:solidFill>
                  <a:srgbClr val="6897B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GB" sz="12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- </a:t>
            </a:r>
            <a:r>
              <a:rPr lang="en-GB" sz="1200">
                <a:solidFill>
                  <a:srgbClr val="6897B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br>
              <a:rPr lang="en-GB" sz="1200">
                <a:solidFill>
                  <a:srgbClr val="6897B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200">
                <a:solidFill>
                  <a:srgbClr val="6897B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GB" sz="12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GB" sz="12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2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GB" sz="12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GB" sz="12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((</a:t>
            </a:r>
            <a:r>
              <a:rPr lang="en-GB" sz="120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currentState</a:t>
            </a:r>
            <a:r>
              <a:rPr lang="en-GB" sz="12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?.get(</a:t>
            </a:r>
            <a:r>
              <a:rPr lang="en-GB" sz="120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event.</a:t>
            </a:r>
            <a:r>
              <a:rPr lang="en-GB" sz="1200" err="1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</a:t>
            </a:r>
            <a:r>
              <a:rPr lang="en-GB" sz="12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?: </a:t>
            </a:r>
            <a:r>
              <a:rPr lang="en-GB" sz="1200">
                <a:solidFill>
                  <a:srgbClr val="6897B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GB" sz="12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== </a:t>
            </a:r>
            <a:r>
              <a:rPr lang="en-GB" sz="1200">
                <a:solidFill>
                  <a:srgbClr val="6897B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GB" sz="12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br>
              <a:rPr lang="en-GB" sz="12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2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        </a:t>
            </a:r>
            <a:r>
              <a:rPr lang="en-GB" sz="120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currentState</a:t>
            </a:r>
            <a:r>
              <a:rPr lang="en-GB" sz="12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?.remove(</a:t>
            </a:r>
            <a:r>
              <a:rPr lang="en-GB" sz="120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event.</a:t>
            </a:r>
            <a:r>
              <a:rPr lang="en-GB" sz="1200" err="1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</a:t>
            </a:r>
            <a:r>
              <a:rPr lang="en-GB" sz="12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GB" sz="12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2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    }</a:t>
            </a:r>
            <a:br>
              <a:rPr lang="en-GB" sz="12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2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}</a:t>
            </a:r>
            <a:br>
              <a:rPr lang="en-GB" sz="12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2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  <a:br>
              <a:rPr lang="en-GB" sz="12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2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GB" sz="1200">
                <a:solidFill>
                  <a:srgbClr val="CC783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GB" sz="120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currentState</a:t>
            </a:r>
            <a:br>
              <a:rPr lang="en-GB" sz="12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2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200" b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GB" sz="1200">
              <a:solidFill>
                <a:srgbClr val="A9B7C6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440281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81CD8-BF33-A521-51FB-6885B1D6B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601E1C-6BC7-ABD5-2564-5A7475A41B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DK" dirty="0"/>
              <a:t>Event </a:t>
            </a:r>
            <a:r>
              <a:rPr lang="en-DK" dirty="0" err="1"/>
              <a:t>modeling</a:t>
            </a:r>
            <a:r>
              <a:rPr lang="en-DK" dirty="0"/>
              <a:t> - </a:t>
            </a:r>
            <a:r>
              <a:rPr lang="en-GB" dirty="0"/>
              <a:t>I</a:t>
            </a:r>
            <a:r>
              <a:rPr lang="en-DK" dirty="0" err="1"/>
              <a:t>mplementation</a:t>
            </a:r>
            <a:r>
              <a:rPr lang="en-DK" dirty="0"/>
              <a:t> slicing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AF1C25-1DE0-80E0-B445-7BA7CD9FE3A1}"/>
              </a:ext>
            </a:extLst>
          </p:cNvPr>
          <p:cNvSpPr/>
          <p:nvPr/>
        </p:nvSpPr>
        <p:spPr>
          <a:xfrm>
            <a:off x="228600" y="1576039"/>
            <a:ext cx="11420708" cy="5084956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E89CF93-32EF-355C-A027-012A9801DF9D}"/>
              </a:ext>
            </a:extLst>
          </p:cNvPr>
          <p:cNvCxnSpPr>
            <a:cxnSpLocks/>
          </p:cNvCxnSpPr>
          <p:nvPr/>
        </p:nvCxnSpPr>
        <p:spPr>
          <a:xfrm>
            <a:off x="670784" y="4924520"/>
            <a:ext cx="9798205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DCDBCA-0A65-F192-B249-62FEB584B889}"/>
              </a:ext>
            </a:extLst>
          </p:cNvPr>
          <p:cNvCxnSpPr>
            <a:cxnSpLocks/>
          </p:cNvCxnSpPr>
          <p:nvPr/>
        </p:nvCxnSpPr>
        <p:spPr>
          <a:xfrm>
            <a:off x="670784" y="5723692"/>
            <a:ext cx="9798205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ADEA315-E0CF-0F48-4D0F-5E109A0ADA11}"/>
              </a:ext>
            </a:extLst>
          </p:cNvPr>
          <p:cNvCxnSpPr>
            <a:cxnSpLocks/>
          </p:cNvCxnSpPr>
          <p:nvPr/>
        </p:nvCxnSpPr>
        <p:spPr>
          <a:xfrm>
            <a:off x="670784" y="4158803"/>
            <a:ext cx="9798205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41E36FD-205C-6D3B-B21D-DC5F021DB0BE}"/>
              </a:ext>
            </a:extLst>
          </p:cNvPr>
          <p:cNvCxnSpPr>
            <a:cxnSpLocks/>
          </p:cNvCxnSpPr>
          <p:nvPr/>
        </p:nvCxnSpPr>
        <p:spPr>
          <a:xfrm>
            <a:off x="670784" y="3140326"/>
            <a:ext cx="9798205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BC84653-E87B-50BE-9501-7EBD25C3C006}"/>
              </a:ext>
            </a:extLst>
          </p:cNvPr>
          <p:cNvSpPr txBox="1"/>
          <p:nvPr/>
        </p:nvSpPr>
        <p:spPr>
          <a:xfrm>
            <a:off x="360983" y="4408424"/>
            <a:ext cx="13901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sz="1200" dirty="0"/>
              <a:t>Sales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7ECCF1C-D1CF-244C-931B-68ABF9DAC58F}"/>
              </a:ext>
            </a:extLst>
          </p:cNvPr>
          <p:cNvCxnSpPr>
            <a:cxnSpLocks/>
            <a:stCxn id="6" idx="2"/>
            <a:endCxn id="13" idx="0"/>
          </p:cNvCxnSpPr>
          <p:nvPr/>
        </p:nvCxnSpPr>
        <p:spPr>
          <a:xfrm>
            <a:off x="2376137" y="3024731"/>
            <a:ext cx="1" cy="15244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FCEAFF8-A293-BE28-1CB2-5AF1B56CE44D}"/>
              </a:ext>
            </a:extLst>
          </p:cNvPr>
          <p:cNvCxnSpPr>
            <a:cxnSpLocks/>
            <a:stCxn id="13" idx="2"/>
            <a:endCxn id="21" idx="0"/>
          </p:cNvCxnSpPr>
          <p:nvPr/>
        </p:nvCxnSpPr>
        <p:spPr>
          <a:xfrm>
            <a:off x="2376138" y="4072837"/>
            <a:ext cx="582620" cy="11803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Folded Corner 24">
            <a:extLst>
              <a:ext uri="{FF2B5EF4-FFF2-40B4-BE49-F238E27FC236}">
                <a16:creationId xmlns:a16="http://schemas.microsoft.com/office/drawing/2014/main" id="{1EBAC3F4-17D0-6BE7-6A0D-E6C01CB6E77E}"/>
              </a:ext>
            </a:extLst>
          </p:cNvPr>
          <p:cNvSpPr/>
          <p:nvPr/>
        </p:nvSpPr>
        <p:spPr>
          <a:xfrm>
            <a:off x="3098038" y="3373374"/>
            <a:ext cx="1115852" cy="524826"/>
          </a:xfrm>
          <a:prstGeom prst="foldedCorner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K" sz="1000" dirty="0">
                <a:solidFill>
                  <a:schemeClr val="tx1"/>
                </a:solidFill>
              </a:rPr>
              <a:t>Shopping Basket</a:t>
            </a:r>
          </a:p>
          <a:p>
            <a:pPr algn="ctr"/>
            <a:r>
              <a:rPr lang="en-DK" sz="1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(basketId,…)</a:t>
            </a:r>
            <a:endParaRPr lang="en-DK" sz="1000" dirty="0">
              <a:solidFill>
                <a:schemeClr val="tx1"/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C626B32-BC37-CC33-D3D9-E060BD3CAFC3}"/>
              </a:ext>
            </a:extLst>
          </p:cNvPr>
          <p:cNvCxnSpPr>
            <a:cxnSpLocks/>
            <a:endCxn id="25" idx="2"/>
          </p:cNvCxnSpPr>
          <p:nvPr/>
        </p:nvCxnSpPr>
        <p:spPr>
          <a:xfrm flipV="1">
            <a:off x="3086047" y="3898200"/>
            <a:ext cx="569917" cy="27434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C9AC9783-DAEC-6D13-8A25-76D943802414}"/>
              </a:ext>
            </a:extLst>
          </p:cNvPr>
          <p:cNvSpPr txBox="1"/>
          <p:nvPr/>
        </p:nvSpPr>
        <p:spPr>
          <a:xfrm>
            <a:off x="351299" y="5190671"/>
            <a:ext cx="13901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sz="1200" dirty="0"/>
              <a:t>Shipping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6EFFDF5-EA1B-EB47-C2C6-F3114449EDD6}"/>
              </a:ext>
            </a:extLst>
          </p:cNvPr>
          <p:cNvSpPr txBox="1"/>
          <p:nvPr/>
        </p:nvSpPr>
        <p:spPr>
          <a:xfrm>
            <a:off x="351300" y="2282705"/>
            <a:ext cx="13901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sz="1200" dirty="0"/>
              <a:t>Web App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52A61FF-C31B-A8B3-178B-85A45839D165}"/>
              </a:ext>
            </a:extLst>
          </p:cNvPr>
          <p:cNvGrpSpPr/>
          <p:nvPr/>
        </p:nvGrpSpPr>
        <p:grpSpPr>
          <a:xfrm>
            <a:off x="1495975" y="1690688"/>
            <a:ext cx="2064084" cy="3222579"/>
            <a:chOff x="1495975" y="1690688"/>
            <a:chExt cx="2064084" cy="3222579"/>
          </a:xfrm>
          <a:solidFill>
            <a:srgbClr val="FFC000"/>
          </a:solidFill>
        </p:grpSpPr>
        <p:sp>
          <p:nvSpPr>
            <p:cNvPr id="13" name="Folded Corner 12">
              <a:extLst>
                <a:ext uri="{FF2B5EF4-FFF2-40B4-BE49-F238E27FC236}">
                  <a16:creationId xmlns:a16="http://schemas.microsoft.com/office/drawing/2014/main" id="{6078E9BC-D5FC-7FE3-E494-CE6AE595127E}"/>
                </a:ext>
              </a:extLst>
            </p:cNvPr>
            <p:cNvSpPr/>
            <p:nvPr/>
          </p:nvSpPr>
          <p:spPr>
            <a:xfrm>
              <a:off x="1848167" y="3177172"/>
              <a:ext cx="1055941" cy="895665"/>
            </a:xfrm>
            <a:prstGeom prst="foldedCorner">
              <a:avLst/>
            </a:prstGeom>
            <a:solidFill>
              <a:srgbClr val="8497B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DK" sz="1000" dirty="0">
                  <a:solidFill>
                    <a:schemeClr val="tx1"/>
                  </a:solidFill>
                </a:rPr>
                <a:t>Add Item to</a:t>
              </a:r>
            </a:p>
            <a:p>
              <a:pPr algn="ctr"/>
              <a:r>
                <a:rPr lang="en-DK" sz="1000" dirty="0">
                  <a:solidFill>
                    <a:schemeClr val="tx1"/>
                  </a:solidFill>
                </a:rPr>
                <a:t>Shopping Basket</a:t>
              </a:r>
            </a:p>
            <a:p>
              <a:pPr algn="ctr"/>
              <a:r>
                <a:rPr lang="en-DK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(basketId, productId)</a:t>
              </a:r>
            </a:p>
          </p:txBody>
        </p:sp>
        <p:sp>
          <p:nvSpPr>
            <p:cNvPr id="21" name="Folded Corner 20">
              <a:extLst>
                <a:ext uri="{FF2B5EF4-FFF2-40B4-BE49-F238E27FC236}">
                  <a16:creationId xmlns:a16="http://schemas.microsoft.com/office/drawing/2014/main" id="{C33B29AD-64C9-1399-145D-9A8D9BFF104A}"/>
                </a:ext>
              </a:extLst>
            </p:cNvPr>
            <p:cNvSpPr/>
            <p:nvPr/>
          </p:nvSpPr>
          <p:spPr>
            <a:xfrm>
              <a:off x="2357457" y="4190870"/>
              <a:ext cx="1202602" cy="722397"/>
            </a:xfrm>
            <a:prstGeom prst="foldedCorner">
              <a:avLst/>
            </a:prstGeom>
            <a:grpFill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DK" sz="1000" dirty="0">
                  <a:solidFill>
                    <a:schemeClr val="tx1"/>
                  </a:solidFill>
                </a:rPr>
                <a:t>Item Added to Shopping Basket</a:t>
              </a:r>
            </a:p>
            <a:p>
              <a:pPr algn="ctr"/>
              <a:r>
                <a:rPr lang="en-DK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(basketId, productId)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BB1831D-CACB-CEE5-619B-3BC646CB34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95975" y="1690688"/>
              <a:ext cx="1760323" cy="1334043"/>
            </a:xfrm>
            <a:prstGeom prst="rect">
              <a:avLst/>
            </a:prstGeom>
            <a:grpFill/>
          </p:spPr>
        </p:pic>
      </p:grpSp>
      <p:sp>
        <p:nvSpPr>
          <p:cNvPr id="37" name="Folded Corner 36">
            <a:extLst>
              <a:ext uri="{FF2B5EF4-FFF2-40B4-BE49-F238E27FC236}">
                <a16:creationId xmlns:a16="http://schemas.microsoft.com/office/drawing/2014/main" id="{FDE49DC6-3ACC-8D3F-4B69-79664D0BFAAC}"/>
              </a:ext>
            </a:extLst>
          </p:cNvPr>
          <p:cNvSpPr/>
          <p:nvPr/>
        </p:nvSpPr>
        <p:spPr>
          <a:xfrm>
            <a:off x="4542248" y="3204743"/>
            <a:ext cx="1062527" cy="868098"/>
          </a:xfrm>
          <a:prstGeom prst="foldedCorner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K" sz="900" dirty="0">
                <a:solidFill>
                  <a:schemeClr val="tx1"/>
                </a:solidFill>
              </a:rPr>
              <a:t>Request CheckOut</a:t>
            </a:r>
          </a:p>
          <a:p>
            <a:pPr algn="ctr"/>
            <a:r>
              <a:rPr lang="en-DK" sz="9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(baskedId, orderId)</a:t>
            </a:r>
          </a:p>
        </p:txBody>
      </p:sp>
      <p:sp>
        <p:nvSpPr>
          <p:cNvPr id="48" name="Folded Corner 47">
            <a:extLst>
              <a:ext uri="{FF2B5EF4-FFF2-40B4-BE49-F238E27FC236}">
                <a16:creationId xmlns:a16="http://schemas.microsoft.com/office/drawing/2014/main" id="{A16B4C63-98B3-0220-8431-24F11AF3A4C6}"/>
              </a:ext>
            </a:extLst>
          </p:cNvPr>
          <p:cNvSpPr/>
          <p:nvPr/>
        </p:nvSpPr>
        <p:spPr>
          <a:xfrm>
            <a:off x="5668219" y="3398455"/>
            <a:ext cx="1278236" cy="568959"/>
          </a:xfrm>
          <a:prstGeom prst="foldedCorner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K" sz="1050" dirty="0">
                <a:solidFill>
                  <a:schemeClr val="tx1"/>
                </a:solidFill>
              </a:rPr>
              <a:t>Shopping Basket</a:t>
            </a:r>
          </a:p>
          <a:p>
            <a:pPr algn="ctr"/>
            <a:r>
              <a:rPr lang="da-DK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DK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basketId, </a:t>
            </a:r>
            <a:r>
              <a:rPr lang="da-DK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orderId</a:t>
            </a:r>
            <a:r>
              <a:rPr lang="da-DK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DK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…)</a:t>
            </a:r>
            <a:endParaRPr lang="en-DK" sz="1050" dirty="0">
              <a:solidFill>
                <a:schemeClr val="tx1"/>
              </a:solidFill>
            </a:endParaRP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4EA6781-8A25-1C17-1D23-8F0BF34FAEDF}"/>
              </a:ext>
            </a:extLst>
          </p:cNvPr>
          <p:cNvCxnSpPr>
            <a:cxnSpLocks/>
            <a:stCxn id="37" idx="2"/>
          </p:cNvCxnSpPr>
          <p:nvPr/>
        </p:nvCxnSpPr>
        <p:spPr>
          <a:xfrm>
            <a:off x="5073512" y="4072841"/>
            <a:ext cx="594707" cy="11802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925B935-8C71-423C-9909-B9BDC1FD4FAC}"/>
              </a:ext>
            </a:extLst>
          </p:cNvPr>
          <p:cNvCxnSpPr>
            <a:cxnSpLocks/>
            <a:endCxn id="48" idx="2"/>
          </p:cNvCxnSpPr>
          <p:nvPr/>
        </p:nvCxnSpPr>
        <p:spPr>
          <a:xfrm flipV="1">
            <a:off x="5878286" y="3967414"/>
            <a:ext cx="429051" cy="22345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CC1E70B-E294-8DA2-940D-F9708BD4A3F2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5037922" y="2933077"/>
            <a:ext cx="35590" cy="27166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1613630-6C05-B859-08DA-3B4C7228CBF2}"/>
              </a:ext>
            </a:extLst>
          </p:cNvPr>
          <p:cNvSpPr txBox="1"/>
          <p:nvPr/>
        </p:nvSpPr>
        <p:spPr>
          <a:xfrm>
            <a:off x="351298" y="6043782"/>
            <a:ext cx="13901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sz="1200" dirty="0"/>
              <a:t>Payment</a:t>
            </a: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97325C81-B665-F3F1-EA59-B5870B254F6D}"/>
              </a:ext>
            </a:extLst>
          </p:cNvPr>
          <p:cNvGrpSpPr/>
          <p:nvPr/>
        </p:nvGrpSpPr>
        <p:grpSpPr>
          <a:xfrm>
            <a:off x="5596918" y="1706054"/>
            <a:ext cx="1679526" cy="1692401"/>
            <a:chOff x="5596918" y="1706054"/>
            <a:chExt cx="1679526" cy="1692401"/>
          </a:xfrm>
        </p:grpSpPr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0536A1B3-F6C1-B9F8-84CB-BFE6BBDB07B0}"/>
                </a:ext>
              </a:extLst>
            </p:cNvPr>
            <p:cNvCxnSpPr>
              <a:cxnSpLocks/>
              <a:stCxn id="48" idx="0"/>
              <a:endCxn id="35" idx="2"/>
            </p:cNvCxnSpPr>
            <p:nvPr/>
          </p:nvCxnSpPr>
          <p:spPr>
            <a:xfrm flipV="1">
              <a:off x="6307337" y="3052218"/>
              <a:ext cx="129344" cy="34623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E4A9EF29-FFE4-2AB8-9EBB-0B0D49317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96918" y="1706054"/>
              <a:ext cx="1679526" cy="1346164"/>
            </a:xfrm>
            <a:prstGeom prst="rect">
              <a:avLst/>
            </a:prstGeom>
          </p:spPr>
        </p:pic>
      </p:grpSp>
      <p:sp>
        <p:nvSpPr>
          <p:cNvPr id="59" name="Folded Corner 58">
            <a:extLst>
              <a:ext uri="{FF2B5EF4-FFF2-40B4-BE49-F238E27FC236}">
                <a16:creationId xmlns:a16="http://schemas.microsoft.com/office/drawing/2014/main" id="{3140763A-11B3-D255-A3C5-D0EE82E6037D}"/>
              </a:ext>
            </a:extLst>
          </p:cNvPr>
          <p:cNvSpPr/>
          <p:nvPr/>
        </p:nvSpPr>
        <p:spPr>
          <a:xfrm>
            <a:off x="6999773" y="3169395"/>
            <a:ext cx="1445409" cy="962937"/>
          </a:xfrm>
          <a:prstGeom prst="foldedCorner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000" dirty="0" err="1">
                <a:solidFill>
                  <a:schemeClr val="tx1"/>
                </a:solidFill>
              </a:rPr>
              <a:t>Add</a:t>
            </a:r>
            <a:r>
              <a:rPr lang="da-DK" sz="1000" dirty="0">
                <a:solidFill>
                  <a:schemeClr val="tx1"/>
                </a:solidFill>
              </a:rPr>
              <a:t> Shipping </a:t>
            </a:r>
            <a:r>
              <a:rPr lang="da-DK" sz="1000" dirty="0" err="1">
                <a:solidFill>
                  <a:schemeClr val="tx1"/>
                </a:solidFill>
              </a:rPr>
              <a:t>Details</a:t>
            </a:r>
            <a:r>
              <a:rPr lang="da-DK" sz="1000" dirty="0">
                <a:solidFill>
                  <a:schemeClr val="tx1"/>
                </a:solidFill>
              </a:rPr>
              <a:t> to Order</a:t>
            </a:r>
          </a:p>
          <a:p>
            <a:pPr algn="ctr"/>
            <a:r>
              <a:rPr lang="da-DK" sz="1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a-DK" sz="1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orderId</a:t>
            </a:r>
            <a:r>
              <a:rPr lang="da-DK" sz="1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</a:p>
          <a:p>
            <a:pPr algn="ctr"/>
            <a:r>
              <a:rPr lang="da-DK" sz="1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shippingAddress</a:t>
            </a:r>
            <a:r>
              <a:rPr lang="da-DK" sz="1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algn="ctr"/>
            <a:r>
              <a:rPr lang="da-DK" sz="1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shippingMethod</a:t>
            </a:r>
            <a:r>
              <a:rPr lang="da-DK" sz="1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DK" sz="1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3" name="Folded Corner 62">
            <a:extLst>
              <a:ext uri="{FF2B5EF4-FFF2-40B4-BE49-F238E27FC236}">
                <a16:creationId xmlns:a16="http://schemas.microsoft.com/office/drawing/2014/main" id="{2BAB7678-53A9-1E43-6495-E44D41FDC977}"/>
              </a:ext>
            </a:extLst>
          </p:cNvPr>
          <p:cNvSpPr/>
          <p:nvPr/>
        </p:nvSpPr>
        <p:spPr>
          <a:xfrm>
            <a:off x="7527225" y="4929966"/>
            <a:ext cx="1916762" cy="751409"/>
          </a:xfrm>
          <a:prstGeom prst="foldedCorner">
            <a:avLst/>
          </a:prstGeom>
          <a:solidFill>
            <a:srgbClr val="FFC0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K" sz="1000" dirty="0">
                <a:solidFill>
                  <a:schemeClr val="tx1"/>
                </a:solidFill>
              </a:rPr>
              <a:t>ShippingDetailsAdded</a:t>
            </a:r>
          </a:p>
          <a:p>
            <a:pPr algn="ctr"/>
            <a:r>
              <a:rPr lang="da-DK" sz="1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a-DK" sz="1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orderId</a:t>
            </a:r>
            <a:r>
              <a:rPr lang="da-DK" sz="1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</a:p>
          <a:p>
            <a:pPr algn="ctr"/>
            <a:r>
              <a:rPr lang="da-DK" sz="1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shippingAddress</a:t>
            </a:r>
            <a:r>
              <a:rPr lang="da-DK" sz="1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algn="ctr"/>
            <a:r>
              <a:rPr lang="da-DK" sz="1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shippingMethod</a:t>
            </a:r>
            <a:r>
              <a:rPr lang="da-DK" sz="1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DK" sz="1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E37BC96B-A64D-3F15-FAC2-3FD42B4A163E}"/>
              </a:ext>
            </a:extLst>
          </p:cNvPr>
          <p:cNvCxnSpPr>
            <a:cxnSpLocks/>
            <a:stCxn id="59" idx="2"/>
            <a:endCxn id="63" idx="0"/>
          </p:cNvCxnSpPr>
          <p:nvPr/>
        </p:nvCxnSpPr>
        <p:spPr>
          <a:xfrm>
            <a:off x="7722478" y="4132332"/>
            <a:ext cx="763128" cy="79763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Folded Corner 69">
            <a:extLst>
              <a:ext uri="{FF2B5EF4-FFF2-40B4-BE49-F238E27FC236}">
                <a16:creationId xmlns:a16="http://schemas.microsoft.com/office/drawing/2014/main" id="{C4924A27-B7D8-CD1A-203E-2BD9D338DA28}"/>
              </a:ext>
            </a:extLst>
          </p:cNvPr>
          <p:cNvSpPr/>
          <p:nvPr/>
        </p:nvSpPr>
        <p:spPr>
          <a:xfrm>
            <a:off x="8551818" y="3378197"/>
            <a:ext cx="1680753" cy="624282"/>
          </a:xfrm>
          <a:prstGeom prst="foldedCorner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K" sz="1200" dirty="0">
                <a:solidFill>
                  <a:schemeClr val="tx1"/>
                </a:solidFill>
              </a:rPr>
              <a:t>Order</a:t>
            </a:r>
          </a:p>
          <a:p>
            <a:pPr algn="ctr"/>
            <a:r>
              <a:rPr lang="en-DK" sz="1200" dirty="0">
                <a:solidFill>
                  <a:schemeClr val="tx1"/>
                </a:solidFill>
              </a:rPr>
              <a:t>Shipping Details</a:t>
            </a:r>
          </a:p>
          <a:p>
            <a:pPr algn="ctr"/>
            <a:r>
              <a:rPr lang="da-DK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a-DK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orderId</a:t>
            </a:r>
            <a:r>
              <a:rPr lang="da-DK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DK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…)</a:t>
            </a:r>
            <a:endParaRPr lang="en-DK" sz="1200" dirty="0">
              <a:solidFill>
                <a:schemeClr val="tx1"/>
              </a:solidFill>
            </a:endParaRP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EEE8504-F464-3EAD-24E8-01082E21E5C8}"/>
              </a:ext>
            </a:extLst>
          </p:cNvPr>
          <p:cNvCxnSpPr>
            <a:cxnSpLocks/>
            <a:stCxn id="63" idx="0"/>
            <a:endCxn id="70" idx="2"/>
          </p:cNvCxnSpPr>
          <p:nvPr/>
        </p:nvCxnSpPr>
        <p:spPr>
          <a:xfrm flipV="1">
            <a:off x="8485606" y="4002479"/>
            <a:ext cx="906589" cy="92748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8AB28F0-B763-0A87-09F1-429FACB2E36D}"/>
              </a:ext>
            </a:extLst>
          </p:cNvPr>
          <p:cNvCxnSpPr>
            <a:cxnSpLocks/>
            <a:endCxn id="59" idx="0"/>
          </p:cNvCxnSpPr>
          <p:nvPr/>
        </p:nvCxnSpPr>
        <p:spPr>
          <a:xfrm>
            <a:off x="7009669" y="2940063"/>
            <a:ext cx="712809" cy="22933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5B14ABB8-036B-9366-3E99-BCBBCC689CB0}"/>
              </a:ext>
            </a:extLst>
          </p:cNvPr>
          <p:cNvCxnSpPr>
            <a:cxnSpLocks/>
            <a:stCxn id="70" idx="0"/>
          </p:cNvCxnSpPr>
          <p:nvPr/>
        </p:nvCxnSpPr>
        <p:spPr>
          <a:xfrm flipV="1">
            <a:off x="9392195" y="3065177"/>
            <a:ext cx="45364" cy="31302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191B830E-F371-6024-3700-916E4F8235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6543" y="1677819"/>
            <a:ext cx="1784338" cy="1352242"/>
          </a:xfrm>
          <a:prstGeom prst="rect">
            <a:avLst/>
          </a:prstGeom>
        </p:spPr>
      </p:pic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A77FAAE-34B5-8925-CB5D-426EEC3A8921}"/>
              </a:ext>
            </a:extLst>
          </p:cNvPr>
          <p:cNvCxnSpPr>
            <a:cxnSpLocks/>
            <a:stCxn id="25" idx="0"/>
          </p:cNvCxnSpPr>
          <p:nvPr/>
        </p:nvCxnSpPr>
        <p:spPr>
          <a:xfrm flipV="1">
            <a:off x="3655964" y="2559704"/>
            <a:ext cx="281958" cy="81367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Picture 42">
            <a:extLst>
              <a:ext uri="{FF2B5EF4-FFF2-40B4-BE49-F238E27FC236}">
                <a16:creationId xmlns:a16="http://schemas.microsoft.com/office/drawing/2014/main" id="{AE8662B6-1C3B-BF1B-0894-3A2E098406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1818" y="1702085"/>
            <a:ext cx="1784338" cy="1352242"/>
          </a:xfrm>
          <a:prstGeom prst="rect">
            <a:avLst/>
          </a:prstGeom>
        </p:spPr>
      </p:pic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C0CC41B-0A5E-716F-5FED-2D2EE31B9123}"/>
              </a:ext>
            </a:extLst>
          </p:cNvPr>
          <p:cNvCxnSpPr>
            <a:cxnSpLocks/>
          </p:cNvCxnSpPr>
          <p:nvPr/>
        </p:nvCxnSpPr>
        <p:spPr>
          <a:xfrm>
            <a:off x="10373687" y="2440895"/>
            <a:ext cx="443086" cy="176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olded Corner 16">
            <a:extLst>
              <a:ext uri="{FF2B5EF4-FFF2-40B4-BE49-F238E27FC236}">
                <a16:creationId xmlns:a16="http://schemas.microsoft.com/office/drawing/2014/main" id="{396CCCDB-E076-6248-5B82-29866D1453F9}"/>
              </a:ext>
            </a:extLst>
          </p:cNvPr>
          <p:cNvSpPr/>
          <p:nvPr/>
        </p:nvSpPr>
        <p:spPr>
          <a:xfrm>
            <a:off x="4790665" y="4211090"/>
            <a:ext cx="1930979" cy="675332"/>
          </a:xfrm>
          <a:prstGeom prst="foldedCorner">
            <a:avLst/>
          </a:prstGeom>
          <a:solidFill>
            <a:srgbClr val="FFC0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K" sz="1000" dirty="0">
                <a:solidFill>
                  <a:schemeClr val="tx1"/>
                </a:solidFill>
              </a:rPr>
              <a:t>CheckOut</a:t>
            </a:r>
          </a:p>
          <a:p>
            <a:pPr algn="ctr"/>
            <a:r>
              <a:rPr lang="en-DK" sz="1000" dirty="0">
                <a:solidFill>
                  <a:schemeClr val="tx1"/>
                </a:solidFill>
              </a:rPr>
              <a:t>Requested</a:t>
            </a:r>
          </a:p>
          <a:p>
            <a:pPr algn="ctr"/>
            <a:r>
              <a:rPr lang="en-DK" sz="1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(basketId, orderId)</a:t>
            </a:r>
          </a:p>
        </p:txBody>
      </p:sp>
    </p:spTree>
    <p:extLst>
      <p:ext uri="{BB962C8B-B14F-4D97-AF65-F5344CB8AC3E}">
        <p14:creationId xmlns:p14="http://schemas.microsoft.com/office/powerpoint/2010/main" val="425435355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4DB3C-364F-AAA2-F3C1-59FA49668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A58004EA-AB0D-803D-4C29-7F859AB011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Event modeling - Implementation slicing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5E017F-D2EF-D189-741F-16B6745933FD}"/>
              </a:ext>
            </a:extLst>
          </p:cNvPr>
          <p:cNvSpPr/>
          <p:nvPr/>
        </p:nvSpPr>
        <p:spPr>
          <a:xfrm>
            <a:off x="228600" y="1576039"/>
            <a:ext cx="11420708" cy="5084956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60579F9-1A74-25CD-84ED-AE639CCBFCF0}"/>
              </a:ext>
            </a:extLst>
          </p:cNvPr>
          <p:cNvCxnSpPr>
            <a:cxnSpLocks/>
          </p:cNvCxnSpPr>
          <p:nvPr/>
        </p:nvCxnSpPr>
        <p:spPr>
          <a:xfrm>
            <a:off x="670784" y="4924520"/>
            <a:ext cx="9798205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9D67C0C-855E-EB49-47A4-45ABEBDB0E09}"/>
              </a:ext>
            </a:extLst>
          </p:cNvPr>
          <p:cNvCxnSpPr>
            <a:cxnSpLocks/>
          </p:cNvCxnSpPr>
          <p:nvPr/>
        </p:nvCxnSpPr>
        <p:spPr>
          <a:xfrm>
            <a:off x="670784" y="5723692"/>
            <a:ext cx="9798205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4A26E0C-CC63-4066-CB01-4671921D4800}"/>
              </a:ext>
            </a:extLst>
          </p:cNvPr>
          <p:cNvCxnSpPr>
            <a:cxnSpLocks/>
          </p:cNvCxnSpPr>
          <p:nvPr/>
        </p:nvCxnSpPr>
        <p:spPr>
          <a:xfrm>
            <a:off x="670784" y="4158803"/>
            <a:ext cx="9798205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80EB2D6-45B2-A9CC-EC13-FE702EDF84A4}"/>
              </a:ext>
            </a:extLst>
          </p:cNvPr>
          <p:cNvCxnSpPr>
            <a:cxnSpLocks/>
          </p:cNvCxnSpPr>
          <p:nvPr/>
        </p:nvCxnSpPr>
        <p:spPr>
          <a:xfrm>
            <a:off x="670784" y="3140326"/>
            <a:ext cx="9798205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AB302DB-1A43-36D9-51D9-E4F6CB0852E7}"/>
              </a:ext>
            </a:extLst>
          </p:cNvPr>
          <p:cNvSpPr txBox="1"/>
          <p:nvPr/>
        </p:nvSpPr>
        <p:spPr>
          <a:xfrm>
            <a:off x="360983" y="4408424"/>
            <a:ext cx="13901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sz="1200" dirty="0"/>
              <a:t>Sales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EB0AC09-2A37-3E4F-367C-8BC67BE2395D}"/>
              </a:ext>
            </a:extLst>
          </p:cNvPr>
          <p:cNvCxnSpPr>
            <a:cxnSpLocks/>
            <a:stCxn id="6" idx="2"/>
            <a:endCxn id="13" idx="0"/>
          </p:cNvCxnSpPr>
          <p:nvPr/>
        </p:nvCxnSpPr>
        <p:spPr>
          <a:xfrm>
            <a:off x="2376137" y="3024731"/>
            <a:ext cx="1" cy="15244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363CC99-FB1C-627C-AF0B-B18DF9D3BBB7}"/>
              </a:ext>
            </a:extLst>
          </p:cNvPr>
          <p:cNvCxnSpPr>
            <a:cxnSpLocks/>
            <a:stCxn id="13" idx="2"/>
            <a:endCxn id="21" idx="0"/>
          </p:cNvCxnSpPr>
          <p:nvPr/>
        </p:nvCxnSpPr>
        <p:spPr>
          <a:xfrm>
            <a:off x="2376138" y="4072837"/>
            <a:ext cx="582620" cy="11803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Folded Corner 24">
            <a:extLst>
              <a:ext uri="{FF2B5EF4-FFF2-40B4-BE49-F238E27FC236}">
                <a16:creationId xmlns:a16="http://schemas.microsoft.com/office/drawing/2014/main" id="{7955F029-3FA3-347D-56D5-B6963A3639E7}"/>
              </a:ext>
            </a:extLst>
          </p:cNvPr>
          <p:cNvSpPr/>
          <p:nvPr/>
        </p:nvSpPr>
        <p:spPr>
          <a:xfrm>
            <a:off x="3098038" y="3373374"/>
            <a:ext cx="1115852" cy="524826"/>
          </a:xfrm>
          <a:prstGeom prst="foldedCorner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K" sz="1000" dirty="0">
                <a:solidFill>
                  <a:schemeClr val="tx1"/>
                </a:solidFill>
              </a:rPr>
              <a:t>Shopping Basket</a:t>
            </a:r>
          </a:p>
          <a:p>
            <a:pPr algn="ctr"/>
            <a:r>
              <a:rPr lang="en-DK" sz="1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(basketId,…)</a:t>
            </a:r>
            <a:endParaRPr lang="en-DK" sz="1000" dirty="0">
              <a:solidFill>
                <a:schemeClr val="tx1"/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5FCE886-E951-9220-4550-8526E7E4718B}"/>
              </a:ext>
            </a:extLst>
          </p:cNvPr>
          <p:cNvCxnSpPr>
            <a:cxnSpLocks/>
            <a:endCxn id="25" idx="2"/>
          </p:cNvCxnSpPr>
          <p:nvPr/>
        </p:nvCxnSpPr>
        <p:spPr>
          <a:xfrm flipV="1">
            <a:off x="3086047" y="3898200"/>
            <a:ext cx="569917" cy="27434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1B8D603-514A-EE7D-03DC-7F37BB0E7144}"/>
              </a:ext>
            </a:extLst>
          </p:cNvPr>
          <p:cNvSpPr txBox="1"/>
          <p:nvPr/>
        </p:nvSpPr>
        <p:spPr>
          <a:xfrm>
            <a:off x="351299" y="5190671"/>
            <a:ext cx="13901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sz="1200" dirty="0"/>
              <a:t>Shipping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57DFF20-4A32-C571-7DDF-B3C5DF87CEC4}"/>
              </a:ext>
            </a:extLst>
          </p:cNvPr>
          <p:cNvSpPr txBox="1"/>
          <p:nvPr/>
        </p:nvSpPr>
        <p:spPr>
          <a:xfrm>
            <a:off x="351300" y="2282705"/>
            <a:ext cx="13901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sz="1200" dirty="0"/>
              <a:t>Web App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6AE2846-5D3B-3128-A1EF-59F097417CCD}"/>
              </a:ext>
            </a:extLst>
          </p:cNvPr>
          <p:cNvGrpSpPr/>
          <p:nvPr/>
        </p:nvGrpSpPr>
        <p:grpSpPr>
          <a:xfrm>
            <a:off x="1495975" y="1690688"/>
            <a:ext cx="2064084" cy="3222579"/>
            <a:chOff x="1495975" y="1690688"/>
            <a:chExt cx="2064084" cy="3222579"/>
          </a:xfrm>
          <a:solidFill>
            <a:srgbClr val="FFC000"/>
          </a:solidFill>
        </p:grpSpPr>
        <p:sp>
          <p:nvSpPr>
            <p:cNvPr id="13" name="Folded Corner 12">
              <a:extLst>
                <a:ext uri="{FF2B5EF4-FFF2-40B4-BE49-F238E27FC236}">
                  <a16:creationId xmlns:a16="http://schemas.microsoft.com/office/drawing/2014/main" id="{0CE2864A-B14B-F81E-38EC-73E07A2367DB}"/>
                </a:ext>
              </a:extLst>
            </p:cNvPr>
            <p:cNvSpPr/>
            <p:nvPr/>
          </p:nvSpPr>
          <p:spPr>
            <a:xfrm>
              <a:off x="1848167" y="3177172"/>
              <a:ext cx="1055941" cy="895665"/>
            </a:xfrm>
            <a:prstGeom prst="foldedCorner">
              <a:avLst/>
            </a:prstGeom>
            <a:solidFill>
              <a:srgbClr val="8497B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DK" sz="1000" dirty="0">
                  <a:solidFill>
                    <a:schemeClr val="tx1"/>
                  </a:solidFill>
                </a:rPr>
                <a:t>Add Item  to</a:t>
              </a:r>
            </a:p>
            <a:p>
              <a:pPr algn="ctr"/>
              <a:r>
                <a:rPr lang="en-DK" sz="1000" dirty="0">
                  <a:solidFill>
                    <a:schemeClr val="tx1"/>
                  </a:solidFill>
                </a:rPr>
                <a:t>Shopping Basket</a:t>
              </a:r>
            </a:p>
            <a:p>
              <a:pPr algn="ctr"/>
              <a:r>
                <a:rPr lang="en-DK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(basketId, productId)</a:t>
              </a:r>
            </a:p>
          </p:txBody>
        </p:sp>
        <p:sp>
          <p:nvSpPr>
            <p:cNvPr id="21" name="Folded Corner 20">
              <a:extLst>
                <a:ext uri="{FF2B5EF4-FFF2-40B4-BE49-F238E27FC236}">
                  <a16:creationId xmlns:a16="http://schemas.microsoft.com/office/drawing/2014/main" id="{065C7A13-14E4-C430-C426-5203ED00B967}"/>
                </a:ext>
              </a:extLst>
            </p:cNvPr>
            <p:cNvSpPr/>
            <p:nvPr/>
          </p:nvSpPr>
          <p:spPr>
            <a:xfrm>
              <a:off x="2357457" y="4190870"/>
              <a:ext cx="1202602" cy="722397"/>
            </a:xfrm>
            <a:prstGeom prst="foldedCorner">
              <a:avLst/>
            </a:prstGeom>
            <a:grpFill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DK" sz="1000" dirty="0">
                  <a:solidFill>
                    <a:schemeClr val="tx1"/>
                  </a:solidFill>
                </a:rPr>
                <a:t>Item Added to Shopping Basket</a:t>
              </a:r>
            </a:p>
            <a:p>
              <a:pPr algn="ctr"/>
              <a:r>
                <a:rPr lang="en-DK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(basketId, productId)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197511A-1CEF-FC2C-9655-E2198FE58D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95975" y="1690688"/>
              <a:ext cx="1760323" cy="1334043"/>
            </a:xfrm>
            <a:prstGeom prst="rect">
              <a:avLst/>
            </a:prstGeom>
            <a:grpFill/>
          </p:spPr>
        </p:pic>
      </p:grpSp>
      <p:sp>
        <p:nvSpPr>
          <p:cNvPr id="37" name="Folded Corner 36">
            <a:extLst>
              <a:ext uri="{FF2B5EF4-FFF2-40B4-BE49-F238E27FC236}">
                <a16:creationId xmlns:a16="http://schemas.microsoft.com/office/drawing/2014/main" id="{EA63692A-DE16-0EF5-B36B-98EF7EAB178F}"/>
              </a:ext>
            </a:extLst>
          </p:cNvPr>
          <p:cNvSpPr/>
          <p:nvPr/>
        </p:nvSpPr>
        <p:spPr>
          <a:xfrm>
            <a:off x="4542248" y="3204743"/>
            <a:ext cx="1062527" cy="868098"/>
          </a:xfrm>
          <a:prstGeom prst="foldedCorner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K" sz="900" dirty="0">
                <a:solidFill>
                  <a:schemeClr val="tx1"/>
                </a:solidFill>
              </a:rPr>
              <a:t>Request CheckOut</a:t>
            </a:r>
          </a:p>
          <a:p>
            <a:pPr algn="ctr"/>
            <a:r>
              <a:rPr lang="en-DK" sz="9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(orderId, basketId)</a:t>
            </a:r>
          </a:p>
        </p:txBody>
      </p:sp>
      <p:sp>
        <p:nvSpPr>
          <p:cNvPr id="42" name="Folded Corner 41">
            <a:extLst>
              <a:ext uri="{FF2B5EF4-FFF2-40B4-BE49-F238E27FC236}">
                <a16:creationId xmlns:a16="http://schemas.microsoft.com/office/drawing/2014/main" id="{CE502719-99CD-6A2A-507A-3AAF3CD9A0EB}"/>
              </a:ext>
            </a:extLst>
          </p:cNvPr>
          <p:cNvSpPr/>
          <p:nvPr/>
        </p:nvSpPr>
        <p:spPr>
          <a:xfrm>
            <a:off x="4790665" y="4211090"/>
            <a:ext cx="1930979" cy="675332"/>
          </a:xfrm>
          <a:prstGeom prst="foldedCorner">
            <a:avLst/>
          </a:prstGeom>
          <a:solidFill>
            <a:srgbClr val="FFC0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K" sz="1000" dirty="0">
                <a:solidFill>
                  <a:schemeClr val="tx1"/>
                </a:solidFill>
              </a:rPr>
              <a:t>CheckOut</a:t>
            </a:r>
          </a:p>
          <a:p>
            <a:pPr algn="ctr"/>
            <a:r>
              <a:rPr lang="en-DK" sz="1000" dirty="0">
                <a:solidFill>
                  <a:schemeClr val="tx1"/>
                </a:solidFill>
              </a:rPr>
              <a:t>Requested</a:t>
            </a:r>
          </a:p>
          <a:p>
            <a:pPr algn="ctr"/>
            <a:r>
              <a:rPr lang="en-DK" sz="1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(orderId, basketId)</a:t>
            </a:r>
          </a:p>
        </p:txBody>
      </p:sp>
      <p:sp>
        <p:nvSpPr>
          <p:cNvPr id="48" name="Folded Corner 47">
            <a:extLst>
              <a:ext uri="{FF2B5EF4-FFF2-40B4-BE49-F238E27FC236}">
                <a16:creationId xmlns:a16="http://schemas.microsoft.com/office/drawing/2014/main" id="{65E15EFF-0490-ACED-E275-D337283FE113}"/>
              </a:ext>
            </a:extLst>
          </p:cNvPr>
          <p:cNvSpPr/>
          <p:nvPr/>
        </p:nvSpPr>
        <p:spPr>
          <a:xfrm>
            <a:off x="5668219" y="3398455"/>
            <a:ext cx="1278236" cy="568959"/>
          </a:xfrm>
          <a:prstGeom prst="foldedCorner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K" sz="1050" dirty="0">
                <a:solidFill>
                  <a:schemeClr val="tx1"/>
                </a:solidFill>
              </a:rPr>
              <a:t>Shopping Basket</a:t>
            </a:r>
          </a:p>
          <a:p>
            <a:pPr algn="ctr"/>
            <a:r>
              <a:rPr lang="da-DK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DK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basketId, </a:t>
            </a:r>
            <a:r>
              <a:rPr lang="da-DK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orderId</a:t>
            </a:r>
            <a:r>
              <a:rPr lang="da-DK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DK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…)</a:t>
            </a:r>
            <a:endParaRPr lang="en-DK" sz="1050" dirty="0">
              <a:solidFill>
                <a:schemeClr val="tx1"/>
              </a:solidFill>
            </a:endParaRP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EB981C0-D685-2E91-AB5A-D7D98DD3FA22}"/>
              </a:ext>
            </a:extLst>
          </p:cNvPr>
          <p:cNvCxnSpPr>
            <a:cxnSpLocks/>
            <a:stCxn id="37" idx="2"/>
            <a:endCxn id="42" idx="0"/>
          </p:cNvCxnSpPr>
          <p:nvPr/>
        </p:nvCxnSpPr>
        <p:spPr>
          <a:xfrm>
            <a:off x="5073512" y="4072841"/>
            <a:ext cx="682643" cy="13824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714EF407-33B9-9562-896F-1367659CAC03}"/>
              </a:ext>
            </a:extLst>
          </p:cNvPr>
          <p:cNvCxnSpPr>
            <a:cxnSpLocks/>
            <a:stCxn id="42" idx="0"/>
            <a:endCxn id="48" idx="2"/>
          </p:cNvCxnSpPr>
          <p:nvPr/>
        </p:nvCxnSpPr>
        <p:spPr>
          <a:xfrm flipV="1">
            <a:off x="5756155" y="3967414"/>
            <a:ext cx="551182" cy="24367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CDD83E3-9796-B2E0-315C-F2AEEF201E5C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5037922" y="2933077"/>
            <a:ext cx="35590" cy="27166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32704BA-BACA-E229-B1BD-1618D336EB83}"/>
              </a:ext>
            </a:extLst>
          </p:cNvPr>
          <p:cNvSpPr txBox="1"/>
          <p:nvPr/>
        </p:nvSpPr>
        <p:spPr>
          <a:xfrm>
            <a:off x="351298" y="6043782"/>
            <a:ext cx="13901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sz="1200" dirty="0"/>
              <a:t>Payment</a:t>
            </a: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07622439-898E-67B9-92D3-9FDEB7C9F976}"/>
              </a:ext>
            </a:extLst>
          </p:cNvPr>
          <p:cNvGrpSpPr/>
          <p:nvPr/>
        </p:nvGrpSpPr>
        <p:grpSpPr>
          <a:xfrm>
            <a:off x="5596918" y="1706054"/>
            <a:ext cx="1679526" cy="1692401"/>
            <a:chOff x="5596918" y="1706054"/>
            <a:chExt cx="1679526" cy="1692401"/>
          </a:xfrm>
        </p:grpSpPr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91565B95-29FD-8975-58EF-332428478F26}"/>
                </a:ext>
              </a:extLst>
            </p:cNvPr>
            <p:cNvCxnSpPr>
              <a:cxnSpLocks/>
              <a:stCxn id="48" idx="0"/>
              <a:endCxn id="35" idx="2"/>
            </p:cNvCxnSpPr>
            <p:nvPr/>
          </p:nvCxnSpPr>
          <p:spPr>
            <a:xfrm flipV="1">
              <a:off x="6307337" y="3052218"/>
              <a:ext cx="129344" cy="34623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391E7E2F-A010-3669-F3FB-AB97A68DA2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96918" y="1706054"/>
              <a:ext cx="1679526" cy="1346164"/>
            </a:xfrm>
            <a:prstGeom prst="rect">
              <a:avLst/>
            </a:prstGeom>
          </p:spPr>
        </p:pic>
      </p:grpSp>
      <p:sp>
        <p:nvSpPr>
          <p:cNvPr id="59" name="Folded Corner 58">
            <a:extLst>
              <a:ext uri="{FF2B5EF4-FFF2-40B4-BE49-F238E27FC236}">
                <a16:creationId xmlns:a16="http://schemas.microsoft.com/office/drawing/2014/main" id="{6749D047-0E86-E266-0327-B649AB08D34E}"/>
              </a:ext>
            </a:extLst>
          </p:cNvPr>
          <p:cNvSpPr/>
          <p:nvPr/>
        </p:nvSpPr>
        <p:spPr>
          <a:xfrm>
            <a:off x="6999773" y="3169395"/>
            <a:ext cx="1445409" cy="962937"/>
          </a:xfrm>
          <a:prstGeom prst="foldedCorner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000" dirty="0" err="1">
                <a:solidFill>
                  <a:schemeClr val="tx1"/>
                </a:solidFill>
              </a:rPr>
              <a:t>Add</a:t>
            </a:r>
            <a:r>
              <a:rPr lang="da-DK" sz="1000" dirty="0">
                <a:solidFill>
                  <a:schemeClr val="tx1"/>
                </a:solidFill>
              </a:rPr>
              <a:t> Shipping </a:t>
            </a:r>
            <a:r>
              <a:rPr lang="da-DK" sz="1000" dirty="0" err="1">
                <a:solidFill>
                  <a:schemeClr val="tx1"/>
                </a:solidFill>
              </a:rPr>
              <a:t>Details</a:t>
            </a:r>
            <a:r>
              <a:rPr lang="da-DK" sz="1000" dirty="0">
                <a:solidFill>
                  <a:schemeClr val="tx1"/>
                </a:solidFill>
              </a:rPr>
              <a:t> to Order</a:t>
            </a:r>
          </a:p>
          <a:p>
            <a:pPr algn="ctr"/>
            <a:r>
              <a:rPr lang="da-DK" sz="1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a-DK" sz="1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orderId</a:t>
            </a:r>
            <a:r>
              <a:rPr lang="da-DK" sz="1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</a:p>
          <a:p>
            <a:pPr algn="ctr"/>
            <a:r>
              <a:rPr lang="da-DK" sz="1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shippingAddress</a:t>
            </a:r>
            <a:r>
              <a:rPr lang="da-DK" sz="1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algn="ctr"/>
            <a:r>
              <a:rPr lang="da-DK" sz="1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shippingMethod</a:t>
            </a:r>
            <a:r>
              <a:rPr lang="da-DK" sz="1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DK" sz="1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3" name="Folded Corner 62">
            <a:extLst>
              <a:ext uri="{FF2B5EF4-FFF2-40B4-BE49-F238E27FC236}">
                <a16:creationId xmlns:a16="http://schemas.microsoft.com/office/drawing/2014/main" id="{4EA0C878-E30D-7310-31A8-05EC34FFF90E}"/>
              </a:ext>
            </a:extLst>
          </p:cNvPr>
          <p:cNvSpPr/>
          <p:nvPr/>
        </p:nvSpPr>
        <p:spPr>
          <a:xfrm>
            <a:off x="7555555" y="5056067"/>
            <a:ext cx="1992526" cy="692392"/>
          </a:xfrm>
          <a:prstGeom prst="foldedCorner">
            <a:avLst/>
          </a:prstGeom>
          <a:solidFill>
            <a:srgbClr val="FFC0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K" sz="1000" dirty="0">
                <a:solidFill>
                  <a:schemeClr val="tx1"/>
                </a:solidFill>
              </a:rPr>
              <a:t>ShippingDetailsAdded</a:t>
            </a:r>
          </a:p>
          <a:p>
            <a:pPr algn="ctr"/>
            <a:r>
              <a:rPr lang="da-DK" sz="1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a-DK" sz="1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orderId</a:t>
            </a:r>
            <a:r>
              <a:rPr lang="da-DK" sz="1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</a:p>
          <a:p>
            <a:pPr algn="ctr"/>
            <a:r>
              <a:rPr lang="da-DK" sz="1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shippingAddress</a:t>
            </a:r>
            <a:r>
              <a:rPr lang="da-DK" sz="1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algn="ctr"/>
            <a:r>
              <a:rPr lang="da-DK" sz="1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shippingMethod</a:t>
            </a:r>
            <a:r>
              <a:rPr lang="da-DK" sz="1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DK" sz="1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D7718E0E-7AD8-A97C-B855-598093CC328A}"/>
              </a:ext>
            </a:extLst>
          </p:cNvPr>
          <p:cNvCxnSpPr>
            <a:cxnSpLocks/>
            <a:stCxn id="59" idx="2"/>
            <a:endCxn id="63" idx="0"/>
          </p:cNvCxnSpPr>
          <p:nvPr/>
        </p:nvCxnSpPr>
        <p:spPr>
          <a:xfrm>
            <a:off x="7722478" y="4132332"/>
            <a:ext cx="829340" cy="92373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Folded Corner 69">
            <a:extLst>
              <a:ext uri="{FF2B5EF4-FFF2-40B4-BE49-F238E27FC236}">
                <a16:creationId xmlns:a16="http://schemas.microsoft.com/office/drawing/2014/main" id="{6446D55D-D1EC-D22C-3AFA-8E5F9C2E0A05}"/>
              </a:ext>
            </a:extLst>
          </p:cNvPr>
          <p:cNvSpPr/>
          <p:nvPr/>
        </p:nvSpPr>
        <p:spPr>
          <a:xfrm>
            <a:off x="8551818" y="3378197"/>
            <a:ext cx="1680753" cy="624282"/>
          </a:xfrm>
          <a:prstGeom prst="foldedCorner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K" sz="1200" dirty="0">
                <a:solidFill>
                  <a:schemeClr val="tx1"/>
                </a:solidFill>
              </a:rPr>
              <a:t>Order</a:t>
            </a:r>
          </a:p>
          <a:p>
            <a:pPr algn="ctr"/>
            <a:r>
              <a:rPr lang="en-DK" sz="1200" dirty="0">
                <a:solidFill>
                  <a:schemeClr val="tx1"/>
                </a:solidFill>
              </a:rPr>
              <a:t>Shipping Details</a:t>
            </a:r>
          </a:p>
          <a:p>
            <a:pPr algn="ctr"/>
            <a:r>
              <a:rPr lang="da-DK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a-DK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orderId</a:t>
            </a:r>
            <a:r>
              <a:rPr lang="da-DK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DK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…)</a:t>
            </a:r>
            <a:endParaRPr lang="en-DK" sz="1200" dirty="0">
              <a:solidFill>
                <a:schemeClr val="tx1"/>
              </a:solidFill>
            </a:endParaRP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3E1BBC4A-204C-3FA3-C0D0-AEA63BE46F89}"/>
              </a:ext>
            </a:extLst>
          </p:cNvPr>
          <p:cNvCxnSpPr>
            <a:cxnSpLocks/>
            <a:endCxn id="70" idx="2"/>
          </p:cNvCxnSpPr>
          <p:nvPr/>
        </p:nvCxnSpPr>
        <p:spPr>
          <a:xfrm flipV="1">
            <a:off x="8603085" y="4002479"/>
            <a:ext cx="789110" cy="107835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1B47C55-E011-B134-F167-25E4D37792BF}"/>
              </a:ext>
            </a:extLst>
          </p:cNvPr>
          <p:cNvCxnSpPr>
            <a:cxnSpLocks/>
            <a:endCxn id="59" idx="0"/>
          </p:cNvCxnSpPr>
          <p:nvPr/>
        </p:nvCxnSpPr>
        <p:spPr>
          <a:xfrm>
            <a:off x="7009669" y="2940063"/>
            <a:ext cx="712809" cy="22933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639296EA-697B-E2D4-BA47-5BEA8F2A70AE}"/>
              </a:ext>
            </a:extLst>
          </p:cNvPr>
          <p:cNvCxnSpPr>
            <a:cxnSpLocks/>
            <a:stCxn id="70" idx="0"/>
          </p:cNvCxnSpPr>
          <p:nvPr/>
        </p:nvCxnSpPr>
        <p:spPr>
          <a:xfrm flipV="1">
            <a:off x="9392195" y="3065177"/>
            <a:ext cx="45364" cy="31302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516C13B7-0E39-2EA5-60EB-1E99B490C5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6543" y="1677819"/>
            <a:ext cx="1784338" cy="1352242"/>
          </a:xfrm>
          <a:prstGeom prst="rect">
            <a:avLst/>
          </a:prstGeom>
        </p:spPr>
      </p:pic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60E8F82-07E7-9025-613C-89C2E21599E5}"/>
              </a:ext>
            </a:extLst>
          </p:cNvPr>
          <p:cNvCxnSpPr>
            <a:cxnSpLocks/>
            <a:stCxn id="25" idx="0"/>
          </p:cNvCxnSpPr>
          <p:nvPr/>
        </p:nvCxnSpPr>
        <p:spPr>
          <a:xfrm flipV="1">
            <a:off x="3655964" y="2559704"/>
            <a:ext cx="281958" cy="81367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Picture 42">
            <a:extLst>
              <a:ext uri="{FF2B5EF4-FFF2-40B4-BE49-F238E27FC236}">
                <a16:creationId xmlns:a16="http://schemas.microsoft.com/office/drawing/2014/main" id="{E9ACC823-886F-4945-6DCC-41AF019CD9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1818" y="1702085"/>
            <a:ext cx="1784338" cy="1352242"/>
          </a:xfrm>
          <a:prstGeom prst="rect">
            <a:avLst/>
          </a:prstGeom>
        </p:spPr>
      </p:pic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3172A5D-37C2-DD3F-8AB7-1CB73B63A944}"/>
              </a:ext>
            </a:extLst>
          </p:cNvPr>
          <p:cNvCxnSpPr>
            <a:cxnSpLocks/>
          </p:cNvCxnSpPr>
          <p:nvPr/>
        </p:nvCxnSpPr>
        <p:spPr>
          <a:xfrm>
            <a:off x="10373687" y="2440895"/>
            <a:ext cx="443086" cy="176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C6EF009-ADC9-EFE8-6EB8-EB900401E1B8}"/>
              </a:ext>
            </a:extLst>
          </p:cNvPr>
          <p:cNvSpPr/>
          <p:nvPr/>
        </p:nvSpPr>
        <p:spPr>
          <a:xfrm>
            <a:off x="1399155" y="1660064"/>
            <a:ext cx="1564066" cy="3271515"/>
          </a:xfrm>
          <a:prstGeom prst="roundRect">
            <a:avLst/>
          </a:prstGeom>
          <a:noFill/>
          <a:ln w="25400">
            <a:solidFill>
              <a:srgbClr val="FF40FF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FE57383-CFC7-99ED-4F77-AFEFB2AAEFC6}"/>
              </a:ext>
            </a:extLst>
          </p:cNvPr>
          <p:cNvSpPr/>
          <p:nvPr/>
        </p:nvSpPr>
        <p:spPr>
          <a:xfrm>
            <a:off x="3011593" y="1675523"/>
            <a:ext cx="1318003" cy="3271515"/>
          </a:xfrm>
          <a:prstGeom prst="roundRect">
            <a:avLst/>
          </a:prstGeom>
          <a:noFill/>
          <a:ln w="25400">
            <a:solidFill>
              <a:srgbClr val="FF40FF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BF32F0A-560C-9127-9CFF-64EEF86F45BB}"/>
              </a:ext>
            </a:extLst>
          </p:cNvPr>
          <p:cNvSpPr/>
          <p:nvPr/>
        </p:nvSpPr>
        <p:spPr>
          <a:xfrm>
            <a:off x="4378514" y="1675522"/>
            <a:ext cx="1236157" cy="3271515"/>
          </a:xfrm>
          <a:prstGeom prst="roundRect">
            <a:avLst/>
          </a:prstGeom>
          <a:noFill/>
          <a:ln w="25400">
            <a:solidFill>
              <a:srgbClr val="FF40FF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5F4088E-17E4-A168-CB80-07B6205DFE56}"/>
              </a:ext>
            </a:extLst>
          </p:cNvPr>
          <p:cNvSpPr/>
          <p:nvPr/>
        </p:nvSpPr>
        <p:spPr>
          <a:xfrm>
            <a:off x="5631041" y="1608807"/>
            <a:ext cx="1315414" cy="3338230"/>
          </a:xfrm>
          <a:prstGeom prst="roundRect">
            <a:avLst/>
          </a:prstGeom>
          <a:noFill/>
          <a:ln w="25400">
            <a:solidFill>
              <a:srgbClr val="FF40FF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CEAC9D8-01A4-F92A-C15C-4D89BC4944EC}"/>
              </a:ext>
            </a:extLst>
          </p:cNvPr>
          <p:cNvSpPr/>
          <p:nvPr/>
        </p:nvSpPr>
        <p:spPr>
          <a:xfrm>
            <a:off x="6983632" y="1623593"/>
            <a:ext cx="1461549" cy="4218122"/>
          </a:xfrm>
          <a:prstGeom prst="roundRect">
            <a:avLst/>
          </a:prstGeom>
          <a:noFill/>
          <a:ln w="25400">
            <a:solidFill>
              <a:srgbClr val="FF40FF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0B76DFE-0C26-15F1-DAE1-A094650961F9}"/>
              </a:ext>
            </a:extLst>
          </p:cNvPr>
          <p:cNvSpPr/>
          <p:nvPr/>
        </p:nvSpPr>
        <p:spPr>
          <a:xfrm>
            <a:off x="8482173" y="1627046"/>
            <a:ext cx="1910856" cy="4218122"/>
          </a:xfrm>
          <a:prstGeom prst="roundRect">
            <a:avLst/>
          </a:prstGeom>
          <a:noFill/>
          <a:ln w="25400">
            <a:solidFill>
              <a:srgbClr val="FF40FF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D082E93-2046-795B-4347-1F36063D3E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78063" y="5919130"/>
            <a:ext cx="3414966" cy="81457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4FF02C0-02EF-CD26-BD18-C786F55060C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1585" y="4927559"/>
            <a:ext cx="2592528" cy="187958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9A274B1-D8CE-9D05-7B05-31DC5256D17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21104" y="5123280"/>
            <a:ext cx="2484875" cy="894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220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D88E22-A03A-C173-B539-7DE021F76F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Event modeling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D85F2A-35EA-70DA-C02D-861C594C6158}"/>
              </a:ext>
            </a:extLst>
          </p:cNvPr>
          <p:cNvSpPr/>
          <p:nvPr/>
        </p:nvSpPr>
        <p:spPr>
          <a:xfrm>
            <a:off x="228600" y="1576039"/>
            <a:ext cx="11420708" cy="5084956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673C8A9-DBE0-41CE-29F8-CFA268594C66}"/>
              </a:ext>
            </a:extLst>
          </p:cNvPr>
          <p:cNvCxnSpPr>
            <a:cxnSpLocks/>
          </p:cNvCxnSpPr>
          <p:nvPr/>
        </p:nvCxnSpPr>
        <p:spPr>
          <a:xfrm>
            <a:off x="670784" y="4924520"/>
            <a:ext cx="10683016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83F7515-246A-D0F6-B6D9-52CE7BE3CFAF}"/>
              </a:ext>
            </a:extLst>
          </p:cNvPr>
          <p:cNvCxnSpPr>
            <a:cxnSpLocks/>
          </p:cNvCxnSpPr>
          <p:nvPr/>
        </p:nvCxnSpPr>
        <p:spPr>
          <a:xfrm>
            <a:off x="670784" y="5723692"/>
            <a:ext cx="10683016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E928305-C98B-7FE6-1432-2F1B3750BAB7}"/>
              </a:ext>
            </a:extLst>
          </p:cNvPr>
          <p:cNvCxnSpPr>
            <a:cxnSpLocks/>
          </p:cNvCxnSpPr>
          <p:nvPr/>
        </p:nvCxnSpPr>
        <p:spPr>
          <a:xfrm>
            <a:off x="670784" y="4158803"/>
            <a:ext cx="10683016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AA5FA81-73ED-8481-BA97-72B7E1D4A841}"/>
              </a:ext>
            </a:extLst>
          </p:cNvPr>
          <p:cNvCxnSpPr>
            <a:cxnSpLocks/>
          </p:cNvCxnSpPr>
          <p:nvPr/>
        </p:nvCxnSpPr>
        <p:spPr>
          <a:xfrm>
            <a:off x="670784" y="3140326"/>
            <a:ext cx="10683016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55C4973-1C9C-4000-2940-9768F3D4DE56}"/>
              </a:ext>
            </a:extLst>
          </p:cNvPr>
          <p:cNvSpPr txBox="1"/>
          <p:nvPr/>
        </p:nvSpPr>
        <p:spPr>
          <a:xfrm>
            <a:off x="360983" y="4408424"/>
            <a:ext cx="13901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sz="1200"/>
              <a:t>Sales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F41EFFB-90F2-3544-4B3F-C22475BE282C}"/>
              </a:ext>
            </a:extLst>
          </p:cNvPr>
          <p:cNvSpPr txBox="1"/>
          <p:nvPr/>
        </p:nvSpPr>
        <p:spPr>
          <a:xfrm>
            <a:off x="351299" y="5190671"/>
            <a:ext cx="13901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sz="1200"/>
              <a:t>Shipping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572FFDB-FA36-3DA5-2B05-B3192D8E6986}"/>
              </a:ext>
            </a:extLst>
          </p:cNvPr>
          <p:cNvSpPr txBox="1"/>
          <p:nvPr/>
        </p:nvSpPr>
        <p:spPr>
          <a:xfrm>
            <a:off x="351300" y="2282705"/>
            <a:ext cx="13901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sz="1200"/>
              <a:t>Web App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49BBF8E-D518-D083-258C-94020A962FDE}"/>
              </a:ext>
            </a:extLst>
          </p:cNvPr>
          <p:cNvSpPr txBox="1"/>
          <p:nvPr/>
        </p:nvSpPr>
        <p:spPr>
          <a:xfrm>
            <a:off x="351298" y="6043782"/>
            <a:ext cx="13901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sz="1200"/>
              <a:t>Payment</a:t>
            </a:r>
          </a:p>
        </p:txBody>
      </p:sp>
      <p:sp>
        <p:nvSpPr>
          <p:cNvPr id="10" name="Folded Corner 9">
            <a:extLst>
              <a:ext uri="{FF2B5EF4-FFF2-40B4-BE49-F238E27FC236}">
                <a16:creationId xmlns:a16="http://schemas.microsoft.com/office/drawing/2014/main" id="{5752CBCB-6A84-069E-7E8F-5CD42CD34FA1}"/>
              </a:ext>
            </a:extLst>
          </p:cNvPr>
          <p:cNvSpPr/>
          <p:nvPr/>
        </p:nvSpPr>
        <p:spPr>
          <a:xfrm>
            <a:off x="2055072" y="3206671"/>
            <a:ext cx="1445409" cy="891624"/>
          </a:xfrm>
          <a:prstGeom prst="foldedCorner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000" err="1">
                <a:solidFill>
                  <a:schemeClr val="tx1"/>
                </a:solidFill>
              </a:rPr>
              <a:t>Add</a:t>
            </a:r>
            <a:r>
              <a:rPr lang="da-DK" sz="1000">
                <a:solidFill>
                  <a:schemeClr val="tx1"/>
                </a:solidFill>
              </a:rPr>
              <a:t> Payment </a:t>
            </a:r>
            <a:r>
              <a:rPr lang="da-DK" sz="1000" err="1">
                <a:solidFill>
                  <a:schemeClr val="tx1"/>
                </a:solidFill>
              </a:rPr>
              <a:t>Details</a:t>
            </a:r>
            <a:r>
              <a:rPr lang="da-DK" sz="1000">
                <a:solidFill>
                  <a:schemeClr val="tx1"/>
                </a:solidFill>
              </a:rPr>
              <a:t> to Order</a:t>
            </a:r>
          </a:p>
          <a:p>
            <a:pPr algn="ctr"/>
            <a:r>
              <a:rPr lang="da-DK" sz="100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a-DK" sz="100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orderId</a:t>
            </a:r>
            <a:r>
              <a:rPr lang="da-DK" sz="100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</a:p>
          <a:p>
            <a:pPr algn="ctr"/>
            <a:r>
              <a:rPr lang="da-DK" sz="100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invoiceAddress</a:t>
            </a:r>
            <a:r>
              <a:rPr lang="da-DK" sz="100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algn="ctr"/>
            <a:r>
              <a:rPr lang="da-DK" sz="100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paymentMethod</a:t>
            </a:r>
            <a:r>
              <a:rPr lang="da-DK" sz="100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DK" sz="100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Folded Corner 10">
            <a:extLst>
              <a:ext uri="{FF2B5EF4-FFF2-40B4-BE49-F238E27FC236}">
                <a16:creationId xmlns:a16="http://schemas.microsoft.com/office/drawing/2014/main" id="{2A7B8A32-0339-D544-14CA-223C3BCAF4DB}"/>
              </a:ext>
            </a:extLst>
          </p:cNvPr>
          <p:cNvSpPr/>
          <p:nvPr/>
        </p:nvSpPr>
        <p:spPr>
          <a:xfrm>
            <a:off x="2210187" y="5871675"/>
            <a:ext cx="2580587" cy="731097"/>
          </a:xfrm>
          <a:prstGeom prst="foldedCorner">
            <a:avLst/>
          </a:prstGeom>
          <a:solidFill>
            <a:srgbClr val="FFC0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K" sz="1000">
                <a:solidFill>
                  <a:schemeClr val="tx1"/>
                </a:solidFill>
              </a:rPr>
              <a:t>PaymentDetailsAdded</a:t>
            </a:r>
          </a:p>
          <a:p>
            <a:pPr algn="ctr"/>
            <a:r>
              <a:rPr lang="da-DK" sz="100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a-DK" sz="100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orderId</a:t>
            </a:r>
            <a:r>
              <a:rPr lang="da-DK" sz="100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</a:p>
          <a:p>
            <a:pPr algn="ctr"/>
            <a:r>
              <a:rPr lang="da-DK" sz="100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invoiceAddress</a:t>
            </a:r>
            <a:r>
              <a:rPr lang="da-DK" sz="100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algn="ctr"/>
            <a:r>
              <a:rPr lang="da-DK" sz="100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paymentMethod</a:t>
            </a:r>
            <a:r>
              <a:rPr lang="da-DK" sz="100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DK" sz="1000">
              <a:solidFill>
                <a:schemeClr val="tx1"/>
              </a:solidFill>
            </a:endParaRPr>
          </a:p>
        </p:txBody>
      </p:sp>
      <p:sp>
        <p:nvSpPr>
          <p:cNvPr id="12" name="Folded Corner 11">
            <a:extLst>
              <a:ext uri="{FF2B5EF4-FFF2-40B4-BE49-F238E27FC236}">
                <a16:creationId xmlns:a16="http://schemas.microsoft.com/office/drawing/2014/main" id="{F3EFCB16-9790-BE22-97C7-6BE8E4FF9BBF}"/>
              </a:ext>
            </a:extLst>
          </p:cNvPr>
          <p:cNvSpPr/>
          <p:nvPr/>
        </p:nvSpPr>
        <p:spPr>
          <a:xfrm>
            <a:off x="3584465" y="3332119"/>
            <a:ext cx="1445409" cy="587499"/>
          </a:xfrm>
          <a:prstGeom prst="foldedCorner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K" sz="1100">
                <a:solidFill>
                  <a:schemeClr val="tx1"/>
                </a:solidFill>
              </a:rPr>
              <a:t>Order Payment Details</a:t>
            </a:r>
          </a:p>
          <a:p>
            <a:pPr algn="ctr"/>
            <a:r>
              <a:rPr lang="da-DK" sz="110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a-DK" sz="110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orderId</a:t>
            </a:r>
            <a:r>
              <a:rPr lang="da-DK" sz="110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DK" sz="110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…)</a:t>
            </a:r>
            <a:endParaRPr lang="en-DK" sz="110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3D488FE-B2EA-4539-58D0-5981C95315A4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2777777" y="4098295"/>
            <a:ext cx="722704" cy="177338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Folded Corner 40">
            <a:extLst>
              <a:ext uri="{FF2B5EF4-FFF2-40B4-BE49-F238E27FC236}">
                <a16:creationId xmlns:a16="http://schemas.microsoft.com/office/drawing/2014/main" id="{E4900A84-11C8-44C8-7C6D-F879DF6AE38D}"/>
              </a:ext>
            </a:extLst>
          </p:cNvPr>
          <p:cNvSpPr/>
          <p:nvPr/>
        </p:nvSpPr>
        <p:spPr>
          <a:xfrm>
            <a:off x="5243827" y="3218824"/>
            <a:ext cx="1445409" cy="891624"/>
          </a:xfrm>
          <a:prstGeom prst="foldedCorner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000" err="1">
                <a:solidFill>
                  <a:schemeClr val="tx1"/>
                </a:solidFill>
              </a:rPr>
              <a:t>PlaceOrder</a:t>
            </a:r>
            <a:endParaRPr lang="da-DK" sz="1000">
              <a:solidFill>
                <a:schemeClr val="tx1"/>
              </a:solidFill>
            </a:endParaRPr>
          </a:p>
          <a:p>
            <a:pPr algn="ctr"/>
            <a:r>
              <a:rPr lang="da-DK" sz="100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a-DK" sz="100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orderId</a:t>
            </a:r>
            <a:r>
              <a:rPr lang="da-DK" sz="100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DK" sz="100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3" name="Folded Corner 52">
            <a:extLst>
              <a:ext uri="{FF2B5EF4-FFF2-40B4-BE49-F238E27FC236}">
                <a16:creationId xmlns:a16="http://schemas.microsoft.com/office/drawing/2014/main" id="{B90E36E2-0F92-EBA4-3858-12CE32533435}"/>
              </a:ext>
            </a:extLst>
          </p:cNvPr>
          <p:cNvSpPr/>
          <p:nvPr/>
        </p:nvSpPr>
        <p:spPr>
          <a:xfrm>
            <a:off x="6013237" y="4354772"/>
            <a:ext cx="1129601" cy="524826"/>
          </a:xfrm>
          <a:prstGeom prst="foldedCorner">
            <a:avLst/>
          </a:prstGeom>
          <a:solidFill>
            <a:srgbClr val="FFC0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K" sz="1000">
                <a:solidFill>
                  <a:schemeClr val="tx1"/>
                </a:solidFill>
              </a:rPr>
              <a:t>OrderPlaced</a:t>
            </a:r>
          </a:p>
          <a:p>
            <a:pPr algn="ctr"/>
            <a:r>
              <a:rPr lang="da-DK" sz="100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a-DK" sz="100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orderId</a:t>
            </a:r>
            <a:r>
              <a:rPr lang="da-DK" sz="100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DK" sz="100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0972360-B359-5AAA-AD9D-6F40683DEDFD}"/>
              </a:ext>
            </a:extLst>
          </p:cNvPr>
          <p:cNvCxnSpPr>
            <a:cxnSpLocks/>
            <a:stCxn id="41" idx="2"/>
            <a:endCxn id="53" idx="0"/>
          </p:cNvCxnSpPr>
          <p:nvPr/>
        </p:nvCxnSpPr>
        <p:spPr>
          <a:xfrm>
            <a:off x="5966532" y="4110448"/>
            <a:ext cx="611506" cy="24432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9" name="Graphic 68" descr="Gears with solid fill">
            <a:extLst>
              <a:ext uri="{FF2B5EF4-FFF2-40B4-BE49-F238E27FC236}">
                <a16:creationId xmlns:a16="http://schemas.microsoft.com/office/drawing/2014/main" id="{AE31BA4F-E70B-2298-807C-E70BA62F6F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06586" y="1727257"/>
            <a:ext cx="556976" cy="556976"/>
          </a:xfrm>
          <a:prstGeom prst="rect">
            <a:avLst/>
          </a:prstGeom>
        </p:spPr>
      </p:pic>
      <p:sp>
        <p:nvSpPr>
          <p:cNvPr id="75" name="Folded Corner 74">
            <a:extLst>
              <a:ext uri="{FF2B5EF4-FFF2-40B4-BE49-F238E27FC236}">
                <a16:creationId xmlns:a16="http://schemas.microsoft.com/office/drawing/2014/main" id="{5D84A074-EE76-9E90-7ED4-5CD919741FB1}"/>
              </a:ext>
            </a:extLst>
          </p:cNvPr>
          <p:cNvSpPr/>
          <p:nvPr/>
        </p:nvSpPr>
        <p:spPr>
          <a:xfrm>
            <a:off x="9959758" y="3184322"/>
            <a:ext cx="1445409" cy="891624"/>
          </a:xfrm>
          <a:prstGeom prst="foldedCorner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000">
                <a:solidFill>
                  <a:schemeClr val="tx1"/>
                </a:solidFill>
              </a:rPr>
              <a:t>Package Order</a:t>
            </a:r>
          </a:p>
          <a:p>
            <a:pPr algn="ctr"/>
            <a:r>
              <a:rPr lang="da-DK" sz="100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a-DK" sz="100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orderId</a:t>
            </a:r>
            <a:r>
              <a:rPr lang="da-DK" sz="100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DK" sz="100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31D3C606-F04A-4CC2-9295-F6118B1F2656}"/>
              </a:ext>
            </a:extLst>
          </p:cNvPr>
          <p:cNvCxnSpPr>
            <a:cxnSpLocks/>
            <a:endCxn id="75" idx="0"/>
          </p:cNvCxnSpPr>
          <p:nvPr/>
        </p:nvCxnSpPr>
        <p:spPr>
          <a:xfrm>
            <a:off x="10114883" y="2263384"/>
            <a:ext cx="567580" cy="92093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B1E3F4D9-F35A-BCC6-2FBD-20C21ADD5098}"/>
              </a:ext>
            </a:extLst>
          </p:cNvPr>
          <p:cNvCxnSpPr>
            <a:cxnSpLocks/>
          </p:cNvCxnSpPr>
          <p:nvPr/>
        </p:nvCxnSpPr>
        <p:spPr>
          <a:xfrm flipV="1">
            <a:off x="9082843" y="2183703"/>
            <a:ext cx="927564" cy="107508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lded Corner 5">
            <a:extLst>
              <a:ext uri="{FF2B5EF4-FFF2-40B4-BE49-F238E27FC236}">
                <a16:creationId xmlns:a16="http://schemas.microsoft.com/office/drawing/2014/main" id="{F7FA8208-B914-3C7D-48DB-19913717997C}"/>
              </a:ext>
            </a:extLst>
          </p:cNvPr>
          <p:cNvSpPr/>
          <p:nvPr/>
        </p:nvSpPr>
        <p:spPr>
          <a:xfrm>
            <a:off x="8333184" y="3279790"/>
            <a:ext cx="1499317" cy="683801"/>
          </a:xfrm>
          <a:prstGeom prst="foldedCorner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K" sz="1000">
                <a:solidFill>
                  <a:schemeClr val="tx1"/>
                </a:solidFill>
              </a:rPr>
              <a:t>Orders</a:t>
            </a:r>
          </a:p>
          <a:p>
            <a:pPr algn="ctr"/>
            <a:r>
              <a:rPr lang="en-DK" sz="1000">
                <a:solidFill>
                  <a:schemeClr val="tx1"/>
                </a:solidFill>
              </a:rPr>
              <a:t>Ready for Packaging</a:t>
            </a:r>
          </a:p>
          <a:p>
            <a:pPr algn="ctr"/>
            <a:r>
              <a:rPr lang="da-DK" sz="100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a-DK" sz="100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orderId</a:t>
            </a:r>
            <a:r>
              <a:rPr lang="da-DK" sz="100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DK" sz="100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6" name="Curved Connector 15">
            <a:extLst>
              <a:ext uri="{FF2B5EF4-FFF2-40B4-BE49-F238E27FC236}">
                <a16:creationId xmlns:a16="http://schemas.microsoft.com/office/drawing/2014/main" id="{6BD269C7-8D64-CDE8-323D-F9603F73E3A0}"/>
              </a:ext>
            </a:extLst>
          </p:cNvPr>
          <p:cNvCxnSpPr>
            <a:cxnSpLocks/>
            <a:stCxn id="53" idx="3"/>
            <a:endCxn id="6" idx="2"/>
          </p:cNvCxnSpPr>
          <p:nvPr/>
        </p:nvCxnSpPr>
        <p:spPr>
          <a:xfrm flipV="1">
            <a:off x="7142838" y="3963591"/>
            <a:ext cx="1940005" cy="653594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D291308-703B-6511-8E78-6A00CC360367}"/>
              </a:ext>
            </a:extLst>
          </p:cNvPr>
          <p:cNvCxnSpPr>
            <a:cxnSpLocks/>
          </p:cNvCxnSpPr>
          <p:nvPr/>
        </p:nvCxnSpPr>
        <p:spPr>
          <a:xfrm>
            <a:off x="1259408" y="2477681"/>
            <a:ext cx="443086" cy="176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Picture 41">
            <a:extLst>
              <a:ext uri="{FF2B5EF4-FFF2-40B4-BE49-F238E27FC236}">
                <a16:creationId xmlns:a16="http://schemas.microsoft.com/office/drawing/2014/main" id="{2CF2173A-2321-E07D-02CC-A5F3F7DB78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6073" y="1751394"/>
            <a:ext cx="1701282" cy="1289299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1B92E97E-E32A-7097-5DA7-9D9973208E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1485" y="1768766"/>
            <a:ext cx="1657366" cy="1256018"/>
          </a:xfrm>
          <a:prstGeom prst="rect">
            <a:avLst/>
          </a:prstGeom>
        </p:spPr>
      </p:pic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EE5A02E0-D877-2770-6D78-279D511D0406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4307170" y="2847989"/>
            <a:ext cx="449624" cy="4841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183439F-43E1-A52C-A1EC-07D39E25815B}"/>
              </a:ext>
            </a:extLst>
          </p:cNvPr>
          <p:cNvCxnSpPr>
            <a:cxnSpLocks/>
            <a:endCxn id="41" idx="0"/>
          </p:cNvCxnSpPr>
          <p:nvPr/>
        </p:nvCxnSpPr>
        <p:spPr>
          <a:xfrm>
            <a:off x="5139351" y="2939128"/>
            <a:ext cx="827181" cy="27969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Folded Corner 72">
            <a:extLst>
              <a:ext uri="{FF2B5EF4-FFF2-40B4-BE49-F238E27FC236}">
                <a16:creationId xmlns:a16="http://schemas.microsoft.com/office/drawing/2014/main" id="{E68B079A-679D-8C0F-F5C5-C9107407DAF7}"/>
              </a:ext>
            </a:extLst>
          </p:cNvPr>
          <p:cNvSpPr/>
          <p:nvPr/>
        </p:nvSpPr>
        <p:spPr>
          <a:xfrm>
            <a:off x="6816493" y="3340224"/>
            <a:ext cx="1278236" cy="568959"/>
          </a:xfrm>
          <a:prstGeom prst="foldedCorner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K" sz="1050">
                <a:solidFill>
                  <a:schemeClr val="tx1"/>
                </a:solidFill>
              </a:rPr>
              <a:t>Order</a:t>
            </a:r>
          </a:p>
          <a:p>
            <a:pPr algn="ctr"/>
            <a:r>
              <a:rPr lang="da-DK" sz="105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a-DK" sz="105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orderId</a:t>
            </a:r>
            <a:r>
              <a:rPr lang="da-DK" sz="105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DK" sz="105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1E239BF-1D06-9A75-13E9-09BE0D8A5D01}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2777777" y="2880694"/>
            <a:ext cx="277084" cy="32597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829ECFA4-2FA6-1AB1-2B2F-788E97EBC7F3}"/>
              </a:ext>
            </a:extLst>
          </p:cNvPr>
          <p:cNvCxnSpPr>
            <a:cxnSpLocks/>
            <a:endCxn id="73" idx="2"/>
          </p:cNvCxnSpPr>
          <p:nvPr/>
        </p:nvCxnSpPr>
        <p:spPr>
          <a:xfrm flipV="1">
            <a:off x="6816493" y="3909183"/>
            <a:ext cx="639118" cy="44558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7CA066B7-2DCD-6719-9B67-69F1CDD2F32A}"/>
              </a:ext>
            </a:extLst>
          </p:cNvPr>
          <p:cNvCxnSpPr>
            <a:cxnSpLocks/>
            <a:stCxn id="73" idx="0"/>
          </p:cNvCxnSpPr>
          <p:nvPr/>
        </p:nvCxnSpPr>
        <p:spPr>
          <a:xfrm flipV="1">
            <a:off x="7455611" y="3040693"/>
            <a:ext cx="0" cy="29953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AE5432ED-6D15-82F8-0368-201FEE39572C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3567956" y="3919618"/>
            <a:ext cx="739214" cy="201027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" name="Picture 102">
            <a:extLst>
              <a:ext uri="{FF2B5EF4-FFF2-40B4-BE49-F238E27FC236}">
                <a16:creationId xmlns:a16="http://schemas.microsoft.com/office/drawing/2014/main" id="{2D33BC72-0083-5FFD-7CFD-013B852513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8387" y="1591396"/>
            <a:ext cx="1912405" cy="1449297"/>
          </a:xfrm>
          <a:prstGeom prst="rect">
            <a:avLst/>
          </a:prstGeom>
        </p:spPr>
      </p:pic>
      <p:sp>
        <p:nvSpPr>
          <p:cNvPr id="104" name="Folded Corner 103">
            <a:extLst>
              <a:ext uri="{FF2B5EF4-FFF2-40B4-BE49-F238E27FC236}">
                <a16:creationId xmlns:a16="http://schemas.microsoft.com/office/drawing/2014/main" id="{BBFC6C3E-7831-BA78-F2CF-88CA23168616}"/>
              </a:ext>
            </a:extLst>
          </p:cNvPr>
          <p:cNvSpPr/>
          <p:nvPr/>
        </p:nvSpPr>
        <p:spPr>
          <a:xfrm>
            <a:off x="9732632" y="5095739"/>
            <a:ext cx="1727447" cy="524826"/>
          </a:xfrm>
          <a:prstGeom prst="foldedCorner">
            <a:avLst/>
          </a:prstGeom>
          <a:solidFill>
            <a:srgbClr val="FFC0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K" sz="1000">
                <a:solidFill>
                  <a:schemeClr val="tx1"/>
                </a:solidFill>
              </a:rPr>
              <a:t>Order Packaging Requested</a:t>
            </a:r>
          </a:p>
          <a:p>
            <a:pPr algn="ctr"/>
            <a:r>
              <a:rPr lang="da-DK" sz="100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a-DK" sz="100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orderId</a:t>
            </a:r>
            <a:r>
              <a:rPr lang="da-DK" sz="100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DK" sz="100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111CBB3E-53D3-C69F-1841-17D7E18D5C30}"/>
              </a:ext>
            </a:extLst>
          </p:cNvPr>
          <p:cNvCxnSpPr>
            <a:cxnSpLocks/>
            <a:endCxn id="104" idx="0"/>
          </p:cNvCxnSpPr>
          <p:nvPr/>
        </p:nvCxnSpPr>
        <p:spPr>
          <a:xfrm flipH="1">
            <a:off x="10596356" y="4110448"/>
            <a:ext cx="86107" cy="98529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665631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404400-0065-24B5-A644-DAF502D880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Composite UI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B04C03-1DC1-F2A0-2C85-B91773F7F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2070" y="1690688"/>
            <a:ext cx="6496878" cy="4923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42226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4516F-CD61-819D-B8CA-DA66C35DB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0D0D03A-A07D-3FEE-2828-5CEB2E5446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Automated processes</a:t>
            </a:r>
          </a:p>
        </p:txBody>
      </p:sp>
      <p:sp>
        <p:nvSpPr>
          <p:cNvPr id="11" name="Folded Corner 2">
            <a:extLst>
              <a:ext uri="{FF2B5EF4-FFF2-40B4-BE49-F238E27FC236}">
                <a16:creationId xmlns:a16="http://schemas.microsoft.com/office/drawing/2014/main" id="{908F26FA-5A8D-7FC1-1525-BF691BA31BAD}"/>
              </a:ext>
            </a:extLst>
          </p:cNvPr>
          <p:cNvSpPr/>
          <p:nvPr/>
        </p:nvSpPr>
        <p:spPr>
          <a:xfrm>
            <a:off x="1529780" y="5273836"/>
            <a:ext cx="2329538" cy="1325563"/>
          </a:xfrm>
          <a:prstGeom prst="foldedCorner">
            <a:avLst/>
          </a:prstGeom>
          <a:gradFill rotWithShape="1">
            <a:gsLst>
              <a:gs pos="0">
                <a:srgbClr val="EDA931">
                  <a:satMod val="103000"/>
                  <a:lumMod val="102000"/>
                  <a:tint val="94000"/>
                </a:srgbClr>
              </a:gs>
              <a:gs pos="50000">
                <a:srgbClr val="EDA931">
                  <a:satMod val="110000"/>
                  <a:lumMod val="100000"/>
                  <a:shade val="100000"/>
                </a:srgbClr>
              </a:gs>
              <a:gs pos="100000">
                <a:srgbClr val="EDA931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 w="6350" cap="flat" cmpd="sng" algn="ctr">
            <a:solidFill>
              <a:srgbClr val="EDA93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OrderPlaced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kumimoji="0" lang="da-DK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orderId</a:t>
            </a:r>
            <a:r>
              <a:rPr kumimoji="0" lang="da-DK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</a:t>
            </a:r>
            <a:endParaRPr kumimoji="0" lang="en-DK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pic>
        <p:nvPicPr>
          <p:cNvPr id="12" name="Graphic 11" descr="Gears with solid fill">
            <a:extLst>
              <a:ext uri="{FF2B5EF4-FFF2-40B4-BE49-F238E27FC236}">
                <a16:creationId xmlns:a16="http://schemas.microsoft.com/office/drawing/2014/main" id="{7880A21D-4520-401D-7CAC-0797BCC627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75586" y="2120462"/>
            <a:ext cx="914400" cy="914400"/>
          </a:xfrm>
          <a:prstGeom prst="rect">
            <a:avLst/>
          </a:prstGeom>
        </p:spPr>
      </p:pic>
      <p:sp>
        <p:nvSpPr>
          <p:cNvPr id="13" name="Folded Corner 5">
            <a:extLst>
              <a:ext uri="{FF2B5EF4-FFF2-40B4-BE49-F238E27FC236}">
                <a16:creationId xmlns:a16="http://schemas.microsoft.com/office/drawing/2014/main" id="{62843CFA-9244-C365-0FA9-BD215242F95C}"/>
              </a:ext>
            </a:extLst>
          </p:cNvPr>
          <p:cNvSpPr/>
          <p:nvPr/>
        </p:nvSpPr>
        <p:spPr>
          <a:xfrm>
            <a:off x="6858438" y="4047343"/>
            <a:ext cx="2758527" cy="1325563"/>
          </a:xfrm>
          <a:prstGeom prst="foldedCorner">
            <a:avLst/>
          </a:prstGeom>
          <a:solidFill>
            <a:srgbClr val="00B0F0"/>
          </a:solidFill>
          <a:ln w="127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Place hold on credit card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kumimoji="0" lang="da-DK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orderId</a:t>
            </a:r>
            <a:r>
              <a:rPr kumimoji="0" lang="da-DK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</a:t>
            </a:r>
            <a:endParaRPr kumimoji="0" lang="en-DK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DB970F4-8F8C-874C-86F0-FFCD2AA8C4DC}"/>
              </a:ext>
            </a:extLst>
          </p:cNvPr>
          <p:cNvCxnSpPr>
            <a:cxnSpLocks/>
            <a:stCxn id="11" idx="0"/>
            <a:endCxn id="16" idx="2"/>
          </p:cNvCxnSpPr>
          <p:nvPr/>
        </p:nvCxnSpPr>
        <p:spPr>
          <a:xfrm flipV="1">
            <a:off x="2694549" y="4754563"/>
            <a:ext cx="1474245" cy="519273"/>
          </a:xfrm>
          <a:prstGeom prst="straightConnector1">
            <a:avLst/>
          </a:prstGeom>
          <a:noFill/>
          <a:ln w="19050" cap="flat" cmpd="sng" algn="ctr">
            <a:solidFill>
              <a:schemeClr val="accent6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BF1E167-24C4-7A2E-AFA2-F71ACADE507A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6301008" y="2627586"/>
            <a:ext cx="1936694" cy="1419757"/>
          </a:xfrm>
          <a:prstGeom prst="straightConnector1">
            <a:avLst/>
          </a:prstGeom>
          <a:noFill/>
          <a:ln w="19050" cap="flat" cmpd="sng" algn="ctr">
            <a:solidFill>
              <a:schemeClr val="accent6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6" name="Folded Corner 3">
            <a:extLst>
              <a:ext uri="{FF2B5EF4-FFF2-40B4-BE49-F238E27FC236}">
                <a16:creationId xmlns:a16="http://schemas.microsoft.com/office/drawing/2014/main" id="{B61C48F6-C39D-1049-6264-B32E28A8B081}"/>
              </a:ext>
            </a:extLst>
          </p:cNvPr>
          <p:cNvSpPr/>
          <p:nvPr/>
        </p:nvSpPr>
        <p:spPr>
          <a:xfrm>
            <a:off x="3004025" y="3429000"/>
            <a:ext cx="2329538" cy="1325563"/>
          </a:xfrm>
          <a:prstGeom prst="foldedCorner">
            <a:avLst/>
          </a:prstGeom>
          <a:gradFill rotWithShape="1">
            <a:gsLst>
              <a:gs pos="0">
                <a:srgbClr val="70C847">
                  <a:satMod val="103000"/>
                  <a:lumMod val="102000"/>
                  <a:tint val="94000"/>
                </a:srgbClr>
              </a:gs>
              <a:gs pos="50000">
                <a:srgbClr val="70C847">
                  <a:satMod val="110000"/>
                  <a:lumMod val="100000"/>
                  <a:shade val="100000"/>
                </a:srgbClr>
              </a:gs>
              <a:gs pos="100000">
                <a:srgbClr val="70C847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 w="6350" cap="flat" cmpd="sng" algn="ctr">
            <a:solidFill>
              <a:srgbClr val="70C84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OrdersAwaiting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HoldOnCreditCard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kumimoji="0" lang="da-DK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orderId</a:t>
            </a:r>
            <a:r>
              <a:rPr kumimoji="0" lang="da-DK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</a:t>
            </a:r>
            <a:endParaRPr kumimoji="0" lang="en-DK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E8FAA18-0CB5-D96C-B06E-BED522123935}"/>
              </a:ext>
            </a:extLst>
          </p:cNvPr>
          <p:cNvCxnSpPr>
            <a:cxnSpLocks/>
            <a:stCxn id="16" idx="0"/>
          </p:cNvCxnSpPr>
          <p:nvPr/>
        </p:nvCxnSpPr>
        <p:spPr>
          <a:xfrm flipV="1">
            <a:off x="4168794" y="2780522"/>
            <a:ext cx="1673807" cy="648478"/>
          </a:xfrm>
          <a:prstGeom prst="straightConnector1">
            <a:avLst/>
          </a:prstGeom>
          <a:noFill/>
          <a:ln w="19050" cap="flat" cmpd="sng" algn="ctr">
            <a:solidFill>
              <a:schemeClr val="accent6"/>
            </a:solidFill>
            <a:prstDash val="solid"/>
            <a:miter lim="800000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411263694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BBD09-EC69-C41B-AABD-063A9BE7A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10ECB8D-804D-34CA-BC77-93A7C4CA22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DK" dirty="0"/>
              <a:t>IT-OPS INTEGRATION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9B96C-980C-FB86-60EC-194CEEBC55A8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0" y="1873250"/>
            <a:ext cx="5157788" cy="3684588"/>
          </a:xfrm>
        </p:spPr>
        <p:txBody>
          <a:bodyPr/>
          <a:lstStyle/>
          <a:p>
            <a:endParaRPr lang="en-DK" dirty="0"/>
          </a:p>
          <a:p>
            <a:endParaRPr lang="en-DK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91A92EE5-19B2-EB5B-E06F-CC98DEDCE896}"/>
              </a:ext>
            </a:extLst>
          </p:cNvPr>
          <p:cNvSpPr txBox="1">
            <a:spLocks/>
          </p:cNvSpPr>
          <p:nvPr/>
        </p:nvSpPr>
        <p:spPr>
          <a:xfrm>
            <a:off x="874713" y="1873247"/>
            <a:ext cx="5157787" cy="36845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455976"/>
                </a:solidFill>
                <a:latin typeface="Bebas Neue" panose="020B0606020202050201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Source Sans Pro" panose="020F0502020204030204" pitchFamily="34" charset="0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Source Sans Pro" panose="020F0502020204030204" pitchFamily="34" charset="0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Source Sans Pro" panose="020F0502020204030204" pitchFamily="34" charset="0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Source Sans Pro" panose="020F0502020204030204" pitchFamily="34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DK"/>
          </a:p>
          <a:p>
            <a:endParaRPr lang="en-DK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7E9A6A-D8A6-8CA6-D622-9408678834C1}"/>
              </a:ext>
            </a:extLst>
          </p:cNvPr>
          <p:cNvSpPr/>
          <p:nvPr/>
        </p:nvSpPr>
        <p:spPr>
          <a:xfrm>
            <a:off x="3532909" y="1390012"/>
            <a:ext cx="3394364" cy="127006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DK" dirty="0">
                <a:solidFill>
                  <a:schemeClr val="tx1"/>
                </a:solidFill>
              </a:rPr>
              <a:t>IT Ops</a:t>
            </a:r>
          </a:p>
          <a:p>
            <a:pPr algn="ctr"/>
            <a:r>
              <a:rPr lang="en-DK" dirty="0">
                <a:solidFill>
                  <a:schemeClr val="tx1"/>
                </a:solidFill>
              </a:rPr>
              <a:t>Place hold on credit card</a:t>
            </a:r>
          </a:p>
        </p:txBody>
      </p:sp>
      <p:sp>
        <p:nvSpPr>
          <p:cNvPr id="17" name="Snip Same-side Corner of Rectangle 11">
            <a:extLst>
              <a:ext uri="{FF2B5EF4-FFF2-40B4-BE49-F238E27FC236}">
                <a16:creationId xmlns:a16="http://schemas.microsoft.com/office/drawing/2014/main" id="{9C28614D-6E1E-28B2-0847-17B9A0F34D33}"/>
              </a:ext>
            </a:extLst>
          </p:cNvPr>
          <p:cNvSpPr/>
          <p:nvPr/>
        </p:nvSpPr>
        <p:spPr>
          <a:xfrm>
            <a:off x="3549294" y="5452430"/>
            <a:ext cx="2382981" cy="1112922"/>
          </a:xfrm>
          <a:prstGeom prst="snip2SameRect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K" dirty="0"/>
              <a:t>Payment</a:t>
            </a:r>
          </a:p>
        </p:txBody>
      </p:sp>
      <p:sp>
        <p:nvSpPr>
          <p:cNvPr id="20" name="Snip Same-side Corner of Rectangle 12">
            <a:extLst>
              <a:ext uri="{FF2B5EF4-FFF2-40B4-BE49-F238E27FC236}">
                <a16:creationId xmlns:a16="http://schemas.microsoft.com/office/drawing/2014/main" id="{0F619EAB-6AE5-68DC-2E03-AA81D58169E5}"/>
              </a:ext>
            </a:extLst>
          </p:cNvPr>
          <p:cNvSpPr/>
          <p:nvPr/>
        </p:nvSpPr>
        <p:spPr>
          <a:xfrm>
            <a:off x="6604223" y="5452428"/>
            <a:ext cx="2382981" cy="1112923"/>
          </a:xfrm>
          <a:prstGeom prst="snip2SameRect">
            <a:avLst/>
          </a:prstGeom>
          <a:solidFill>
            <a:srgbClr val="92D050"/>
          </a:solidFill>
          <a:ln>
            <a:solidFill>
              <a:srgbClr val="92D05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K" dirty="0"/>
              <a:t>Sales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0B13DE1-13CF-72FA-C01E-F341F773D858}"/>
              </a:ext>
            </a:extLst>
          </p:cNvPr>
          <p:cNvSpPr/>
          <p:nvPr/>
        </p:nvSpPr>
        <p:spPr>
          <a:xfrm>
            <a:off x="3549293" y="3997885"/>
            <a:ext cx="2382981" cy="5403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DK" sz="1600" dirty="0"/>
              <a:t>Payment Information And Status Provider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948A36E-45B1-3AF5-61ED-E7B519D02BCC}"/>
              </a:ext>
            </a:extLst>
          </p:cNvPr>
          <p:cNvSpPr/>
          <p:nvPr/>
        </p:nvSpPr>
        <p:spPr>
          <a:xfrm>
            <a:off x="6604223" y="3997885"/>
            <a:ext cx="2382981" cy="5403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DK" sz="1600" dirty="0"/>
              <a:t>Order Total Provider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C2FE2C6-6596-48D0-5B80-8FBDE2D87C81}"/>
              </a:ext>
            </a:extLst>
          </p:cNvPr>
          <p:cNvCxnSpPr>
            <a:cxnSpLocks/>
            <a:stCxn id="14" idx="2"/>
            <a:endCxn id="21" idx="0"/>
          </p:cNvCxnSpPr>
          <p:nvPr/>
        </p:nvCxnSpPr>
        <p:spPr>
          <a:xfrm flipH="1">
            <a:off x="4740784" y="2660074"/>
            <a:ext cx="489307" cy="1337811"/>
          </a:xfrm>
          <a:prstGeom prst="straightConnector1">
            <a:avLst/>
          </a:prstGeom>
          <a:ln w="50800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AB57181-3D5C-48BE-E132-04E50908FAC7}"/>
              </a:ext>
            </a:extLst>
          </p:cNvPr>
          <p:cNvCxnSpPr>
            <a:cxnSpLocks/>
            <a:endCxn id="22" idx="0"/>
          </p:cNvCxnSpPr>
          <p:nvPr/>
        </p:nvCxnSpPr>
        <p:spPr>
          <a:xfrm>
            <a:off x="6156741" y="2689202"/>
            <a:ext cx="1638973" cy="1308683"/>
          </a:xfrm>
          <a:prstGeom prst="straightConnector1">
            <a:avLst/>
          </a:prstGeom>
          <a:ln w="50800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EF36DE7-C82B-B631-36F1-F61E08A5C89E}"/>
              </a:ext>
            </a:extLst>
          </p:cNvPr>
          <p:cNvGrpSpPr/>
          <p:nvPr/>
        </p:nvGrpSpPr>
        <p:grpSpPr>
          <a:xfrm>
            <a:off x="4513605" y="4567341"/>
            <a:ext cx="304805" cy="888786"/>
            <a:chOff x="3385394" y="4582353"/>
            <a:chExt cx="304805" cy="888786"/>
          </a:xfrm>
        </p:grpSpPr>
        <p:sp>
          <p:nvSpPr>
            <p:cNvPr id="39" name="Triangle 23">
              <a:extLst>
                <a:ext uri="{FF2B5EF4-FFF2-40B4-BE49-F238E27FC236}">
                  <a16:creationId xmlns:a16="http://schemas.microsoft.com/office/drawing/2014/main" id="{C111311E-8BDA-990A-CDC3-2B51E29DABC2}"/>
                </a:ext>
              </a:extLst>
            </p:cNvPr>
            <p:cNvSpPr/>
            <p:nvPr/>
          </p:nvSpPr>
          <p:spPr>
            <a:xfrm>
              <a:off x="3385394" y="4582353"/>
              <a:ext cx="304805" cy="309175"/>
            </a:xfrm>
            <a:prstGeom prst="triangle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4C17916C-0A56-1F32-9FE5-607146810731}"/>
                </a:ext>
              </a:extLst>
            </p:cNvPr>
            <p:cNvCxnSpPr>
              <a:stCxn id="39" idx="3"/>
            </p:cNvCxnSpPr>
            <p:nvPr/>
          </p:nvCxnSpPr>
          <p:spPr>
            <a:xfrm>
              <a:off x="3537797" y="4891528"/>
              <a:ext cx="2" cy="579611"/>
            </a:xfrm>
            <a:prstGeom prst="line">
              <a:avLst/>
            </a:prstGeom>
            <a:ln w="4445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D677CC3-B89C-772E-7D41-E3908A93C068}"/>
              </a:ext>
            </a:extLst>
          </p:cNvPr>
          <p:cNvGrpSpPr/>
          <p:nvPr/>
        </p:nvGrpSpPr>
        <p:grpSpPr>
          <a:xfrm>
            <a:off x="7643310" y="4610401"/>
            <a:ext cx="304805" cy="842027"/>
            <a:chOff x="3380504" y="4579201"/>
            <a:chExt cx="304805" cy="888786"/>
          </a:xfrm>
        </p:grpSpPr>
        <p:sp>
          <p:nvSpPr>
            <p:cNvPr id="42" name="Triangle 26">
              <a:extLst>
                <a:ext uri="{FF2B5EF4-FFF2-40B4-BE49-F238E27FC236}">
                  <a16:creationId xmlns:a16="http://schemas.microsoft.com/office/drawing/2014/main" id="{5D6E3D62-8936-1766-8192-08B17B7F4CFD}"/>
                </a:ext>
              </a:extLst>
            </p:cNvPr>
            <p:cNvSpPr/>
            <p:nvPr/>
          </p:nvSpPr>
          <p:spPr>
            <a:xfrm>
              <a:off x="3380504" y="4579201"/>
              <a:ext cx="304805" cy="309175"/>
            </a:xfrm>
            <a:prstGeom prst="triangle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CC6207B4-3B87-267B-8753-B22546AFD9ED}"/>
                </a:ext>
              </a:extLst>
            </p:cNvPr>
            <p:cNvCxnSpPr>
              <a:stCxn id="42" idx="3"/>
            </p:cNvCxnSpPr>
            <p:nvPr/>
          </p:nvCxnSpPr>
          <p:spPr>
            <a:xfrm>
              <a:off x="3532907" y="4888376"/>
              <a:ext cx="2" cy="579611"/>
            </a:xfrm>
            <a:prstGeom prst="line">
              <a:avLst/>
            </a:prstGeom>
            <a:ln w="444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Hexagon 44">
            <a:extLst>
              <a:ext uri="{FF2B5EF4-FFF2-40B4-BE49-F238E27FC236}">
                <a16:creationId xmlns:a16="http://schemas.microsoft.com/office/drawing/2014/main" id="{AD245024-01E6-B1B9-6379-0341D0AE5616}"/>
              </a:ext>
            </a:extLst>
          </p:cNvPr>
          <p:cNvSpPr/>
          <p:nvPr/>
        </p:nvSpPr>
        <p:spPr>
          <a:xfrm>
            <a:off x="8825345" y="826624"/>
            <a:ext cx="2812473" cy="2396837"/>
          </a:xfrm>
          <a:prstGeom prst="hexagon">
            <a:avLst/>
          </a:prstGeom>
          <a:solidFill>
            <a:srgbClr val="F6CC9A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DK" dirty="0"/>
              <a:t>Payment Gateway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01A2472-3D06-30BF-3EAC-BEDF2A11BE63}"/>
              </a:ext>
            </a:extLst>
          </p:cNvPr>
          <p:cNvCxnSpPr>
            <a:cxnSpLocks/>
            <a:stCxn id="14" idx="3"/>
            <a:endCxn id="45" idx="3"/>
          </p:cNvCxnSpPr>
          <p:nvPr/>
        </p:nvCxnSpPr>
        <p:spPr>
          <a:xfrm>
            <a:off x="6927273" y="2025043"/>
            <a:ext cx="1898072" cy="0"/>
          </a:xfrm>
          <a:prstGeom prst="straightConnector1">
            <a:avLst/>
          </a:prstGeom>
          <a:ln w="50800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Group 47">
            <a:extLst>
              <a:ext uri="{FF2B5EF4-FFF2-40B4-BE49-F238E27FC236}">
                <a16:creationId xmlns:a16="http://schemas.microsoft.com/office/drawing/2014/main" id="{3713C149-0504-23B8-35BB-9572F30A0032}"/>
              </a:ext>
            </a:extLst>
          </p:cNvPr>
          <p:cNvGrpSpPr/>
          <p:nvPr/>
        </p:nvGrpSpPr>
        <p:grpSpPr>
          <a:xfrm>
            <a:off x="742487" y="1574770"/>
            <a:ext cx="2790422" cy="1541226"/>
            <a:chOff x="742487" y="1574770"/>
            <a:chExt cx="2790422" cy="1541226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8531F18E-A1CA-F350-E947-8C8857D5B90D}"/>
                </a:ext>
              </a:extLst>
            </p:cNvPr>
            <p:cNvGrpSpPr/>
            <p:nvPr/>
          </p:nvGrpSpPr>
          <p:grpSpPr>
            <a:xfrm>
              <a:off x="742487" y="1574770"/>
              <a:ext cx="2790422" cy="1541226"/>
              <a:chOff x="816973" y="1340207"/>
              <a:chExt cx="2790422" cy="1541226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29FFF54A-29F9-ED58-292F-9D1E0E0FEE1D}"/>
                  </a:ext>
                </a:extLst>
              </p:cNvPr>
              <p:cNvGrpSpPr/>
              <p:nvPr/>
            </p:nvGrpSpPr>
            <p:grpSpPr>
              <a:xfrm>
                <a:off x="816973" y="1340207"/>
                <a:ext cx="1479893" cy="1541226"/>
                <a:chOff x="816973" y="1340207"/>
                <a:chExt cx="1479893" cy="1541226"/>
              </a:xfrm>
            </p:grpSpPr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BC00ED57-1FBD-B810-F28F-92646CE5FA0D}"/>
                    </a:ext>
                  </a:extLst>
                </p:cNvPr>
                <p:cNvSpPr/>
                <p:nvPr/>
              </p:nvSpPr>
              <p:spPr>
                <a:xfrm>
                  <a:off x="1013131" y="1340207"/>
                  <a:ext cx="928255" cy="900545"/>
                </a:xfrm>
                <a:prstGeom prst="ellipse">
                  <a:avLst/>
                </a:prstGeom>
                <a:solidFill>
                  <a:srgbClr val="FFD9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4"/>
                </a:fillRef>
                <a:effectRef idx="1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DK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B8D85F37-23F0-706E-D45A-330BE16FDDD8}"/>
                    </a:ext>
                  </a:extLst>
                </p:cNvPr>
                <p:cNvSpPr txBox="1"/>
                <p:nvPr/>
              </p:nvSpPr>
              <p:spPr>
                <a:xfrm>
                  <a:off x="816973" y="2235102"/>
                  <a:ext cx="1479893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DK" dirty="0">
                      <a:solidFill>
                        <a:schemeClr val="bg1"/>
                      </a:solidFill>
                    </a:rPr>
                    <a:t>OrderPlaced</a:t>
                  </a:r>
                </a:p>
                <a:p>
                  <a:r>
                    <a:rPr lang="en-DK" dirty="0">
                      <a:solidFill>
                        <a:schemeClr val="bg1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  OrderId</a:t>
                  </a:r>
                </a:p>
              </p:txBody>
            </p:sp>
          </p:grp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B699187F-4372-1457-7FE7-4A733E988089}"/>
                  </a:ext>
                </a:extLst>
              </p:cNvPr>
              <p:cNvCxnSpPr>
                <a:cxnSpLocks/>
                <a:stCxn id="53" idx="6"/>
                <a:endCxn id="14" idx="1"/>
              </p:cNvCxnSpPr>
              <p:nvPr/>
            </p:nvCxnSpPr>
            <p:spPr>
              <a:xfrm>
                <a:off x="1941386" y="1790480"/>
                <a:ext cx="1666009" cy="0"/>
              </a:xfrm>
              <a:prstGeom prst="straightConnector1">
                <a:avLst/>
              </a:prstGeom>
              <a:ln w="50800">
                <a:solidFill>
                  <a:schemeClr val="bg1"/>
                </a:solidFill>
                <a:prstDash val="dash"/>
                <a:headEnd type="none" w="med" len="med"/>
                <a:tailEnd type="arrow" w="med" len="med"/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</p:cxnSp>
        </p:grpSp>
        <p:pic>
          <p:nvPicPr>
            <p:cNvPr id="50" name="Graphic 49" descr="Envelope with solid fill">
              <a:extLst>
                <a:ext uri="{FF2B5EF4-FFF2-40B4-BE49-F238E27FC236}">
                  <a16:creationId xmlns:a16="http://schemas.microsoft.com/office/drawing/2014/main" id="{BD8F3678-9F3C-40F0-B2FB-FA96EDA0D62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111316" y="1729720"/>
              <a:ext cx="590643" cy="590643"/>
            </a:xfrm>
            <a:prstGeom prst="rect">
              <a:avLst/>
            </a:prstGeom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260B3AD1-A642-5234-C166-9AC98933C479}"/>
              </a:ext>
            </a:extLst>
          </p:cNvPr>
          <p:cNvGrpSpPr/>
          <p:nvPr/>
        </p:nvGrpSpPr>
        <p:grpSpPr>
          <a:xfrm>
            <a:off x="325575" y="3163942"/>
            <a:ext cx="6863520" cy="844338"/>
            <a:chOff x="325575" y="3163942"/>
            <a:chExt cx="6863520" cy="844338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9979E81D-CBB3-E39A-42E5-7F0171B81284}"/>
                </a:ext>
              </a:extLst>
            </p:cNvPr>
            <p:cNvSpPr txBox="1"/>
            <p:nvPr/>
          </p:nvSpPr>
          <p:spPr>
            <a:xfrm>
              <a:off x="574743" y="3237223"/>
              <a:ext cx="250581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DK" dirty="0">
                  <a:solidFill>
                    <a:schemeClr val="bg1"/>
                  </a:solidFill>
                </a:rPr>
                <a:t>Request/Response</a:t>
              </a:r>
            </a:p>
            <a:p>
              <a:pPr algn="ctr"/>
              <a:r>
                <a:rPr lang="en-DK" dirty="0">
                  <a:solidFill>
                    <a:schemeClr val="bg1"/>
                  </a:solidFill>
                </a:rPr>
                <a:t>(preferably in memory)</a:t>
              </a:r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A0A112B8-E781-2CAD-66FA-ED57A52D914D}"/>
                </a:ext>
              </a:extLst>
            </p:cNvPr>
            <p:cNvGrpSpPr/>
            <p:nvPr/>
          </p:nvGrpSpPr>
          <p:grpSpPr>
            <a:xfrm>
              <a:off x="325575" y="3163942"/>
              <a:ext cx="6863520" cy="844338"/>
              <a:chOff x="325575" y="3163942"/>
              <a:chExt cx="6863520" cy="844338"/>
            </a:xfrm>
          </p:grpSpPr>
          <p:sp>
            <p:nvSpPr>
              <p:cNvPr id="60" name="Rounded Rectangle 31">
                <a:extLst>
                  <a:ext uri="{FF2B5EF4-FFF2-40B4-BE49-F238E27FC236}">
                    <a16:creationId xmlns:a16="http://schemas.microsoft.com/office/drawing/2014/main" id="{9F24FF6F-2F0B-04D0-61B9-BDFB33E0EC44}"/>
                  </a:ext>
                </a:extLst>
              </p:cNvPr>
              <p:cNvSpPr/>
              <p:nvPr/>
            </p:nvSpPr>
            <p:spPr>
              <a:xfrm>
                <a:off x="325575" y="3163942"/>
                <a:ext cx="2879223" cy="844338"/>
              </a:xfrm>
              <a:prstGeom prst="roundRect">
                <a:avLst/>
              </a:prstGeom>
              <a:noFill/>
              <a:ln w="22225">
                <a:solidFill>
                  <a:schemeClr val="bg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K">
                  <a:solidFill>
                    <a:schemeClr val="bg1"/>
                  </a:solidFill>
                </a:endParaRPr>
              </a:p>
            </p:txBody>
          </p: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B41A8A97-C26D-63B8-D5AB-A745B3555C8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05786" y="3311448"/>
                <a:ext cx="318654" cy="323332"/>
              </a:xfrm>
              <a:prstGeom prst="ellipse">
                <a:avLst/>
              </a:prstGeom>
              <a:noFill/>
              <a:ln w="22225">
                <a:solidFill>
                  <a:srgbClr val="F6CC9A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K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A8F186C9-448E-1F77-65E5-7444B2A459D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870441" y="3311448"/>
                <a:ext cx="318654" cy="323332"/>
              </a:xfrm>
              <a:prstGeom prst="ellipse">
                <a:avLst/>
              </a:prstGeom>
              <a:noFill/>
              <a:ln w="22225">
                <a:solidFill>
                  <a:srgbClr val="F6CC9A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K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63" name="Elbow Connector 42">
                <a:extLst>
                  <a:ext uri="{FF2B5EF4-FFF2-40B4-BE49-F238E27FC236}">
                    <a16:creationId xmlns:a16="http://schemas.microsoft.com/office/drawing/2014/main" id="{D62DB5D6-94DE-B6D7-57E9-368BD794BF5B}"/>
                  </a:ext>
                </a:extLst>
              </p:cNvPr>
              <p:cNvCxnSpPr>
                <a:cxnSpLocks/>
                <a:stCxn id="60" idx="3"/>
                <a:endCxn id="61" idx="0"/>
              </p:cNvCxnSpPr>
              <p:nvPr/>
            </p:nvCxnSpPr>
            <p:spPr>
              <a:xfrm flipV="1">
                <a:off x="3204798" y="3311448"/>
                <a:ext cx="1760315" cy="274663"/>
              </a:xfrm>
              <a:prstGeom prst="bentConnector4">
                <a:avLst>
                  <a:gd name="adj1" fmla="val 45474"/>
                  <a:gd name="adj2" fmla="val 236934"/>
                </a:avLst>
              </a:prstGeom>
              <a:ln w="22225">
                <a:solidFill>
                  <a:schemeClr val="bg1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Elbow Connector 46">
                <a:extLst>
                  <a:ext uri="{FF2B5EF4-FFF2-40B4-BE49-F238E27FC236}">
                    <a16:creationId xmlns:a16="http://schemas.microsoft.com/office/drawing/2014/main" id="{9B8C1140-8A7D-D2C5-1454-9F85E197F6BA}"/>
                  </a:ext>
                </a:extLst>
              </p:cNvPr>
              <p:cNvCxnSpPr>
                <a:cxnSpLocks/>
                <a:stCxn id="60" idx="3"/>
                <a:endCxn id="62" idx="0"/>
              </p:cNvCxnSpPr>
              <p:nvPr/>
            </p:nvCxnSpPr>
            <p:spPr>
              <a:xfrm flipV="1">
                <a:off x="3204798" y="3311448"/>
                <a:ext cx="3824970" cy="274663"/>
              </a:xfrm>
              <a:prstGeom prst="bentConnector4">
                <a:avLst>
                  <a:gd name="adj1" fmla="val 21396"/>
                  <a:gd name="adj2" fmla="val 236934"/>
                </a:avLst>
              </a:prstGeom>
              <a:ln w="22225">
                <a:solidFill>
                  <a:schemeClr val="bg1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4023182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94382-F551-1A4C-B676-0503A37B5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Exercise 3</a:t>
            </a:r>
          </a:p>
        </p:txBody>
      </p:sp>
    </p:spTree>
    <p:extLst>
      <p:ext uri="{BB962C8B-B14F-4D97-AF65-F5344CB8AC3E}">
        <p14:creationId xmlns:p14="http://schemas.microsoft.com/office/powerpoint/2010/main" val="65444953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0FD09EA-72E7-3B9F-8302-6F7B2AE75B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95411" y="163960"/>
            <a:ext cx="10066239" cy="1071453"/>
          </a:xfrm>
        </p:spPr>
        <p:txBody>
          <a:bodyPr>
            <a:normAutofit fontScale="70000" lnSpcReduction="20000"/>
          </a:bodyPr>
          <a:lstStyle/>
          <a:p>
            <a:r>
              <a:rPr lang="en-DK" dirty="0"/>
              <a:t>Execise 2 – </a:t>
            </a:r>
          </a:p>
          <a:p>
            <a:r>
              <a:rPr lang="en-DK" dirty="0"/>
              <a:t>Event modeling flow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4B2092-69F9-1DAF-3460-B5CB0C675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4189" y="287079"/>
            <a:ext cx="7772400" cy="6283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33284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239CD-60CF-F13C-8C30-ED1B5A6D5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31B58FF-F02D-F4ED-CE8F-03CEEDAC26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Exercise 3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611D661-A488-8A07-1A86-D51E7DEB29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Use case: Book room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7B5023CB-BB06-AD54-DB63-060413BB59D4}"/>
              </a:ext>
            </a:extLst>
          </p:cNvPr>
          <p:cNvSpPr txBox="1">
            <a:spLocks/>
          </p:cNvSpPr>
          <p:nvPr/>
        </p:nvSpPr>
        <p:spPr>
          <a:xfrm>
            <a:off x="874713" y="1873247"/>
            <a:ext cx="5157787" cy="333139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Audi Type Screen Normal" panose="020B05030402000000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Audi Type Screen Normal" panose="020B05030402000000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Audi Type Screen Normal" panose="020B05030402000000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Audi Type Screen Normal" panose="020B05030402000000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Audi Type Screen Normal" panose="020B05030402000000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+mj-lt"/>
              <a:buAutoNum type="arabicPeriod"/>
            </a:pPr>
            <a:r>
              <a:rPr lang="en-US" sz="1200" b="1" dirty="0">
                <a:solidFill>
                  <a:schemeClr val="accent5"/>
                </a:solidFill>
              </a:rPr>
              <a:t>Add guest information</a:t>
            </a:r>
          </a:p>
          <a:p>
            <a:pPr>
              <a:buFont typeface="+mj-lt"/>
              <a:buAutoNum type="arabicPeriod"/>
            </a:pPr>
            <a:r>
              <a:rPr lang="en-US" sz="1200" b="1" dirty="0">
                <a:solidFill>
                  <a:schemeClr val="accent5"/>
                </a:solidFill>
              </a:rPr>
              <a:t>Add Credit card information </a:t>
            </a:r>
            <a:r>
              <a:rPr lang="en-US" sz="1200" dirty="0">
                <a:solidFill>
                  <a:schemeClr val="accent5"/>
                </a:solidFill>
              </a:rPr>
              <a:t>to perform a hold on the card to confirm the reservation</a:t>
            </a:r>
          </a:p>
          <a:p>
            <a:pPr>
              <a:buFont typeface="+mj-lt"/>
              <a:buAutoNum type="arabicPeriod"/>
            </a:pPr>
            <a:r>
              <a:rPr lang="en-US" sz="1200" b="1" dirty="0">
                <a:solidFill>
                  <a:schemeClr val="accent5"/>
                </a:solidFill>
              </a:rPr>
              <a:t>Reservation Summary</a:t>
            </a:r>
            <a:endParaRPr lang="en-US" sz="1100" b="1" dirty="0">
              <a:solidFill>
                <a:schemeClr val="accent5"/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1200" b="1" dirty="0">
                <a:solidFill>
                  <a:schemeClr val="accent5"/>
                </a:solidFill>
              </a:rPr>
              <a:t>Complete Reservation</a:t>
            </a:r>
            <a:endParaRPr lang="en-US" sz="1100" b="1" dirty="0">
              <a:solidFill>
                <a:schemeClr val="accent5"/>
              </a:solidFill>
            </a:endParaRPr>
          </a:p>
          <a:p>
            <a:pPr marL="400050" lvl="1" indent="0">
              <a:buFont typeface="Arial" panose="020B0604020202020204" pitchFamily="34" charset="0"/>
              <a:buNone/>
            </a:pPr>
            <a:endParaRPr lang="en-US" sz="1100" dirty="0">
              <a:solidFill>
                <a:schemeClr val="accent5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b="1" i="1" u="sng" dirty="0">
                <a:solidFill>
                  <a:schemeClr val="accent5"/>
                </a:solidFill>
              </a:rPr>
              <a:t>What about:</a:t>
            </a:r>
            <a:r>
              <a:rPr lang="en-US" sz="1200" i="1" dirty="0">
                <a:solidFill>
                  <a:schemeClr val="accent5"/>
                </a:solidFill>
              </a:rPr>
              <a:t>		</a:t>
            </a:r>
          </a:p>
          <a:p>
            <a:r>
              <a:rPr lang="en-US" sz="1200" i="1" dirty="0">
                <a:solidFill>
                  <a:schemeClr val="accent5"/>
                </a:solidFill>
              </a:rPr>
              <a:t>Transactional consistency in relation to the reservation</a:t>
            </a:r>
            <a:endParaRPr lang="en-US" sz="1200" b="1" i="1" dirty="0">
              <a:solidFill>
                <a:schemeClr val="accent5"/>
              </a:solidFill>
            </a:endParaRPr>
          </a:p>
          <a:p>
            <a:r>
              <a:rPr lang="en-US" sz="1200" b="1" i="1" dirty="0">
                <a:solidFill>
                  <a:schemeClr val="accent5"/>
                </a:solidFill>
              </a:rPr>
              <a:t>Overbooking</a:t>
            </a:r>
            <a:r>
              <a:rPr lang="en-US" sz="1200" i="1" dirty="0">
                <a:solidFill>
                  <a:schemeClr val="accent5"/>
                </a:solidFill>
              </a:rPr>
              <a:t> </a:t>
            </a:r>
            <a:r>
              <a:rPr lang="en-US" sz="1200" b="1" i="1" dirty="0">
                <a:solidFill>
                  <a:schemeClr val="accent5"/>
                </a:solidFill>
              </a:rPr>
              <a:t>strategies</a:t>
            </a:r>
            <a:r>
              <a:rPr lang="en-US" sz="1200" i="1" dirty="0">
                <a:solidFill>
                  <a:schemeClr val="accent5"/>
                </a:solidFill>
              </a:rPr>
              <a:t> – what’s the overbooking threshold?</a:t>
            </a:r>
            <a:endParaRPr lang="en-DK" dirty="0">
              <a:solidFill>
                <a:schemeClr val="accent5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0F5F74-F7D0-4F10-C10B-081E512630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3382" y="113514"/>
            <a:ext cx="2244895" cy="170127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B9693F-385C-AB1A-EDBB-EE225640E3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6877" y="1661255"/>
            <a:ext cx="2736588" cy="285119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Down Arrow 9">
            <a:extLst>
              <a:ext uri="{FF2B5EF4-FFF2-40B4-BE49-F238E27FC236}">
                <a16:creationId xmlns:a16="http://schemas.microsoft.com/office/drawing/2014/main" id="{F35C8E1F-16C2-DD7F-BE62-1C1BC01695E9}"/>
              </a:ext>
            </a:extLst>
          </p:cNvPr>
          <p:cNvSpPr/>
          <p:nvPr/>
        </p:nvSpPr>
        <p:spPr>
          <a:xfrm>
            <a:off x="9886434" y="4584559"/>
            <a:ext cx="277474" cy="293382"/>
          </a:xfrm>
          <a:prstGeom prst="down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1B70BD0-EABF-AA0B-5A68-B8DB44B6FA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2454" y="4950050"/>
            <a:ext cx="2271159" cy="172117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Down Arrow 11">
            <a:extLst>
              <a:ext uri="{FF2B5EF4-FFF2-40B4-BE49-F238E27FC236}">
                <a16:creationId xmlns:a16="http://schemas.microsoft.com/office/drawing/2014/main" id="{19262AE5-EB7F-235A-A148-54AA36D9E491}"/>
              </a:ext>
            </a:extLst>
          </p:cNvPr>
          <p:cNvSpPr/>
          <p:nvPr/>
        </p:nvSpPr>
        <p:spPr>
          <a:xfrm rot="18112515">
            <a:off x="8146251" y="1449232"/>
            <a:ext cx="277474" cy="606630"/>
          </a:xfrm>
          <a:prstGeom prst="down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FF16E2-0486-183D-5B22-7CB3BCBF49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1955" y="3396225"/>
            <a:ext cx="2037512" cy="3197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04165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7F705-775B-B3A9-C5D6-7E6C247F1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942140DB-4A2F-9C46-9108-AD824EDA19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DK"/>
              <a:t>Exercise 3 – Design 1/2</a:t>
            </a:r>
            <a:endParaRPr lang="da-D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711684-B380-BBF3-0265-1EEE847DF9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52" y="1672900"/>
            <a:ext cx="3087415" cy="233976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D1338E4-BCAC-9FC9-FB5B-C7C7F0AB425B}"/>
              </a:ext>
            </a:extLst>
          </p:cNvPr>
          <p:cNvSpPr/>
          <p:nvPr/>
        </p:nvSpPr>
        <p:spPr>
          <a:xfrm>
            <a:off x="2150415" y="2971478"/>
            <a:ext cx="750439" cy="247977"/>
          </a:xfrm>
          <a:prstGeom prst="round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51CFEC-D462-EBD2-5E37-B4097B5CB7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1956" y="1163065"/>
            <a:ext cx="4664742" cy="486009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82BA9343-AD6F-9074-AA6E-56135749F6D5}"/>
              </a:ext>
            </a:extLst>
          </p:cNvPr>
          <p:cNvGrpSpPr/>
          <p:nvPr/>
        </p:nvGrpSpPr>
        <p:grpSpPr>
          <a:xfrm>
            <a:off x="1828800" y="2596403"/>
            <a:ext cx="3383156" cy="2849693"/>
            <a:chOff x="1828800" y="2596403"/>
            <a:chExt cx="3383156" cy="2849693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B4CE2E8-C910-4AD7-4E55-7E056E844D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42538" y="4217583"/>
              <a:ext cx="365760" cy="320857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4A2A2C9A-1EF9-BEC7-7A6C-E9A8B361DE46}"/>
                </a:ext>
              </a:extLst>
            </p:cNvPr>
            <p:cNvCxnSpPr>
              <a:cxnSpLocks/>
              <a:endCxn id="9" idx="1"/>
            </p:cNvCxnSpPr>
            <p:nvPr/>
          </p:nvCxnSpPr>
          <p:spPr>
            <a:xfrm>
              <a:off x="2765164" y="3219455"/>
              <a:ext cx="677374" cy="1158557"/>
            </a:xfrm>
            <a:prstGeom prst="straightConnector1">
              <a:avLst/>
            </a:prstGeom>
            <a:ln w="22225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DA8A83A-AD4F-A7BD-0BF6-E210EC6B7A10}"/>
                </a:ext>
              </a:extLst>
            </p:cNvPr>
            <p:cNvSpPr txBox="1"/>
            <p:nvPr/>
          </p:nvSpPr>
          <p:spPr>
            <a:xfrm>
              <a:off x="1828800" y="4599710"/>
              <a:ext cx="3298146" cy="846386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DK" sz="700" b="1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Store Cookie in Browser / Publish ReserveRoomType (event)</a:t>
              </a:r>
            </a:p>
            <a:p>
              <a:r>
                <a:rPr lang="en-DK" sz="70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{ </a:t>
              </a:r>
            </a:p>
            <a:p>
              <a:r>
                <a:rPr lang="en-DK" sz="70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</a:t>
              </a:r>
              <a:r>
                <a:rPr lang="en-DK" sz="700" b="1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ReservationId</a:t>
              </a:r>
              <a:r>
                <a:rPr lang="en-DK" sz="70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: in-browser-generated-reversation-id,</a:t>
              </a:r>
            </a:p>
            <a:p>
              <a:r>
                <a:rPr lang="en-DK" sz="70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RoomTypeId: reserveRoomTypeWithId,</a:t>
              </a:r>
            </a:p>
            <a:p>
              <a:r>
                <a:rPr lang="en-DK" sz="70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Date fromDate,</a:t>
              </a:r>
            </a:p>
            <a:p>
              <a:r>
                <a:rPr lang="en-DK" sz="70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Date toDate </a:t>
              </a:r>
            </a:p>
            <a:p>
              <a:r>
                <a:rPr lang="en-DK" sz="70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}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062F319F-6528-6432-4112-747FF44A4103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 flipV="1">
              <a:off x="3808298" y="2596403"/>
              <a:ext cx="1403658" cy="1781609"/>
            </a:xfrm>
            <a:prstGeom prst="straightConnector1">
              <a:avLst/>
            </a:prstGeom>
            <a:ln w="22225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509D910-596F-047C-0DFF-39F6C02333EB}"/>
              </a:ext>
            </a:extLst>
          </p:cNvPr>
          <p:cNvSpPr/>
          <p:nvPr/>
        </p:nvSpPr>
        <p:spPr>
          <a:xfrm>
            <a:off x="8684690" y="2519283"/>
            <a:ext cx="932275" cy="204998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FA02B2E-AEE8-E678-F730-73D9F2A254CC}"/>
              </a:ext>
            </a:extLst>
          </p:cNvPr>
          <p:cNvSpPr/>
          <p:nvPr/>
        </p:nvSpPr>
        <p:spPr>
          <a:xfrm>
            <a:off x="5463282" y="2519283"/>
            <a:ext cx="2519579" cy="247977"/>
          </a:xfrm>
          <a:prstGeom prst="round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A44B5CA-949C-BCE6-5675-3074AEE62A56}"/>
              </a:ext>
            </a:extLst>
          </p:cNvPr>
          <p:cNvSpPr/>
          <p:nvPr/>
        </p:nvSpPr>
        <p:spPr>
          <a:xfrm>
            <a:off x="5463282" y="2093659"/>
            <a:ext cx="1511383" cy="397303"/>
          </a:xfrm>
          <a:prstGeom prst="round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F381061-7DA7-9B10-3544-2D5F91A71D7F}"/>
              </a:ext>
            </a:extLst>
          </p:cNvPr>
          <p:cNvGrpSpPr/>
          <p:nvPr/>
        </p:nvGrpSpPr>
        <p:grpSpPr>
          <a:xfrm>
            <a:off x="5433873" y="3070595"/>
            <a:ext cx="4176786" cy="1980677"/>
            <a:chOff x="5433873" y="3070595"/>
            <a:chExt cx="4176786" cy="1980677"/>
          </a:xfrm>
        </p:grpSpPr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FFE560FF-92B8-F892-591D-D2579C3AEE8B}"/>
                </a:ext>
              </a:extLst>
            </p:cNvPr>
            <p:cNvSpPr/>
            <p:nvPr/>
          </p:nvSpPr>
          <p:spPr>
            <a:xfrm>
              <a:off x="5442008" y="3070595"/>
              <a:ext cx="4168651" cy="397303"/>
            </a:xfrm>
            <a:prstGeom prst="roundRect">
              <a:avLst/>
            </a:prstGeom>
            <a:noFill/>
            <a:ln w="28575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B41AA574-1B7C-82E5-38F3-CE4A661536A4}"/>
                </a:ext>
              </a:extLst>
            </p:cNvPr>
            <p:cNvSpPr/>
            <p:nvPr/>
          </p:nvSpPr>
          <p:spPr>
            <a:xfrm>
              <a:off x="5433873" y="3468824"/>
              <a:ext cx="2175514" cy="1582448"/>
            </a:xfrm>
            <a:prstGeom prst="roundRect">
              <a:avLst/>
            </a:prstGeom>
            <a:noFill/>
            <a:ln w="28575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</p:grp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D31CCF2-3E75-07BF-9A64-9BF4B0BDEB51}"/>
              </a:ext>
            </a:extLst>
          </p:cNvPr>
          <p:cNvSpPr/>
          <p:nvPr/>
        </p:nvSpPr>
        <p:spPr>
          <a:xfrm>
            <a:off x="7705412" y="3637343"/>
            <a:ext cx="2018759" cy="1861670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A6234C81-3D76-D7B4-D1FA-1CC0574A64C5}"/>
              </a:ext>
            </a:extLst>
          </p:cNvPr>
          <p:cNvSpPr/>
          <p:nvPr/>
        </p:nvSpPr>
        <p:spPr>
          <a:xfrm>
            <a:off x="9610659" y="6243058"/>
            <a:ext cx="1467170" cy="489496"/>
          </a:xfrm>
          <a:prstGeom prst="roundRect">
            <a:avLst/>
          </a:prstGeom>
          <a:solidFill>
            <a:srgbClr val="C00000"/>
          </a:solidFill>
          <a:ln w="28575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K">
                <a:solidFill>
                  <a:schemeClr val="bg2"/>
                </a:solidFill>
              </a:rPr>
              <a:t>Red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B8EED6D-D307-9327-9683-AB2EC136B4EC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9503454" y="5826935"/>
            <a:ext cx="840790" cy="416123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EBCE642-51A4-CDA7-7FC4-097812ABF46E}"/>
              </a:ext>
            </a:extLst>
          </p:cNvPr>
          <p:cNvGrpSpPr/>
          <p:nvPr/>
        </p:nvGrpSpPr>
        <p:grpSpPr>
          <a:xfrm>
            <a:off x="67018" y="3100040"/>
            <a:ext cx="2773814" cy="2876799"/>
            <a:chOff x="74683" y="3095467"/>
            <a:chExt cx="2773814" cy="2876799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9FF24154-3128-21F6-1EB3-3866592BC346}"/>
                </a:ext>
              </a:extLst>
            </p:cNvPr>
            <p:cNvSpPr/>
            <p:nvPr/>
          </p:nvSpPr>
          <p:spPr>
            <a:xfrm>
              <a:off x="74683" y="4711025"/>
              <a:ext cx="1451085" cy="1261241"/>
            </a:xfrm>
            <a:prstGeom prst="roundRect">
              <a:avLst/>
            </a:prstGeom>
            <a:solidFill>
              <a:srgbClr val="FFFF00"/>
            </a:solidFill>
            <a:ln w="28575">
              <a:solidFill>
                <a:srgbClr val="FFFF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DK">
                  <a:solidFill>
                    <a:schemeClr val="tx1"/>
                  </a:solidFill>
                </a:rPr>
                <a:t>Yellow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E0E5E511-4265-2EB3-CA1E-2D08E416F465}"/>
                </a:ext>
              </a:extLst>
            </p:cNvPr>
            <p:cNvCxnSpPr>
              <a:cxnSpLocks/>
              <a:stCxn id="6" idx="1"/>
              <a:endCxn id="23" idx="0"/>
            </p:cNvCxnSpPr>
            <p:nvPr/>
          </p:nvCxnSpPr>
          <p:spPr>
            <a:xfrm flipH="1">
              <a:off x="800226" y="3095467"/>
              <a:ext cx="1350189" cy="1615558"/>
            </a:xfrm>
            <a:prstGeom prst="straightConnector1">
              <a:avLst/>
            </a:prstGeom>
            <a:ln w="22225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4C0FF57-52A1-ED28-1F74-DE54C18E1997}"/>
                </a:ext>
              </a:extLst>
            </p:cNvPr>
            <p:cNvSpPr txBox="1"/>
            <p:nvPr/>
          </p:nvSpPr>
          <p:spPr>
            <a:xfrm>
              <a:off x="102143" y="4096410"/>
              <a:ext cx="2746354" cy="415498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DK" sz="700" b="1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registerReservationInProgress(reservationId, </a:t>
              </a:r>
            </a:p>
            <a:p>
              <a:r>
                <a:rPr lang="en-DK" sz="700" b="1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                           roomTypeId, </a:t>
              </a:r>
            </a:p>
            <a:p>
              <a:r>
                <a:rPr lang="en-DK" sz="700" b="1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                           fromDate, toDate)</a:t>
              </a:r>
              <a:endParaRPr lang="en-DK" sz="70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C98D38B-0CD0-4AE5-83B8-3E617F2C08E7}"/>
              </a:ext>
            </a:extLst>
          </p:cNvPr>
          <p:cNvGrpSpPr/>
          <p:nvPr/>
        </p:nvGrpSpPr>
        <p:grpSpPr>
          <a:xfrm>
            <a:off x="4384071" y="5826935"/>
            <a:ext cx="4457091" cy="987511"/>
            <a:chOff x="4384071" y="5826935"/>
            <a:chExt cx="4457091" cy="987511"/>
          </a:xfrm>
        </p:grpSpPr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CB69FAD2-E96E-0795-A58C-DDD2459A1576}"/>
                </a:ext>
              </a:extLst>
            </p:cNvPr>
            <p:cNvSpPr/>
            <p:nvPr/>
          </p:nvSpPr>
          <p:spPr>
            <a:xfrm>
              <a:off x="7373992" y="6261887"/>
              <a:ext cx="1467170" cy="489496"/>
            </a:xfrm>
            <a:prstGeom prst="roundRect">
              <a:avLst/>
            </a:prstGeom>
            <a:solidFill>
              <a:srgbClr val="7030A0"/>
            </a:solidFill>
            <a:ln w="28575">
              <a:solidFill>
                <a:srgbClr val="7030A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DK">
                  <a:solidFill>
                    <a:schemeClr val="bg2"/>
                  </a:solidFill>
                </a:rPr>
                <a:t>Purple</a:t>
              </a: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2146C5FF-27D8-55AF-52CF-12E63C81508C}"/>
                </a:ext>
              </a:extLst>
            </p:cNvPr>
            <p:cNvCxnSpPr>
              <a:cxnSpLocks/>
              <a:endCxn id="27" idx="0"/>
            </p:cNvCxnSpPr>
            <p:nvPr/>
          </p:nvCxnSpPr>
          <p:spPr>
            <a:xfrm flipH="1">
              <a:off x="8107577" y="5826935"/>
              <a:ext cx="733585" cy="434952"/>
            </a:xfrm>
            <a:prstGeom prst="straightConnector1">
              <a:avLst/>
            </a:prstGeom>
            <a:ln w="22225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B53ECF23-5B4F-6B42-0EE5-046611D678A4}"/>
                </a:ext>
              </a:extLst>
            </p:cNvPr>
            <p:cNvGrpSpPr/>
            <p:nvPr/>
          </p:nvGrpSpPr>
          <p:grpSpPr>
            <a:xfrm>
              <a:off x="4384071" y="6161165"/>
              <a:ext cx="2989921" cy="653281"/>
              <a:chOff x="4184407" y="6098102"/>
              <a:chExt cx="2989921" cy="653281"/>
            </a:xfrm>
          </p:grpSpPr>
          <p:sp>
            <p:nvSpPr>
              <p:cNvPr id="30" name="Rectangular Callout 29">
                <a:extLst>
                  <a:ext uri="{FF2B5EF4-FFF2-40B4-BE49-F238E27FC236}">
                    <a16:creationId xmlns:a16="http://schemas.microsoft.com/office/drawing/2014/main" id="{FAD7A6E6-C886-0175-06E1-7F2BB73D8E4E}"/>
                  </a:ext>
                </a:extLst>
              </p:cNvPr>
              <p:cNvSpPr/>
              <p:nvPr/>
            </p:nvSpPr>
            <p:spPr>
              <a:xfrm>
                <a:off x="4184407" y="6098102"/>
                <a:ext cx="2891157" cy="653281"/>
              </a:xfrm>
              <a:prstGeom prst="wedgeRectCallout">
                <a:avLst>
                  <a:gd name="adj1" fmla="val 66409"/>
                  <a:gd name="adj2" fmla="val -31135"/>
                </a:avLst>
              </a:prstGeom>
              <a:noFill/>
              <a:ln w="1270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K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1FE08D1-95B6-10C7-6D22-82638A51D835}"/>
                  </a:ext>
                </a:extLst>
              </p:cNvPr>
              <p:cNvSpPr txBox="1"/>
              <p:nvPr/>
            </p:nvSpPr>
            <p:spPr>
              <a:xfrm>
                <a:off x="4184407" y="6243058"/>
                <a:ext cx="2989921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DK" sz="1050">
                    <a:solidFill>
                      <a:schemeClr val="bg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registerGuestDetails(</a:t>
                </a:r>
                <a:r>
                  <a:rPr lang="en-DK" sz="1050" b="1">
                    <a:solidFill>
                      <a:schemeClr val="bg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reservationId</a:t>
                </a:r>
                <a:r>
                  <a:rPr lang="en-DK" sz="1050">
                    <a:solidFill>
                      <a:schemeClr val="bg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,</a:t>
                </a:r>
              </a:p>
              <a:p>
                <a:r>
                  <a:rPr lang="en-DK" sz="1050">
                    <a:solidFill>
                      <a:schemeClr val="bg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                   guestDetails)</a:t>
                </a:r>
              </a:p>
            </p:txBody>
          </p:sp>
        </p:grp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BF5DA0B-3F3A-421F-CCA0-1791D39FEDF1}"/>
              </a:ext>
            </a:extLst>
          </p:cNvPr>
          <p:cNvGrpSpPr/>
          <p:nvPr/>
        </p:nvGrpSpPr>
        <p:grpSpPr>
          <a:xfrm>
            <a:off x="10098615" y="5051272"/>
            <a:ext cx="2028119" cy="775663"/>
            <a:chOff x="4184407" y="6098102"/>
            <a:chExt cx="2028119" cy="775663"/>
          </a:xfrm>
        </p:grpSpPr>
        <p:sp>
          <p:nvSpPr>
            <p:cNvPr id="33" name="Rectangular Callout 32">
              <a:extLst>
                <a:ext uri="{FF2B5EF4-FFF2-40B4-BE49-F238E27FC236}">
                  <a16:creationId xmlns:a16="http://schemas.microsoft.com/office/drawing/2014/main" id="{D0F00002-B7F7-1C86-8EB8-3A544FD1A482}"/>
                </a:ext>
              </a:extLst>
            </p:cNvPr>
            <p:cNvSpPr/>
            <p:nvPr/>
          </p:nvSpPr>
          <p:spPr>
            <a:xfrm>
              <a:off x="4184408" y="6098102"/>
              <a:ext cx="2018702" cy="775663"/>
            </a:xfrm>
            <a:prstGeom prst="wedgeRectCallout">
              <a:avLst>
                <a:gd name="adj1" fmla="val -49949"/>
                <a:gd name="adj2" fmla="val 85617"/>
              </a:avLst>
            </a:prstGeom>
            <a:noFill/>
            <a:ln w="12700"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1492BBC-FDB1-CB53-64C0-39A89CF35E92}"/>
                </a:ext>
              </a:extLst>
            </p:cNvPr>
            <p:cNvSpPr txBox="1"/>
            <p:nvPr/>
          </p:nvSpPr>
          <p:spPr>
            <a:xfrm>
              <a:off x="4184407" y="6135101"/>
              <a:ext cx="2028119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DK" sz="105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registerPaymentDetails(</a:t>
              </a:r>
            </a:p>
            <a:p>
              <a:r>
                <a:rPr lang="en-DK" sz="105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   </a:t>
              </a:r>
              <a:r>
                <a:rPr lang="en-DK" sz="1050" b="1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reservationId</a:t>
              </a:r>
              <a:r>
                <a:rPr lang="en-DK" sz="105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, </a:t>
              </a:r>
            </a:p>
            <a:p>
              <a:r>
                <a:rPr lang="en-DK" sz="105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   paymentDetails</a:t>
              </a:r>
            </a:p>
            <a:p>
              <a:r>
                <a:rPr lang="en-DK" sz="105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47276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53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3" grpId="0" animBg="1"/>
      <p:bldP spid="14" grpId="0" animBg="1"/>
      <p:bldP spid="15" grpId="0" animBg="1"/>
      <p:bldP spid="19" grpId="0" animBg="1"/>
      <p:bldP spid="20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3CDC4-3BB3-28FA-1666-62F5ECF3E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984E3-FAE3-84A7-D6BE-C3C69399980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56055" y="436133"/>
            <a:ext cx="2819400" cy="6338888"/>
          </a:xfrm>
        </p:spPr>
        <p:txBody>
          <a:bodyPr>
            <a:normAutofit/>
          </a:bodyPr>
          <a:lstStyle/>
          <a:p>
            <a:r>
              <a:rPr lang="en-DK" sz="4000" dirty="0"/>
              <a:t>Hotel Booking</a:t>
            </a:r>
            <a:br>
              <a:rPr lang="en-DK" sz="4000" dirty="0"/>
            </a:br>
            <a:br>
              <a:rPr lang="en-DK" sz="4000" dirty="0"/>
            </a:br>
            <a:br>
              <a:rPr lang="en-DK" sz="4000" dirty="0"/>
            </a:br>
            <a:br>
              <a:rPr lang="en-DK" sz="4000" dirty="0"/>
            </a:br>
            <a:br>
              <a:rPr lang="en-DK" sz="4000" dirty="0"/>
            </a:br>
            <a:br>
              <a:rPr lang="en-DK" sz="4000" dirty="0"/>
            </a:br>
            <a:r>
              <a:rPr lang="en-DK" sz="4000" dirty="0"/>
              <a:t>Book Room 1/2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1FBA4D-A803-67C1-93AE-D604556C5A86}"/>
              </a:ext>
            </a:extLst>
          </p:cNvPr>
          <p:cNvSpPr/>
          <p:nvPr/>
        </p:nvSpPr>
        <p:spPr>
          <a:xfrm>
            <a:off x="3708050" y="403597"/>
            <a:ext cx="7939514" cy="6337738"/>
          </a:xfrm>
          <a:prstGeom prst="rect">
            <a:avLst/>
          </a:prstGeom>
          <a:solidFill>
            <a:srgbClr val="F2F2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7A0F76-820C-2C98-02AD-867B6A986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0642" y="460354"/>
            <a:ext cx="6885947" cy="62336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D7295B-8094-9E1D-5BF2-97ADA55CD3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5703" y="766205"/>
            <a:ext cx="883965" cy="5881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03494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56788-1D15-70A2-FEE0-45B23C5A8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DFF1EA6C-7E6C-EA9C-6413-ED875AE663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DK">
                <a:latin typeface="Bebas Neue" panose="020B0606020202050201" pitchFamily="34" charset="77"/>
              </a:rPr>
              <a:t>Exercise 3 – Design 2/2</a:t>
            </a:r>
            <a:endParaRPr lang="da-DK" dirty="0">
              <a:latin typeface="Bebas Neue" panose="020B0606020202050201" pitchFamily="34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3A8B12-E3CC-8B57-D7AE-36C70B7E18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626" y="1604500"/>
            <a:ext cx="3150855" cy="328281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9B6A2C5-7D14-6FB0-9DBC-F62681B638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67562"/>
            <a:ext cx="4331802" cy="3282811"/>
          </a:xfrm>
          <a:prstGeom prst="rect">
            <a:avLst/>
          </a:prstGeom>
        </p:spPr>
      </p:pic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C279A01-EEA3-2257-3F2B-33A0E0B53CBC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3424270" y="3308968"/>
            <a:ext cx="2671730" cy="1345013"/>
          </a:xfrm>
          <a:prstGeom prst="straightConnector1">
            <a:avLst/>
          </a:prstGeom>
          <a:ln w="2222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C8776149-0208-D6CA-DF19-F79DED6555CC}"/>
              </a:ext>
            </a:extLst>
          </p:cNvPr>
          <p:cNvSpPr/>
          <p:nvPr/>
        </p:nvSpPr>
        <p:spPr>
          <a:xfrm>
            <a:off x="9277473" y="2894559"/>
            <a:ext cx="932275" cy="204998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3F86FA4D-7F44-C330-EB94-2BFF4343E159}"/>
              </a:ext>
            </a:extLst>
          </p:cNvPr>
          <p:cNvSpPr/>
          <p:nvPr/>
        </p:nvSpPr>
        <p:spPr>
          <a:xfrm>
            <a:off x="6327232" y="2910269"/>
            <a:ext cx="2519579" cy="204998"/>
          </a:xfrm>
          <a:prstGeom prst="round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DB5A7127-B111-8DBC-5F1D-A2FDD49506B0}"/>
              </a:ext>
            </a:extLst>
          </p:cNvPr>
          <p:cNvSpPr/>
          <p:nvPr/>
        </p:nvSpPr>
        <p:spPr>
          <a:xfrm>
            <a:off x="6327232" y="2484644"/>
            <a:ext cx="1511383" cy="397303"/>
          </a:xfrm>
          <a:prstGeom prst="round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98ABD3BF-913E-6D5D-916B-37746586C755}"/>
              </a:ext>
            </a:extLst>
          </p:cNvPr>
          <p:cNvSpPr/>
          <p:nvPr/>
        </p:nvSpPr>
        <p:spPr>
          <a:xfrm flipV="1">
            <a:off x="9113644" y="3222471"/>
            <a:ext cx="1111347" cy="414871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71E9E8AD-098C-7D73-26AE-6C5AD41ABA33}"/>
              </a:ext>
            </a:extLst>
          </p:cNvPr>
          <p:cNvSpPr/>
          <p:nvPr/>
        </p:nvSpPr>
        <p:spPr>
          <a:xfrm>
            <a:off x="9292716" y="4140474"/>
            <a:ext cx="932275" cy="204998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218A944B-06AA-9D2F-4B99-CC68449B6BCE}"/>
              </a:ext>
            </a:extLst>
          </p:cNvPr>
          <p:cNvSpPr/>
          <p:nvPr/>
        </p:nvSpPr>
        <p:spPr>
          <a:xfrm>
            <a:off x="6327232" y="3699030"/>
            <a:ext cx="2848299" cy="441444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03445FD-3E83-06ED-0D60-32DDB4CAF3DC}"/>
              </a:ext>
            </a:extLst>
          </p:cNvPr>
          <p:cNvGrpSpPr/>
          <p:nvPr/>
        </p:nvGrpSpPr>
        <p:grpSpPr>
          <a:xfrm>
            <a:off x="8680794" y="4747892"/>
            <a:ext cx="3013143" cy="1710551"/>
            <a:chOff x="74683" y="3724817"/>
            <a:chExt cx="3013143" cy="1710551"/>
          </a:xfrm>
        </p:grpSpPr>
        <p:sp>
          <p:nvSpPr>
            <p:cNvPr id="43" name="Rounded Rectangle 42">
              <a:extLst>
                <a:ext uri="{FF2B5EF4-FFF2-40B4-BE49-F238E27FC236}">
                  <a16:creationId xmlns:a16="http://schemas.microsoft.com/office/drawing/2014/main" id="{E49C9590-0373-9417-AD9E-40A83CDEC4A1}"/>
                </a:ext>
              </a:extLst>
            </p:cNvPr>
            <p:cNvSpPr/>
            <p:nvPr/>
          </p:nvSpPr>
          <p:spPr>
            <a:xfrm>
              <a:off x="74683" y="4711025"/>
              <a:ext cx="1971395" cy="724343"/>
            </a:xfrm>
            <a:prstGeom prst="roundRect">
              <a:avLst/>
            </a:prstGeom>
            <a:solidFill>
              <a:srgbClr val="FFFF00"/>
            </a:solidFill>
            <a:ln w="28575">
              <a:solidFill>
                <a:srgbClr val="FFFF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DK">
                  <a:solidFill>
                    <a:schemeClr val="tx1"/>
                  </a:solidFill>
                </a:rPr>
                <a:t>Yellow</a:t>
              </a:r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7F982D13-AF57-838F-F2C6-BDEBF5504639}"/>
                </a:ext>
              </a:extLst>
            </p:cNvPr>
            <p:cNvCxnSpPr>
              <a:cxnSpLocks/>
              <a:endCxn id="43" idx="0"/>
            </p:cNvCxnSpPr>
            <p:nvPr/>
          </p:nvCxnSpPr>
          <p:spPr>
            <a:xfrm>
              <a:off x="928874" y="3724817"/>
              <a:ext cx="131507" cy="986208"/>
            </a:xfrm>
            <a:prstGeom prst="straightConnector1">
              <a:avLst/>
            </a:prstGeom>
            <a:ln w="22225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B6F2810-1EFA-8224-9D39-C0E8D52F5319}"/>
                </a:ext>
              </a:extLst>
            </p:cNvPr>
            <p:cNvSpPr txBox="1"/>
            <p:nvPr/>
          </p:nvSpPr>
          <p:spPr>
            <a:xfrm>
              <a:off x="1060380" y="4159392"/>
              <a:ext cx="2027446" cy="200055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DK" sz="700" b="1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completeReservation(reservationId)</a:t>
              </a:r>
              <a:endParaRPr lang="en-DK" sz="7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5662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4AF28-5685-50AB-745C-37FBF55A4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CEC54-886E-AB79-AEC5-979097D6E3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36092" y="720966"/>
            <a:ext cx="2000250" cy="5416550"/>
          </a:xfrm>
        </p:spPr>
        <p:txBody>
          <a:bodyPr>
            <a:normAutofit/>
          </a:bodyPr>
          <a:lstStyle/>
          <a:p>
            <a:pPr algn="ctr"/>
            <a:r>
              <a:rPr lang="en-DK" sz="4000"/>
              <a:t>Hotel Booking</a:t>
            </a:r>
            <a:br>
              <a:rPr lang="en-DK" sz="4000"/>
            </a:br>
            <a:br>
              <a:rPr lang="en-DK" sz="4000"/>
            </a:br>
            <a:br>
              <a:rPr lang="en-DK" sz="4000"/>
            </a:br>
            <a:br>
              <a:rPr lang="en-DK" sz="4000"/>
            </a:br>
            <a:br>
              <a:rPr lang="en-DK" sz="4000"/>
            </a:br>
            <a:br>
              <a:rPr lang="en-DK" sz="4000"/>
            </a:br>
            <a:r>
              <a:rPr lang="en-DK" sz="4000"/>
              <a:t>Book Room 2/2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056FB1-718A-AA27-4842-DE2ADE2932E0}"/>
              </a:ext>
            </a:extLst>
          </p:cNvPr>
          <p:cNvSpPr/>
          <p:nvPr/>
        </p:nvSpPr>
        <p:spPr>
          <a:xfrm>
            <a:off x="2136342" y="720484"/>
            <a:ext cx="9981626" cy="5417032"/>
          </a:xfrm>
          <a:prstGeom prst="rect">
            <a:avLst/>
          </a:prstGeom>
          <a:solidFill>
            <a:srgbClr val="F2F2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7FAAC8-D98B-23CD-FA07-C55962A63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9134" y="1109863"/>
            <a:ext cx="727381" cy="48400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5432274-3305-5944-8571-95E01CA697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8575" y="1119322"/>
            <a:ext cx="8997333" cy="4840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08222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27FD4-C70E-1563-891D-A7CB8DEFB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itel 42">
            <a:extLst>
              <a:ext uri="{FF2B5EF4-FFF2-40B4-BE49-F238E27FC236}">
                <a16:creationId xmlns:a16="http://schemas.microsoft.com/office/drawing/2014/main" id="{04BA7C99-79FE-3848-6529-BFCFE1FDC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0194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DK" sz="4800">
                <a:latin typeface="Bebas Neue" panose="020B0606020202050201" pitchFamily="34" charset="77"/>
              </a:rPr>
              <a:t>IT-OPS integration</a:t>
            </a:r>
            <a:br>
              <a:rPr lang="da-DK" dirty="0">
                <a:latin typeface="Bebas Neue" panose="020B0606020202050201" pitchFamily="34" charset="77"/>
              </a:rPr>
            </a:br>
            <a:endParaRPr lang="da-DK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13E67-B1DA-F768-77BF-F9FD44F0F66B}"/>
              </a:ext>
            </a:extLst>
          </p:cNvPr>
          <p:cNvSpPr txBox="1">
            <a:spLocks/>
          </p:cNvSpPr>
          <p:nvPr/>
        </p:nvSpPr>
        <p:spPr>
          <a:xfrm>
            <a:off x="874713" y="1873247"/>
            <a:ext cx="5157787" cy="36845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Audi Type Screen Normal" panose="020B05030402000000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Audi Type Screen Normal" panose="020B05030402000000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Audi Type Screen Normal" panose="020B05030402000000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Audi Type Screen Normal" panose="020B05030402000000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Audi Type Screen Normal" panose="020B05030402000000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DK"/>
          </a:p>
          <a:p>
            <a:endParaRPr lang="en-D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43207D-4704-3349-40A8-E3CFF5E1AFC9}"/>
              </a:ext>
            </a:extLst>
          </p:cNvPr>
          <p:cNvSpPr/>
          <p:nvPr/>
        </p:nvSpPr>
        <p:spPr>
          <a:xfrm>
            <a:off x="3532909" y="1390012"/>
            <a:ext cx="3394364" cy="127006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DK">
                <a:solidFill>
                  <a:schemeClr val="tx1"/>
                </a:solidFill>
              </a:rPr>
              <a:t>IT Ops</a:t>
            </a:r>
          </a:p>
          <a:p>
            <a:pPr algn="ctr"/>
            <a:r>
              <a:rPr lang="en-DK">
                <a:solidFill>
                  <a:schemeClr val="tx1"/>
                </a:solidFill>
              </a:rPr>
              <a:t>Place hold on credit card</a:t>
            </a:r>
          </a:p>
        </p:txBody>
      </p:sp>
      <p:sp>
        <p:nvSpPr>
          <p:cNvPr id="6" name="Snip Same-side Corner of Rectangle 5">
            <a:extLst>
              <a:ext uri="{FF2B5EF4-FFF2-40B4-BE49-F238E27FC236}">
                <a16:creationId xmlns:a16="http://schemas.microsoft.com/office/drawing/2014/main" id="{77EB5329-A789-E55B-DA29-B2DF0DE62CF1}"/>
              </a:ext>
            </a:extLst>
          </p:cNvPr>
          <p:cNvSpPr/>
          <p:nvPr/>
        </p:nvSpPr>
        <p:spPr>
          <a:xfrm>
            <a:off x="2341418" y="5467987"/>
            <a:ext cx="2382981" cy="1112921"/>
          </a:xfrm>
          <a:prstGeom prst="snip2SameRect">
            <a:avLst/>
          </a:prstGeom>
          <a:solidFill>
            <a:srgbClr val="FFFF00"/>
          </a:solidFill>
          <a:ln>
            <a:solidFill>
              <a:srgbClr val="FFFF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K">
                <a:solidFill>
                  <a:schemeClr val="tx1"/>
                </a:solidFill>
              </a:rPr>
              <a:t>Reservation information</a:t>
            </a:r>
          </a:p>
        </p:txBody>
      </p:sp>
      <p:sp>
        <p:nvSpPr>
          <p:cNvPr id="7" name="Snip Same-side Corner of Rectangle 6">
            <a:extLst>
              <a:ext uri="{FF2B5EF4-FFF2-40B4-BE49-F238E27FC236}">
                <a16:creationId xmlns:a16="http://schemas.microsoft.com/office/drawing/2014/main" id="{27E14517-2498-E3EB-F36E-1CEB9386625C}"/>
              </a:ext>
            </a:extLst>
          </p:cNvPr>
          <p:cNvSpPr/>
          <p:nvPr/>
        </p:nvSpPr>
        <p:spPr>
          <a:xfrm>
            <a:off x="5230091" y="5467987"/>
            <a:ext cx="2382981" cy="1112922"/>
          </a:xfrm>
          <a:prstGeom prst="snip2SameRect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K"/>
              <a:t>Payment</a:t>
            </a:r>
          </a:p>
        </p:txBody>
      </p:sp>
      <p:sp>
        <p:nvSpPr>
          <p:cNvPr id="8" name="Snip Same-side Corner of Rectangle 7">
            <a:extLst>
              <a:ext uri="{FF2B5EF4-FFF2-40B4-BE49-F238E27FC236}">
                <a16:creationId xmlns:a16="http://schemas.microsoft.com/office/drawing/2014/main" id="{4B27625B-D831-E1EA-7903-0A4F52EEC440}"/>
              </a:ext>
            </a:extLst>
          </p:cNvPr>
          <p:cNvSpPr/>
          <p:nvPr/>
        </p:nvSpPr>
        <p:spPr>
          <a:xfrm>
            <a:off x="8285020" y="5467985"/>
            <a:ext cx="2382981" cy="1112923"/>
          </a:xfrm>
          <a:prstGeom prst="snip2SameRect">
            <a:avLst/>
          </a:prstGeom>
          <a:solidFill>
            <a:srgbClr val="92D050"/>
          </a:solidFill>
          <a:ln>
            <a:solidFill>
              <a:srgbClr val="92D05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K"/>
              <a:t>Price Information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689A18-0ACE-FD39-A08C-B4D87DD6BC2E}"/>
              </a:ext>
            </a:extLst>
          </p:cNvPr>
          <p:cNvSpPr/>
          <p:nvPr/>
        </p:nvSpPr>
        <p:spPr>
          <a:xfrm>
            <a:off x="2189014" y="4038873"/>
            <a:ext cx="2382981" cy="5403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DK" sz="1600"/>
              <a:t>Reservation Information Provider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0D26A8-0B3E-9FD6-EF2C-88A369ADB34E}"/>
              </a:ext>
            </a:extLst>
          </p:cNvPr>
          <p:cNvSpPr/>
          <p:nvPr/>
        </p:nvSpPr>
        <p:spPr>
          <a:xfrm>
            <a:off x="5230090" y="4013442"/>
            <a:ext cx="2382981" cy="5403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DK" sz="1600"/>
              <a:t>Payment Information And Status Provider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62BD0B-68EA-A05D-EA9A-F74C8A8DC09F}"/>
              </a:ext>
            </a:extLst>
          </p:cNvPr>
          <p:cNvSpPr/>
          <p:nvPr/>
        </p:nvSpPr>
        <p:spPr>
          <a:xfrm>
            <a:off x="8285020" y="4013442"/>
            <a:ext cx="2382981" cy="5403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DK" sz="1600"/>
              <a:t>Reservation Total Provider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0FB527D-4A33-521E-79AF-2A0B6D885692}"/>
              </a:ext>
            </a:extLst>
          </p:cNvPr>
          <p:cNvCxnSpPr>
            <a:cxnSpLocks/>
            <a:endCxn id="9" idx="0"/>
          </p:cNvCxnSpPr>
          <p:nvPr/>
        </p:nvCxnSpPr>
        <p:spPr>
          <a:xfrm flipH="1">
            <a:off x="3380505" y="2669280"/>
            <a:ext cx="824354" cy="1369593"/>
          </a:xfrm>
          <a:prstGeom prst="straightConnector1">
            <a:avLst/>
          </a:prstGeom>
          <a:ln w="50800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EAF69B3-EA47-E0A5-60E3-EC8422CFBE83}"/>
              </a:ext>
            </a:extLst>
          </p:cNvPr>
          <p:cNvCxnSpPr>
            <a:cxnSpLocks/>
            <a:stCxn id="5" idx="2"/>
            <a:endCxn id="10" idx="0"/>
          </p:cNvCxnSpPr>
          <p:nvPr/>
        </p:nvCxnSpPr>
        <p:spPr>
          <a:xfrm>
            <a:off x="5230091" y="2660074"/>
            <a:ext cx="1191490" cy="1353368"/>
          </a:xfrm>
          <a:prstGeom prst="straightConnector1">
            <a:avLst/>
          </a:prstGeom>
          <a:ln w="50800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BD2FDC0-8BCA-9F9F-A658-FD939DC4FCBA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6341914" y="2669280"/>
            <a:ext cx="3134597" cy="1344162"/>
          </a:xfrm>
          <a:prstGeom prst="straightConnector1">
            <a:avLst/>
          </a:prstGeom>
          <a:ln w="50800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D53A872-18CC-730E-07A6-723885C5FFE4}"/>
              </a:ext>
            </a:extLst>
          </p:cNvPr>
          <p:cNvGrpSpPr/>
          <p:nvPr/>
        </p:nvGrpSpPr>
        <p:grpSpPr>
          <a:xfrm>
            <a:off x="3369502" y="4623649"/>
            <a:ext cx="304805" cy="844338"/>
            <a:chOff x="3369502" y="4623649"/>
            <a:chExt cx="304805" cy="844338"/>
          </a:xfrm>
        </p:grpSpPr>
        <p:sp>
          <p:nvSpPr>
            <p:cNvPr id="16" name="Triangle 15">
              <a:extLst>
                <a:ext uri="{FF2B5EF4-FFF2-40B4-BE49-F238E27FC236}">
                  <a16:creationId xmlns:a16="http://schemas.microsoft.com/office/drawing/2014/main" id="{5DA01364-5F57-A5D8-FACA-29A5057B271E}"/>
                </a:ext>
              </a:extLst>
            </p:cNvPr>
            <p:cNvSpPr/>
            <p:nvPr/>
          </p:nvSpPr>
          <p:spPr>
            <a:xfrm>
              <a:off x="3369502" y="4623649"/>
              <a:ext cx="304805" cy="309175"/>
            </a:xfrm>
            <a:prstGeom prst="triangle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1337DFD-EA68-62DA-10AB-43E95633662F}"/>
                </a:ext>
              </a:extLst>
            </p:cNvPr>
            <p:cNvCxnSpPr>
              <a:stCxn id="16" idx="3"/>
              <a:endCxn id="6" idx="3"/>
            </p:cNvCxnSpPr>
            <p:nvPr/>
          </p:nvCxnSpPr>
          <p:spPr>
            <a:xfrm>
              <a:off x="3521905" y="4932824"/>
              <a:ext cx="11004" cy="535163"/>
            </a:xfrm>
            <a:prstGeom prst="line">
              <a:avLst/>
            </a:prstGeom>
            <a:ln w="44450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1D24916-ED03-D494-4F4C-C2E42F2570A0}"/>
              </a:ext>
            </a:extLst>
          </p:cNvPr>
          <p:cNvGrpSpPr/>
          <p:nvPr/>
        </p:nvGrpSpPr>
        <p:grpSpPr>
          <a:xfrm>
            <a:off x="6194402" y="4582898"/>
            <a:ext cx="304805" cy="888786"/>
            <a:chOff x="3385394" y="4582353"/>
            <a:chExt cx="304805" cy="888786"/>
          </a:xfrm>
        </p:grpSpPr>
        <p:sp>
          <p:nvSpPr>
            <p:cNvPr id="19" name="Triangle 18">
              <a:extLst>
                <a:ext uri="{FF2B5EF4-FFF2-40B4-BE49-F238E27FC236}">
                  <a16:creationId xmlns:a16="http://schemas.microsoft.com/office/drawing/2014/main" id="{3D8DE223-A9A3-03C2-DCE1-C5320115E239}"/>
                </a:ext>
              </a:extLst>
            </p:cNvPr>
            <p:cNvSpPr/>
            <p:nvPr/>
          </p:nvSpPr>
          <p:spPr>
            <a:xfrm>
              <a:off x="3385394" y="4582353"/>
              <a:ext cx="304805" cy="309175"/>
            </a:xfrm>
            <a:prstGeom prst="triangle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C4CFE0A-05A7-D7B0-802C-F3A6E5DEABBE}"/>
                </a:ext>
              </a:extLst>
            </p:cNvPr>
            <p:cNvCxnSpPr>
              <a:stCxn id="19" idx="3"/>
            </p:cNvCxnSpPr>
            <p:nvPr/>
          </p:nvCxnSpPr>
          <p:spPr>
            <a:xfrm>
              <a:off x="3537797" y="4891528"/>
              <a:ext cx="2" cy="579611"/>
            </a:xfrm>
            <a:prstGeom prst="line">
              <a:avLst/>
            </a:prstGeom>
            <a:ln w="44450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4BFFAB0-1D65-FE98-208E-4D7B1BA5BC58}"/>
              </a:ext>
            </a:extLst>
          </p:cNvPr>
          <p:cNvGrpSpPr/>
          <p:nvPr/>
        </p:nvGrpSpPr>
        <p:grpSpPr>
          <a:xfrm>
            <a:off x="9324107" y="4625958"/>
            <a:ext cx="304805" cy="842027"/>
            <a:chOff x="3380504" y="4579201"/>
            <a:chExt cx="304805" cy="888786"/>
          </a:xfrm>
        </p:grpSpPr>
        <p:sp>
          <p:nvSpPr>
            <p:cNvPr id="22" name="Triangle 21">
              <a:extLst>
                <a:ext uri="{FF2B5EF4-FFF2-40B4-BE49-F238E27FC236}">
                  <a16:creationId xmlns:a16="http://schemas.microsoft.com/office/drawing/2014/main" id="{392FFEFB-D96E-9742-1AF2-362557FB1B97}"/>
                </a:ext>
              </a:extLst>
            </p:cNvPr>
            <p:cNvSpPr/>
            <p:nvPr/>
          </p:nvSpPr>
          <p:spPr>
            <a:xfrm>
              <a:off x="3380504" y="4579201"/>
              <a:ext cx="304805" cy="309175"/>
            </a:xfrm>
            <a:prstGeom prst="triangle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05C00F0-8DA4-199D-4E56-B065C757C5E0}"/>
                </a:ext>
              </a:extLst>
            </p:cNvPr>
            <p:cNvCxnSpPr>
              <a:stCxn id="22" idx="3"/>
            </p:cNvCxnSpPr>
            <p:nvPr/>
          </p:nvCxnSpPr>
          <p:spPr>
            <a:xfrm>
              <a:off x="3532907" y="4888376"/>
              <a:ext cx="2" cy="579611"/>
            </a:xfrm>
            <a:prstGeom prst="line">
              <a:avLst/>
            </a:prstGeom>
            <a:ln w="44450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Hexagon 23">
            <a:extLst>
              <a:ext uri="{FF2B5EF4-FFF2-40B4-BE49-F238E27FC236}">
                <a16:creationId xmlns:a16="http://schemas.microsoft.com/office/drawing/2014/main" id="{CE50EE60-71C9-6C54-AB85-FF942614AD96}"/>
              </a:ext>
            </a:extLst>
          </p:cNvPr>
          <p:cNvSpPr/>
          <p:nvPr/>
        </p:nvSpPr>
        <p:spPr>
          <a:xfrm>
            <a:off x="8825345" y="826624"/>
            <a:ext cx="2812473" cy="2396837"/>
          </a:xfrm>
          <a:prstGeom prst="hexagon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DK"/>
              <a:t>Payment Gateway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2C33CA9-F25D-4F79-2260-477844ECD2A5}"/>
              </a:ext>
            </a:extLst>
          </p:cNvPr>
          <p:cNvCxnSpPr>
            <a:cxnSpLocks/>
            <a:stCxn id="5" idx="3"/>
            <a:endCxn id="24" idx="3"/>
          </p:cNvCxnSpPr>
          <p:nvPr/>
        </p:nvCxnSpPr>
        <p:spPr>
          <a:xfrm>
            <a:off x="6927273" y="2025043"/>
            <a:ext cx="1898072" cy="0"/>
          </a:xfrm>
          <a:prstGeom prst="straightConnector1">
            <a:avLst/>
          </a:prstGeom>
          <a:ln w="50800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A1384F9-768C-D428-D520-52AAE0DF008E}"/>
              </a:ext>
            </a:extLst>
          </p:cNvPr>
          <p:cNvGrpSpPr/>
          <p:nvPr/>
        </p:nvGrpSpPr>
        <p:grpSpPr>
          <a:xfrm>
            <a:off x="184257" y="1574770"/>
            <a:ext cx="3348652" cy="1541226"/>
            <a:chOff x="184257" y="1574770"/>
            <a:chExt cx="3348652" cy="1541226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8CEC8BD0-E8A9-F7A7-10B3-020CD02A5CEE}"/>
                </a:ext>
              </a:extLst>
            </p:cNvPr>
            <p:cNvGrpSpPr/>
            <p:nvPr/>
          </p:nvGrpSpPr>
          <p:grpSpPr>
            <a:xfrm>
              <a:off x="184257" y="1574770"/>
              <a:ext cx="3348652" cy="1541226"/>
              <a:chOff x="258743" y="1340207"/>
              <a:chExt cx="3348652" cy="1541226"/>
            </a:xfrm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DF6E4365-2042-EFC9-EE7E-8E59B895AF77}"/>
                  </a:ext>
                </a:extLst>
              </p:cNvPr>
              <p:cNvGrpSpPr/>
              <p:nvPr/>
            </p:nvGrpSpPr>
            <p:grpSpPr>
              <a:xfrm>
                <a:off x="258743" y="1340207"/>
                <a:ext cx="2596352" cy="1541226"/>
                <a:chOff x="258743" y="1340207"/>
                <a:chExt cx="2596352" cy="1541226"/>
              </a:xfrm>
            </p:grpSpPr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9F9AE0EB-1FE6-CD17-FE2D-ED1BBB264D51}"/>
                    </a:ext>
                  </a:extLst>
                </p:cNvPr>
                <p:cNvSpPr/>
                <p:nvPr/>
              </p:nvSpPr>
              <p:spPr>
                <a:xfrm>
                  <a:off x="1013131" y="1340207"/>
                  <a:ext cx="928255" cy="900545"/>
                </a:xfrm>
                <a:prstGeom prst="ellipse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4"/>
                </a:fillRef>
                <a:effectRef idx="1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DK"/>
                </a:p>
              </p:txBody>
            </p: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492ED228-0B68-E642-C4B8-326CDC69A1E5}"/>
                    </a:ext>
                  </a:extLst>
                </p:cNvPr>
                <p:cNvSpPr txBox="1"/>
                <p:nvPr/>
              </p:nvSpPr>
              <p:spPr>
                <a:xfrm>
                  <a:off x="258743" y="2235102"/>
                  <a:ext cx="2596352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DK">
                      <a:solidFill>
                        <a:schemeClr val="bg1"/>
                      </a:solidFill>
                    </a:rPr>
                    <a:t>RoomTypeReserved</a:t>
                  </a:r>
                </a:p>
                <a:p>
                  <a:r>
                    <a:rPr lang="en-DK">
                      <a:solidFill>
                        <a:schemeClr val="bg1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  ReservationId</a:t>
                  </a:r>
                </a:p>
              </p:txBody>
            </p:sp>
          </p:grp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BE65FD9B-8632-E1B7-8A63-BBA57E3BEC8C}"/>
                  </a:ext>
                </a:extLst>
              </p:cNvPr>
              <p:cNvCxnSpPr>
                <a:cxnSpLocks/>
                <a:stCxn id="31" idx="6"/>
                <a:endCxn id="5" idx="1"/>
              </p:cNvCxnSpPr>
              <p:nvPr/>
            </p:nvCxnSpPr>
            <p:spPr>
              <a:xfrm>
                <a:off x="1941386" y="1790480"/>
                <a:ext cx="1666009" cy="0"/>
              </a:xfrm>
              <a:prstGeom prst="straightConnector1">
                <a:avLst/>
              </a:prstGeom>
              <a:ln w="50800">
                <a:solidFill>
                  <a:schemeClr val="bg1"/>
                </a:solidFill>
                <a:prstDash val="dash"/>
                <a:headEnd type="none" w="med" len="med"/>
                <a:tailEnd type="arrow" w="med" len="med"/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</p:cxnSp>
        </p:grpSp>
        <p:pic>
          <p:nvPicPr>
            <p:cNvPr id="28" name="Graphic 27" descr="Envelope with solid fill">
              <a:extLst>
                <a:ext uri="{FF2B5EF4-FFF2-40B4-BE49-F238E27FC236}">
                  <a16:creationId xmlns:a16="http://schemas.microsoft.com/office/drawing/2014/main" id="{1040B3F5-01A2-9AFC-B250-09E39729F68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111316" y="1729720"/>
              <a:ext cx="590643" cy="590643"/>
            </a:xfrm>
            <a:prstGeom prst="rect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52EDBB6-A20B-041C-D2CF-A2852A409919}"/>
              </a:ext>
            </a:extLst>
          </p:cNvPr>
          <p:cNvGrpSpPr/>
          <p:nvPr/>
        </p:nvGrpSpPr>
        <p:grpSpPr>
          <a:xfrm>
            <a:off x="325575" y="3163942"/>
            <a:ext cx="8106536" cy="844338"/>
            <a:chOff x="325575" y="3163942"/>
            <a:chExt cx="8106536" cy="844338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936DB0B-3A78-F3C8-65A0-182D4E922985}"/>
                </a:ext>
              </a:extLst>
            </p:cNvPr>
            <p:cNvSpPr txBox="1"/>
            <p:nvPr/>
          </p:nvSpPr>
          <p:spPr>
            <a:xfrm>
              <a:off x="452915" y="3237223"/>
              <a:ext cx="274947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DK">
                  <a:solidFill>
                    <a:schemeClr val="bg1"/>
                  </a:solidFill>
                </a:rPr>
                <a:t>Request/Response</a:t>
              </a:r>
            </a:p>
            <a:p>
              <a:pPr algn="ctr"/>
              <a:r>
                <a:rPr lang="en-DK">
                  <a:solidFill>
                    <a:schemeClr val="bg1"/>
                  </a:solidFill>
                </a:rPr>
                <a:t>(preferably in memory)</a:t>
              </a: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F14FAF4-E1F3-A567-F640-E23CEAC5E1CD}"/>
                </a:ext>
              </a:extLst>
            </p:cNvPr>
            <p:cNvGrpSpPr/>
            <p:nvPr/>
          </p:nvGrpSpPr>
          <p:grpSpPr>
            <a:xfrm>
              <a:off x="325575" y="3163942"/>
              <a:ext cx="8106536" cy="844338"/>
              <a:chOff x="325575" y="3163942"/>
              <a:chExt cx="8106536" cy="844338"/>
            </a:xfrm>
          </p:grpSpPr>
          <p:sp>
            <p:nvSpPr>
              <p:cNvPr id="36" name="Rounded Rectangle 35">
                <a:extLst>
                  <a:ext uri="{FF2B5EF4-FFF2-40B4-BE49-F238E27FC236}">
                    <a16:creationId xmlns:a16="http://schemas.microsoft.com/office/drawing/2014/main" id="{B5B8D516-B38B-FFBA-8FA3-1B0278644B13}"/>
                  </a:ext>
                </a:extLst>
              </p:cNvPr>
              <p:cNvSpPr/>
              <p:nvPr/>
            </p:nvSpPr>
            <p:spPr>
              <a:xfrm>
                <a:off x="325575" y="3163942"/>
                <a:ext cx="2879223" cy="844338"/>
              </a:xfrm>
              <a:prstGeom prst="roundRect">
                <a:avLst/>
              </a:prstGeom>
              <a:noFill/>
              <a:ln w="22225">
                <a:solidFill>
                  <a:schemeClr val="bg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K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C63E67BF-EC36-02D8-BABD-91F1BC0DC33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777346" y="3311448"/>
                <a:ext cx="318654" cy="323332"/>
              </a:xfrm>
              <a:prstGeom prst="ellipse">
                <a:avLst/>
              </a:prstGeom>
              <a:noFill/>
              <a:ln w="22225">
                <a:solidFill>
                  <a:schemeClr val="bg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K"/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5BE6D768-E7B2-9613-C64B-CFC5693F68E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532908" y="3311448"/>
                <a:ext cx="318654" cy="323332"/>
              </a:xfrm>
              <a:prstGeom prst="ellipse">
                <a:avLst/>
              </a:prstGeom>
              <a:noFill/>
              <a:ln w="22225">
                <a:solidFill>
                  <a:schemeClr val="bg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K"/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BAEE6BFA-32C8-1ECF-0E22-581A2D63DE7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13457" y="3311448"/>
                <a:ext cx="318654" cy="323332"/>
              </a:xfrm>
              <a:prstGeom prst="ellipse">
                <a:avLst/>
              </a:prstGeom>
              <a:noFill/>
              <a:ln w="22225">
                <a:solidFill>
                  <a:schemeClr val="bg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K"/>
              </a:p>
            </p:txBody>
          </p:sp>
          <p:cxnSp>
            <p:nvCxnSpPr>
              <p:cNvPr id="40" name="Elbow Connector 39">
                <a:extLst>
                  <a:ext uri="{FF2B5EF4-FFF2-40B4-BE49-F238E27FC236}">
                    <a16:creationId xmlns:a16="http://schemas.microsoft.com/office/drawing/2014/main" id="{0CB043C4-6684-2B44-1867-954AF0762404}"/>
                  </a:ext>
                </a:extLst>
              </p:cNvPr>
              <p:cNvCxnSpPr>
                <a:cxnSpLocks/>
                <a:stCxn id="36" idx="3"/>
                <a:endCxn id="38" idx="0"/>
              </p:cNvCxnSpPr>
              <p:nvPr/>
            </p:nvCxnSpPr>
            <p:spPr>
              <a:xfrm flipV="1">
                <a:off x="3204798" y="3311448"/>
                <a:ext cx="487437" cy="274663"/>
              </a:xfrm>
              <a:prstGeom prst="bentConnector4">
                <a:avLst>
                  <a:gd name="adj1" fmla="val 33657"/>
                  <a:gd name="adj2" fmla="val 236934"/>
                </a:avLst>
              </a:prstGeom>
              <a:ln w="22225">
                <a:solidFill>
                  <a:schemeClr val="bg1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Elbow Connector 40">
                <a:extLst>
                  <a:ext uri="{FF2B5EF4-FFF2-40B4-BE49-F238E27FC236}">
                    <a16:creationId xmlns:a16="http://schemas.microsoft.com/office/drawing/2014/main" id="{7394E8DA-ED0D-0526-5DB7-1084AFF74331}"/>
                  </a:ext>
                </a:extLst>
              </p:cNvPr>
              <p:cNvCxnSpPr>
                <a:cxnSpLocks/>
                <a:stCxn id="36" idx="3"/>
                <a:endCxn id="37" idx="0"/>
              </p:cNvCxnSpPr>
              <p:nvPr/>
            </p:nvCxnSpPr>
            <p:spPr>
              <a:xfrm flipV="1">
                <a:off x="3204798" y="3311448"/>
                <a:ext cx="2731875" cy="274663"/>
              </a:xfrm>
              <a:prstGeom prst="bentConnector4">
                <a:avLst>
                  <a:gd name="adj1" fmla="val 6005"/>
                  <a:gd name="adj2" fmla="val 236934"/>
                </a:avLst>
              </a:prstGeom>
              <a:ln w="22225">
                <a:solidFill>
                  <a:schemeClr val="bg1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Elbow Connector 41">
                <a:extLst>
                  <a:ext uri="{FF2B5EF4-FFF2-40B4-BE49-F238E27FC236}">
                    <a16:creationId xmlns:a16="http://schemas.microsoft.com/office/drawing/2014/main" id="{BC9F4DA0-BD33-2BC4-BC64-1D8473F93C57}"/>
                  </a:ext>
                </a:extLst>
              </p:cNvPr>
              <p:cNvCxnSpPr>
                <a:cxnSpLocks/>
                <a:stCxn id="36" idx="3"/>
                <a:endCxn id="39" idx="0"/>
              </p:cNvCxnSpPr>
              <p:nvPr/>
            </p:nvCxnSpPr>
            <p:spPr>
              <a:xfrm flipV="1">
                <a:off x="3204798" y="3311448"/>
                <a:ext cx="5067986" cy="274663"/>
              </a:xfrm>
              <a:prstGeom prst="bentConnector4">
                <a:avLst>
                  <a:gd name="adj1" fmla="val 3321"/>
                  <a:gd name="adj2" fmla="val 236934"/>
                </a:avLst>
              </a:prstGeom>
              <a:ln w="22225">
                <a:solidFill>
                  <a:schemeClr val="bg1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534614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75C05CD7-9B5F-45EF-01BD-32A52503CB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4713" y="557665"/>
            <a:ext cx="9786937" cy="700425"/>
          </a:xfrm>
        </p:spPr>
        <p:txBody>
          <a:bodyPr>
            <a:normAutofit fontScale="92500" lnSpcReduction="10000"/>
          </a:bodyPr>
          <a:lstStyle/>
          <a:p>
            <a:r>
              <a:rPr lang="en-DK">
                <a:latin typeface="Bebas Neue" panose="020B0606020202050201" pitchFamily="34" charset="77"/>
              </a:rPr>
              <a:t>Hotel Booking – Full flow</a:t>
            </a:r>
            <a:endParaRPr lang="da-DK" dirty="0">
              <a:latin typeface="Bebas Neue" panose="020B0606020202050201" pitchFamily="34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5E380A-5F6F-C435-B37A-F8B4D6BE2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70" y="2081849"/>
            <a:ext cx="11936860" cy="351806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7432806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06E8B08-89F0-D99F-B5EF-209AD1C0B9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E</a:t>
            </a:r>
            <a:r>
              <a:rPr lang="en-DK" dirty="0"/>
              <a:t>vent sourcing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43FA343-DBD4-7EAC-F18F-079CB33D25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DK" sz="3600" dirty="0"/>
              <a:t>and the </a:t>
            </a:r>
            <a:r>
              <a:rPr lang="en-DK" sz="3600" b="1" dirty="0"/>
              <a:t>dual write </a:t>
            </a:r>
            <a:r>
              <a:rPr lang="en-DK" sz="3600" dirty="0"/>
              <a:t>problem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312FA2E-C589-41C4-989B-A1410E633E2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03560146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8563A-81C1-2790-C67B-81D252580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95E29F6C-61C9-2186-26FE-875F3212CC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r>
              <a:rPr lang="en-DK" sz="4000" dirty="0"/>
              <a:t>Dual write problem</a:t>
            </a:r>
            <a:r>
              <a:rPr lang="da-DK" sz="4000" dirty="0"/>
              <a:t> with Event </a:t>
            </a:r>
            <a:r>
              <a:rPr lang="da-DK" sz="4000" dirty="0" err="1"/>
              <a:t>Sourcing</a:t>
            </a:r>
            <a:endParaRPr lang="da-DK" sz="400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52D8E41-BCC6-BCB0-2595-0FDC655BBCB8}"/>
              </a:ext>
            </a:extLst>
          </p:cNvPr>
          <p:cNvGrpSpPr/>
          <p:nvPr/>
        </p:nvGrpSpPr>
        <p:grpSpPr>
          <a:xfrm>
            <a:off x="4338067" y="2641947"/>
            <a:ext cx="1495031" cy="1602715"/>
            <a:chOff x="1917370" y="0"/>
            <a:chExt cx="1642148" cy="2755280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E41868A1-52E0-9621-C820-BFEFF942F5A7}"/>
                </a:ext>
              </a:extLst>
            </p:cNvPr>
            <p:cNvSpPr/>
            <p:nvPr/>
          </p:nvSpPr>
          <p:spPr>
            <a:xfrm>
              <a:off x="1917370" y="2"/>
              <a:ext cx="1642148" cy="2755278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/>
            <a:lstStyle/>
            <a:p>
              <a:endParaRPr lang="en-DK"/>
            </a:p>
          </p:txBody>
        </p:sp>
        <p:sp>
          <p:nvSpPr>
            <p:cNvPr id="9" name="Rounded Rectangle 6">
              <a:extLst>
                <a:ext uri="{FF2B5EF4-FFF2-40B4-BE49-F238E27FC236}">
                  <a16:creationId xmlns:a16="http://schemas.microsoft.com/office/drawing/2014/main" id="{E3EA7D25-F979-2638-4354-3A8C9A8187CF}"/>
                </a:ext>
              </a:extLst>
            </p:cNvPr>
            <p:cNvSpPr/>
            <p:nvPr/>
          </p:nvSpPr>
          <p:spPr>
            <a:xfrm>
              <a:off x="1917370" y="0"/>
              <a:ext cx="1642148" cy="76056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8016" tIns="128016" rIns="128016" bIns="128016" numCol="1" spcCol="1270" anchor="ctr" anchorCtr="0">
              <a:noAutofit/>
            </a:bodyPr>
            <a:lstStyle/>
            <a:p>
              <a:pPr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b="1">
                  <a:cs typeface="Audi Type Screen Normal" panose="020B0503040200000003" pitchFamily="34" charset="0"/>
                </a:rPr>
                <a:t>Order</a:t>
              </a:r>
              <a:br>
                <a:rPr lang="en-US" sz="1600" b="1">
                  <a:cs typeface="Audi Type Screen Normal" panose="020B0503040200000003" pitchFamily="34" charset="0"/>
                </a:rPr>
              </a:br>
              <a:r>
                <a:rPr lang="en-US" sz="1600">
                  <a:cs typeface="Audi Type Screen Normal" panose="020B0503040200000003" pitchFamily="34" charset="0"/>
                </a:rPr>
                <a:t>Service</a:t>
              </a:r>
              <a:endParaRPr lang="en-US" sz="1600" b="1">
                <a:cs typeface="Audi Type Screen Normal" panose="020B0503040200000003" pitchFamily="34" charset="0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02964AD-C845-4FE4-72A4-02C00DD022E4}"/>
              </a:ext>
            </a:extLst>
          </p:cNvPr>
          <p:cNvGrpSpPr/>
          <p:nvPr/>
        </p:nvGrpSpPr>
        <p:grpSpPr>
          <a:xfrm>
            <a:off x="7805704" y="2332890"/>
            <a:ext cx="1495032" cy="1631322"/>
            <a:chOff x="186" y="0"/>
            <a:chExt cx="1642149" cy="4064000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2DF53CBE-37B8-CAE9-5E1E-D1C8F4EF6752}"/>
                </a:ext>
              </a:extLst>
            </p:cNvPr>
            <p:cNvSpPr/>
            <p:nvPr/>
          </p:nvSpPr>
          <p:spPr>
            <a:xfrm>
              <a:off x="187" y="0"/>
              <a:ext cx="1642148" cy="4064000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/>
            <a:lstStyle/>
            <a:p>
              <a:endParaRPr lang="en-DK"/>
            </a:p>
          </p:txBody>
        </p:sp>
        <p:sp>
          <p:nvSpPr>
            <p:cNvPr id="12" name="Rounded Rectangle 8">
              <a:extLst>
                <a:ext uri="{FF2B5EF4-FFF2-40B4-BE49-F238E27FC236}">
                  <a16:creationId xmlns:a16="http://schemas.microsoft.com/office/drawing/2014/main" id="{CFAF30BA-5FB6-255B-B8BE-238D483BB0EF}"/>
                </a:ext>
              </a:extLst>
            </p:cNvPr>
            <p:cNvSpPr/>
            <p:nvPr/>
          </p:nvSpPr>
          <p:spPr>
            <a:xfrm>
              <a:off x="186" y="226732"/>
              <a:ext cx="1642148" cy="76056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8016" tIns="128016" rIns="128016" bIns="128016" numCol="1" spcCol="1270" anchor="ctr" anchorCtr="0">
              <a:noAutofit/>
            </a:bodyPr>
            <a:lstStyle/>
            <a:p>
              <a:pPr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b="1" dirty="0">
                  <a:solidFill>
                    <a:schemeClr val="bg1"/>
                  </a:solidFill>
                  <a:cs typeface="Audi Type Screen Normal" panose="020B0503040200000003" pitchFamily="34" charset="0"/>
                </a:rPr>
                <a:t>Billing</a:t>
              </a:r>
              <a:br>
                <a:rPr lang="en-US" sz="1600" b="1" dirty="0">
                  <a:solidFill>
                    <a:schemeClr val="bg1"/>
                  </a:solidFill>
                  <a:cs typeface="Audi Type Screen Normal" panose="020B0503040200000003" pitchFamily="34" charset="0"/>
                </a:rPr>
              </a:br>
              <a:r>
                <a:rPr lang="en-US" sz="1600" dirty="0">
                  <a:solidFill>
                    <a:schemeClr val="bg1"/>
                  </a:solidFill>
                  <a:cs typeface="Audi Type Screen Normal" panose="020B0503040200000003" pitchFamily="34" charset="0"/>
                </a:rPr>
                <a:t>Service</a:t>
              </a:r>
              <a:endParaRPr lang="en-US" sz="1600" b="1" dirty="0">
                <a:solidFill>
                  <a:schemeClr val="bg1"/>
                </a:solidFill>
                <a:cs typeface="Audi Type Screen Normal" panose="020B0503040200000003" pitchFamily="34" charset="0"/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0A378DC8-EA0A-47E1-60C6-63F24867017B}"/>
              </a:ext>
            </a:extLst>
          </p:cNvPr>
          <p:cNvSpPr/>
          <p:nvPr/>
        </p:nvSpPr>
        <p:spPr>
          <a:xfrm>
            <a:off x="4490113" y="1609998"/>
            <a:ext cx="1190937" cy="46362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cs typeface="Audi Type Screen Normal" panose="020B0503040200000003" pitchFamily="34" charset="0"/>
              </a:rPr>
              <a:t>Client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3367BE9-84CD-F12A-4A3E-4146D96273C9}"/>
              </a:ext>
            </a:extLst>
          </p:cNvPr>
          <p:cNvSpPr/>
          <p:nvPr/>
        </p:nvSpPr>
        <p:spPr>
          <a:xfrm>
            <a:off x="7960426" y="3051253"/>
            <a:ext cx="1190937" cy="46362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cs typeface="Audi Type Screen Normal" panose="020B0503040200000003" pitchFamily="34" charset="0"/>
              </a:rPr>
              <a:t>Send- Invoice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FFE70FC-875E-6E0B-B64A-8C98C84352A4}"/>
              </a:ext>
            </a:extLst>
          </p:cNvPr>
          <p:cNvSpPr/>
          <p:nvPr/>
        </p:nvSpPr>
        <p:spPr>
          <a:xfrm>
            <a:off x="4498748" y="3114143"/>
            <a:ext cx="1190937" cy="89874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cs typeface="Audi Type Screen Normal" panose="020B0503040200000003" pitchFamily="34" charset="0"/>
              </a:rPr>
              <a:t>Save-Order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AFF6B98-B2D0-41D4-75A8-FB97111F337C}"/>
              </a:ext>
            </a:extLst>
          </p:cNvPr>
          <p:cNvCxnSpPr>
            <a:cxnSpLocks/>
            <a:stCxn id="13" idx="2"/>
            <a:endCxn id="9" idx="0"/>
          </p:cNvCxnSpPr>
          <p:nvPr/>
        </p:nvCxnSpPr>
        <p:spPr>
          <a:xfrm>
            <a:off x="5085582" y="2073626"/>
            <a:ext cx="1" cy="568321"/>
          </a:xfrm>
          <a:prstGeom prst="straightConnector1">
            <a:avLst/>
          </a:prstGeom>
          <a:ln w="38100">
            <a:solidFill>
              <a:schemeClr val="bg1"/>
            </a:solidFill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D13C70C-ADC5-B209-2A56-A0848CD4D8B8}"/>
              </a:ext>
            </a:extLst>
          </p:cNvPr>
          <p:cNvCxnSpPr>
            <a:cxnSpLocks/>
            <a:stCxn id="14" idx="2"/>
            <a:endCxn id="27" idx="0"/>
          </p:cNvCxnSpPr>
          <p:nvPr/>
        </p:nvCxnSpPr>
        <p:spPr>
          <a:xfrm>
            <a:off x="8555895" y="3514881"/>
            <a:ext cx="2337" cy="741700"/>
          </a:xfrm>
          <a:prstGeom prst="straightConnector1">
            <a:avLst/>
          </a:prstGeom>
          <a:ln w="38100">
            <a:solidFill>
              <a:schemeClr val="bg1"/>
            </a:solidFill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352DF2E-0707-0E68-4D3A-2E2E659861EC}"/>
              </a:ext>
            </a:extLst>
          </p:cNvPr>
          <p:cNvCxnSpPr>
            <a:cxnSpLocks/>
            <a:stCxn id="15" idx="2"/>
            <a:endCxn id="26" idx="0"/>
          </p:cNvCxnSpPr>
          <p:nvPr/>
        </p:nvCxnSpPr>
        <p:spPr>
          <a:xfrm flipH="1">
            <a:off x="5076112" y="4012889"/>
            <a:ext cx="18105" cy="514764"/>
          </a:xfrm>
          <a:prstGeom prst="straightConnector1">
            <a:avLst/>
          </a:prstGeom>
          <a:ln w="38100">
            <a:solidFill>
              <a:schemeClr val="bg1"/>
            </a:solidFill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785CE753-38E3-AEA2-C6DB-903EBCEB3545}"/>
              </a:ext>
            </a:extLst>
          </p:cNvPr>
          <p:cNvSpPr/>
          <p:nvPr/>
        </p:nvSpPr>
        <p:spPr>
          <a:xfrm>
            <a:off x="4067737" y="2354075"/>
            <a:ext cx="1930182" cy="3488718"/>
          </a:xfrm>
          <a:prstGeom prst="roundRect">
            <a:avLst/>
          </a:prstGeom>
          <a:noFill/>
          <a:ln w="57150" cmpd="sng">
            <a:solidFill>
              <a:schemeClr val="accent4"/>
            </a:solidFill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  <a:cs typeface="Audi Type Screen Normal" panose="020B0503040200000003" pitchFamily="34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D225DBB-5A50-50B4-25F2-020CCBD0DEF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9000"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537324" y="4527653"/>
            <a:ext cx="1077575" cy="107757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0C5D6BE-2312-6FE2-46B9-5AC58C45BCFD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8019444" y="4256581"/>
            <a:ext cx="1077575" cy="107757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6" name="Rounded Rectangular Callout 55">
            <a:extLst>
              <a:ext uri="{FF2B5EF4-FFF2-40B4-BE49-F238E27FC236}">
                <a16:creationId xmlns:a16="http://schemas.microsoft.com/office/drawing/2014/main" id="{5C243BA0-B50F-7C16-F169-0E006145FD5F}"/>
              </a:ext>
            </a:extLst>
          </p:cNvPr>
          <p:cNvSpPr/>
          <p:nvPr/>
        </p:nvSpPr>
        <p:spPr>
          <a:xfrm>
            <a:off x="2021642" y="1609998"/>
            <a:ext cx="1791272" cy="808545"/>
          </a:xfrm>
          <a:prstGeom prst="wedgeRoundRectCallout">
            <a:avLst>
              <a:gd name="adj1" fmla="val 81161"/>
              <a:gd name="adj2" fmla="val 40269"/>
              <a:gd name="adj3" fmla="val 16667"/>
            </a:avLst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cs typeface="Audi Type Screen Normal" panose="020B0503040200000003" pitchFamily="34" charset="0"/>
              </a:rPr>
              <a:t>Transaction boundary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50D2B735-696C-E30A-2A33-E279B9501046}"/>
              </a:ext>
            </a:extLst>
          </p:cNvPr>
          <p:cNvSpPr/>
          <p:nvPr/>
        </p:nvSpPr>
        <p:spPr>
          <a:xfrm>
            <a:off x="7645150" y="2073626"/>
            <a:ext cx="1930182" cy="3488718"/>
          </a:xfrm>
          <a:prstGeom prst="roundRect">
            <a:avLst/>
          </a:prstGeom>
          <a:noFill/>
          <a:ln w="57150" cmpd="sng">
            <a:solidFill>
              <a:schemeClr val="accent4"/>
            </a:solidFill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  <a:cs typeface="Audi Type Screen Normal" panose="020B0503040200000003" pitchFamily="34" charset="0"/>
            </a:endParaRPr>
          </a:p>
        </p:txBody>
      </p:sp>
      <p:sp>
        <p:nvSpPr>
          <p:cNvPr id="23" name="Rounded Rectangular Callout 22">
            <a:extLst>
              <a:ext uri="{FF2B5EF4-FFF2-40B4-BE49-F238E27FC236}">
                <a16:creationId xmlns:a16="http://schemas.microsoft.com/office/drawing/2014/main" id="{091302D6-15AB-B188-7F08-E925C4C9F47C}"/>
              </a:ext>
            </a:extLst>
          </p:cNvPr>
          <p:cNvSpPr/>
          <p:nvPr/>
        </p:nvSpPr>
        <p:spPr>
          <a:xfrm>
            <a:off x="8917819" y="1443831"/>
            <a:ext cx="1791272" cy="808545"/>
          </a:xfrm>
          <a:prstGeom prst="wedgeRoundRectCallout">
            <a:avLst>
              <a:gd name="adj1" fmla="val -68603"/>
              <a:gd name="adj2" fmla="val 46921"/>
              <a:gd name="adj3" fmla="val 16667"/>
            </a:avLst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cs typeface="Audi Type Screen Normal" panose="020B0503040200000003" pitchFamily="34" charset="0"/>
              </a:rPr>
              <a:t>Transaction boundary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ED49AD3-D276-56DE-153A-E80FBB05A16F}"/>
              </a:ext>
            </a:extLst>
          </p:cNvPr>
          <p:cNvSpPr txBox="1"/>
          <p:nvPr/>
        </p:nvSpPr>
        <p:spPr>
          <a:xfrm>
            <a:off x="4588100" y="5512875"/>
            <a:ext cx="9476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sz="1100">
                <a:solidFill>
                  <a:schemeClr val="bg1"/>
                </a:solidFill>
              </a:rPr>
              <a:t>Event Store</a:t>
            </a:r>
          </a:p>
        </p:txBody>
      </p:sp>
      <p:pic>
        <p:nvPicPr>
          <p:cNvPr id="6" name="Picture 5" descr="Logo&#10;&#10;Description automatically generated with low confidence">
            <a:extLst>
              <a:ext uri="{FF2B5EF4-FFF2-40B4-BE49-F238E27FC236}">
                <a16:creationId xmlns:a16="http://schemas.microsoft.com/office/drawing/2014/main" id="{37CAFABC-7B16-E1DB-86AF-A039126FFDB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634532" y="4632394"/>
            <a:ext cx="901263" cy="901263"/>
          </a:xfrm>
          <a:prstGeom prst="rect">
            <a:avLst/>
          </a:prstGeom>
        </p:spPr>
      </p:pic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BD13153-89ED-88A4-BF13-C5F6F21EA268}"/>
              </a:ext>
            </a:extLst>
          </p:cNvPr>
          <p:cNvCxnSpPr>
            <a:cxnSpLocks/>
            <a:stCxn id="14" idx="1"/>
            <a:endCxn id="26" idx="3"/>
          </p:cNvCxnSpPr>
          <p:nvPr/>
        </p:nvCxnSpPr>
        <p:spPr>
          <a:xfrm flipH="1">
            <a:off x="5614899" y="3283067"/>
            <a:ext cx="2345527" cy="1783374"/>
          </a:xfrm>
          <a:prstGeom prst="straightConnector1">
            <a:avLst/>
          </a:prstGeom>
          <a:ln w="38100">
            <a:solidFill>
              <a:schemeClr val="bg1"/>
            </a:solidFill>
            <a:prstDash val="dash"/>
            <a:headEnd type="triangle" w="lg" len="lg"/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2962FB1-54B4-42FA-04C8-21A73CCA0C6E}"/>
              </a:ext>
            </a:extLst>
          </p:cNvPr>
          <p:cNvCxnSpPr>
            <a:cxnSpLocks/>
          </p:cNvCxnSpPr>
          <p:nvPr/>
        </p:nvCxnSpPr>
        <p:spPr>
          <a:xfrm flipV="1">
            <a:off x="5322161" y="4043507"/>
            <a:ext cx="0" cy="474542"/>
          </a:xfrm>
          <a:prstGeom prst="straightConnector1">
            <a:avLst/>
          </a:prstGeom>
          <a:ln w="38100">
            <a:solidFill>
              <a:schemeClr val="bg1"/>
            </a:solidFill>
            <a:prstDash val="sysDot"/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AA13B39E-1262-15A7-94F8-A0B1A6D4ACC5}"/>
              </a:ext>
            </a:extLst>
          </p:cNvPr>
          <p:cNvSpPr txBox="1"/>
          <p:nvPr/>
        </p:nvSpPr>
        <p:spPr>
          <a:xfrm rot="19355389">
            <a:off x="6129016" y="3841102"/>
            <a:ext cx="127470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sz="1000">
                <a:solidFill>
                  <a:schemeClr val="bg1"/>
                </a:solidFill>
              </a:rPr>
              <a:t>Async Push or Pull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0772CE9-F72E-A030-4401-F84977C4CB40}"/>
              </a:ext>
            </a:extLst>
          </p:cNvPr>
          <p:cNvSpPr txBox="1"/>
          <p:nvPr/>
        </p:nvSpPr>
        <p:spPr>
          <a:xfrm>
            <a:off x="460665" y="2952188"/>
            <a:ext cx="380206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1600" dirty="0" err="1">
                <a:solidFill>
                  <a:schemeClr val="accent5"/>
                </a:solidFill>
              </a:rPr>
              <a:t>Requires</a:t>
            </a:r>
            <a:r>
              <a:rPr lang="da-DK" sz="1600" dirty="0">
                <a:solidFill>
                  <a:schemeClr val="accent5"/>
                </a:solidFill>
              </a:rPr>
              <a:t> </a:t>
            </a:r>
            <a:r>
              <a:rPr lang="da-DK" sz="1600" dirty="0" err="1">
                <a:solidFill>
                  <a:schemeClr val="accent5"/>
                </a:solidFill>
              </a:rPr>
              <a:t>only</a:t>
            </a:r>
            <a:r>
              <a:rPr lang="da-DK" sz="1600" dirty="0">
                <a:solidFill>
                  <a:schemeClr val="accent5"/>
                </a:solidFill>
              </a:rPr>
              <a:t> </a:t>
            </a:r>
            <a:r>
              <a:rPr lang="da-DK" sz="1600" dirty="0" err="1">
                <a:solidFill>
                  <a:schemeClr val="accent5"/>
                </a:solidFill>
              </a:rPr>
              <a:t>local</a:t>
            </a:r>
            <a:r>
              <a:rPr lang="da-DK" sz="1600" dirty="0">
                <a:solidFill>
                  <a:schemeClr val="accent5"/>
                </a:solidFill>
              </a:rPr>
              <a:t> </a:t>
            </a:r>
            <a:r>
              <a:rPr lang="da-DK" sz="1600" dirty="0" err="1">
                <a:solidFill>
                  <a:schemeClr val="accent5"/>
                </a:solidFill>
              </a:rPr>
              <a:t>transactions</a:t>
            </a:r>
            <a:endParaRPr lang="da-DK" sz="1600" dirty="0">
              <a:solidFill>
                <a:schemeClr val="accent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1600" dirty="0" err="1">
                <a:solidFill>
                  <a:schemeClr val="accent5"/>
                </a:solidFill>
              </a:rPr>
              <a:t>Natively</a:t>
            </a:r>
            <a:r>
              <a:rPr lang="da-DK" sz="1600" dirty="0">
                <a:solidFill>
                  <a:schemeClr val="accent5"/>
                </a:solidFill>
              </a:rPr>
              <a:t> event driven: The Service </a:t>
            </a:r>
            <a:r>
              <a:rPr lang="da-DK" sz="1600" dirty="0" err="1">
                <a:solidFill>
                  <a:schemeClr val="accent5"/>
                </a:solidFill>
              </a:rPr>
              <a:t>consumes</a:t>
            </a:r>
            <a:r>
              <a:rPr lang="da-DK" sz="1600" dirty="0">
                <a:solidFill>
                  <a:schemeClr val="accent5"/>
                </a:solidFill>
              </a:rPr>
              <a:t> and </a:t>
            </a:r>
            <a:r>
              <a:rPr lang="da-DK" sz="1600" dirty="0" err="1">
                <a:solidFill>
                  <a:schemeClr val="accent5"/>
                </a:solidFill>
              </a:rPr>
              <a:t>produces</a:t>
            </a:r>
            <a:r>
              <a:rPr lang="da-DK" sz="1600" dirty="0">
                <a:solidFill>
                  <a:schemeClr val="accent5"/>
                </a:solidFill>
              </a:rPr>
              <a:t> events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1600" dirty="0" err="1">
                <a:solidFill>
                  <a:schemeClr val="accent5"/>
                </a:solidFill>
              </a:rPr>
              <a:t>Proven</a:t>
            </a:r>
            <a:r>
              <a:rPr lang="da-DK" sz="1600" dirty="0">
                <a:solidFill>
                  <a:schemeClr val="accent5"/>
                </a:solidFill>
              </a:rPr>
              <a:t> Audit </a:t>
            </a:r>
            <a:r>
              <a:rPr lang="da-DK" sz="1600" dirty="0" err="1">
                <a:solidFill>
                  <a:schemeClr val="accent5"/>
                </a:solidFill>
              </a:rPr>
              <a:t>Trail</a:t>
            </a:r>
            <a:endParaRPr lang="da-DK" sz="1600" dirty="0">
              <a:solidFill>
                <a:schemeClr val="accent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chemeClr val="accent5"/>
                </a:solidFill>
              </a:rPr>
              <a:t>Flexible and </a:t>
            </a:r>
            <a:r>
              <a:rPr lang="da-DK" sz="1600" dirty="0" err="1">
                <a:solidFill>
                  <a:schemeClr val="accent5"/>
                </a:solidFill>
              </a:rPr>
              <a:t>adaptable</a:t>
            </a:r>
            <a:endParaRPr lang="da-DK" sz="1600" dirty="0">
              <a:solidFill>
                <a:schemeClr val="accent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1600" dirty="0" err="1">
                <a:solidFill>
                  <a:schemeClr val="accent5"/>
                </a:solidFill>
              </a:rPr>
              <a:t>Captures</a:t>
            </a:r>
            <a:r>
              <a:rPr lang="da-DK" sz="1600" dirty="0">
                <a:solidFill>
                  <a:schemeClr val="accent5"/>
                </a:solidFill>
              </a:rPr>
              <a:t> business intentions as events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1600" dirty="0" err="1">
                <a:solidFill>
                  <a:schemeClr val="accent5"/>
                </a:solidFill>
              </a:rPr>
              <a:t>Requires</a:t>
            </a:r>
            <a:r>
              <a:rPr lang="da-DK" sz="1600" dirty="0">
                <a:solidFill>
                  <a:schemeClr val="accent5"/>
                </a:solidFill>
              </a:rPr>
              <a:t> </a:t>
            </a:r>
            <a:r>
              <a:rPr lang="da-DK" sz="1600" dirty="0" err="1">
                <a:solidFill>
                  <a:schemeClr val="accent5"/>
                </a:solidFill>
              </a:rPr>
              <a:t>idempotent</a:t>
            </a:r>
            <a:r>
              <a:rPr lang="da-DK" sz="1600" dirty="0">
                <a:solidFill>
                  <a:schemeClr val="accent5"/>
                </a:solidFill>
              </a:rPr>
              <a:t> operations</a:t>
            </a:r>
          </a:p>
        </p:txBody>
      </p:sp>
    </p:spTree>
    <p:extLst>
      <p:ext uri="{BB962C8B-B14F-4D97-AF65-F5344CB8AC3E}">
        <p14:creationId xmlns:p14="http://schemas.microsoft.com/office/powerpoint/2010/main" val="4075359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23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68CB114-701A-8B12-63B7-7FB7C117A4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DK"/>
              <a:t>Publish events to an eventbus (e.g. Kafka)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36BB82-6FD5-B4ED-A987-41830924E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961" y="1491135"/>
            <a:ext cx="8963147" cy="4816545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5B906E1-0247-8A10-A7DB-CC395B5FE3F2}"/>
              </a:ext>
            </a:extLst>
          </p:cNvPr>
          <p:cNvSpPr/>
          <p:nvPr/>
        </p:nvSpPr>
        <p:spPr>
          <a:xfrm>
            <a:off x="3476066" y="1559859"/>
            <a:ext cx="5533464" cy="4693023"/>
          </a:xfrm>
          <a:prstGeom prst="roundRect">
            <a:avLst/>
          </a:prstGeom>
          <a:solidFill>
            <a:schemeClr val="accent2">
              <a:lumMod val="60000"/>
              <a:lumOff val="40000"/>
              <a:alpha val="48162"/>
            </a:schemeClr>
          </a:solidFill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2D5D6F-AF87-C5B3-86B7-AAC54B65947C}"/>
              </a:ext>
            </a:extLst>
          </p:cNvPr>
          <p:cNvSpPr txBox="1"/>
          <p:nvPr/>
        </p:nvSpPr>
        <p:spPr>
          <a:xfrm>
            <a:off x="3939989" y="4024263"/>
            <a:ext cx="29225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sz="2800" b="1" u="sng">
                <a:solidFill>
                  <a:schemeClr val="accent2"/>
                </a:solidFill>
              </a:rPr>
              <a:t>EventProcessor</a:t>
            </a:r>
          </a:p>
        </p:txBody>
      </p:sp>
    </p:spTree>
    <p:extLst>
      <p:ext uri="{BB962C8B-B14F-4D97-AF65-F5344CB8AC3E}">
        <p14:creationId xmlns:p14="http://schemas.microsoft.com/office/powerpoint/2010/main" val="370404953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729B528-BD2B-4D80-8892-BA2F371B79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DK"/>
              <a:t>Publish events to an eventbus (e.g. Kafka)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537206-9489-B834-64C8-5A6D3F8B1482}"/>
              </a:ext>
            </a:extLst>
          </p:cNvPr>
          <p:cNvSpPr txBox="1"/>
          <p:nvPr/>
        </p:nvSpPr>
        <p:spPr>
          <a:xfrm>
            <a:off x="650984" y="1326238"/>
            <a:ext cx="11015499" cy="547842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GB" sz="1400">
                <a:solidFill>
                  <a:srgbClr val="BBB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@Service</a:t>
            </a:r>
            <a:br>
              <a:rPr lang="en-GB" sz="1400">
                <a:solidFill>
                  <a:srgbClr val="BBB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4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GB" sz="140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ShippingEventKafkaPublisher</a:t>
            </a:r>
            <a:r>
              <a:rPr lang="en-GB" sz="14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4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extends </a:t>
            </a:r>
            <a:r>
              <a:rPr lang="en-GB" sz="140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EventProcessor</a:t>
            </a:r>
            <a:r>
              <a:rPr lang="en-GB" sz="14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  <a:br>
              <a:rPr lang="en-GB" sz="14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4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4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private final </a:t>
            </a:r>
            <a:r>
              <a:rPr lang="en-GB" sz="140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KafkaTemplate</a:t>
            </a:r>
            <a:r>
              <a:rPr lang="en-GB" sz="14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&lt;String</a:t>
            </a:r>
            <a:r>
              <a:rPr lang="en-GB" sz="14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14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Object&gt; </a:t>
            </a:r>
            <a:r>
              <a:rPr lang="en-GB" sz="1400" err="1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kafkaTemplate</a:t>
            </a:r>
            <a:r>
              <a:rPr lang="en-GB" sz="14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GB" sz="14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GB" sz="14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4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GB" sz="1400" err="1">
                <a:solidFill>
                  <a:srgbClr val="FFC66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ShippingEventKafkaPublisher</a:t>
            </a:r>
            <a:r>
              <a:rPr lang="en-GB" sz="14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(…</a:t>
            </a:r>
            <a:r>
              <a:rPr lang="en-GB" sz="14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br>
              <a:rPr lang="en-GB" sz="14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4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</a:t>
            </a:r>
            <a:r>
              <a:rPr lang="en-GB" sz="1400">
                <a:solidFill>
                  <a:srgbClr val="BBB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en-GB" sz="1400" err="1">
                <a:solidFill>
                  <a:srgbClr val="BBB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NonNull</a:t>
            </a:r>
            <a:r>
              <a:rPr lang="en-GB" sz="1400">
                <a:solidFill>
                  <a:srgbClr val="BBB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40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KafkaTemplate</a:t>
            </a:r>
            <a:r>
              <a:rPr lang="en-GB" sz="14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&lt;String</a:t>
            </a:r>
            <a:r>
              <a:rPr lang="en-GB" sz="14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14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Object&gt; </a:t>
            </a:r>
            <a:r>
              <a:rPr lang="en-GB" sz="140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kafkaTemplate</a:t>
            </a:r>
            <a:r>
              <a:rPr lang="en-GB" sz="14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br>
              <a:rPr lang="en-GB" sz="14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4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GB" sz="14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super</a:t>
            </a:r>
            <a:r>
              <a:rPr lang="en-GB" sz="14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(…)</a:t>
            </a:r>
            <a:r>
              <a:rPr lang="en-GB" sz="14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GB" sz="14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4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GB" sz="1400" err="1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GB" sz="140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GB" sz="1400" err="1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kafkaTemplate</a:t>
            </a:r>
            <a:r>
              <a:rPr lang="en-GB" sz="1400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4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GB" sz="140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kafkaTemplate</a:t>
            </a:r>
            <a:r>
              <a:rPr lang="en-GB" sz="14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GB" sz="14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4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4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en-GB" sz="14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4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br>
              <a:rPr lang="en-GB" sz="14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4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400">
                <a:solidFill>
                  <a:srgbClr val="BBB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@Override</a:t>
            </a:r>
            <a:br>
              <a:rPr lang="en-GB" sz="1400">
                <a:solidFill>
                  <a:srgbClr val="BBB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400">
                <a:solidFill>
                  <a:srgbClr val="BBB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4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protected </a:t>
            </a:r>
            <a:r>
              <a:rPr lang="en-GB" sz="14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List&lt;</a:t>
            </a:r>
            <a:r>
              <a:rPr lang="en-GB" sz="140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AggregateType</a:t>
            </a:r>
            <a:r>
              <a:rPr lang="en-GB" sz="14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GB" sz="1400" err="1">
                <a:solidFill>
                  <a:srgbClr val="FFC66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reactsToEventsRelatedToAggregateTypes</a:t>
            </a:r>
            <a:r>
              <a:rPr lang="en-GB" sz="14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  <a:br>
              <a:rPr lang="en-GB" sz="14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4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GB" sz="14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GB" sz="140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List.</a:t>
            </a:r>
            <a:r>
              <a:rPr lang="en-GB" sz="1400" i="1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of</a:t>
            </a:r>
            <a:r>
              <a:rPr lang="en-GB" sz="14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400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ShippingOrders.</a:t>
            </a:r>
            <a:r>
              <a:rPr lang="en-GB" sz="1400" i="1" err="1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AGGREGATE_TYPE</a:t>
            </a:r>
            <a:r>
              <a:rPr lang="en-GB" sz="14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GB" sz="14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GB" sz="14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400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4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en-GB" sz="14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GB" sz="14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400" b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400" b="1">
                <a:solidFill>
                  <a:srgbClr val="BBB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en-GB" sz="1400" b="1" err="1">
                <a:solidFill>
                  <a:srgbClr val="BBB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MessageHandler</a:t>
            </a:r>
            <a:br>
              <a:rPr lang="en-GB" sz="1400" b="1">
                <a:solidFill>
                  <a:srgbClr val="BBB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400" b="1">
                <a:solidFill>
                  <a:srgbClr val="BBB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400" b="1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GB" sz="1400" b="1">
                <a:solidFill>
                  <a:srgbClr val="FFC66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handle</a:t>
            </a:r>
            <a:r>
              <a:rPr lang="en-GB" sz="1400" b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400" b="1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OrderShipped</a:t>
            </a:r>
            <a:r>
              <a:rPr lang="en-GB" sz="1400" b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e</a:t>
            </a:r>
            <a:r>
              <a:rPr lang="en-GB" sz="1400" b="1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1400" b="1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OrderedMessage</a:t>
            </a:r>
            <a:r>
              <a:rPr lang="en-GB" sz="1400" b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400" b="1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eventMessage</a:t>
            </a:r>
            <a:r>
              <a:rPr lang="en-GB" sz="1400" b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br>
              <a:rPr lang="en-GB" sz="1400" b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400" b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GB" sz="1400" b="1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var </a:t>
            </a:r>
            <a:r>
              <a:rPr lang="en-GB" sz="1400" b="1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externalEvent</a:t>
            </a:r>
            <a:r>
              <a:rPr lang="en-GB" sz="1400" b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1400" b="1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en-GB" sz="1400" b="1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ExternalOrderShipped</a:t>
            </a:r>
            <a:r>
              <a:rPr lang="en-GB" sz="1400" b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400" b="1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e.</a:t>
            </a:r>
            <a:r>
              <a:rPr lang="en-GB" sz="1400" b="1" err="1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orderId</a:t>
            </a:r>
            <a:r>
              <a:rPr lang="en-GB" sz="1400" b="1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1400" b="1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eventMessage.getOrder</a:t>
            </a:r>
            <a:r>
              <a:rPr lang="en-GB" sz="1400" b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  <a:r>
              <a:rPr lang="en-GB" sz="1400" b="1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GB" sz="1400" b="1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400" b="1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br>
              <a:rPr lang="en-GB" sz="1400" b="1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400" b="1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var </a:t>
            </a:r>
            <a:r>
              <a:rPr lang="en-GB" sz="1400" b="1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producerRecord</a:t>
            </a:r>
            <a:r>
              <a:rPr lang="en-GB" sz="1400" b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1400" b="1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en-GB" sz="1400" b="1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ProducerRecord</a:t>
            </a:r>
            <a:r>
              <a:rPr lang="en-GB" sz="1400" b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&lt;String</a:t>
            </a:r>
            <a:r>
              <a:rPr lang="en-GB" sz="1400" b="1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1400" b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Object&gt;(</a:t>
            </a:r>
            <a:r>
              <a:rPr lang="en-GB" sz="1400" b="1">
                <a:solidFill>
                  <a:srgbClr val="6A875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"shipping-events"</a:t>
            </a:r>
            <a:r>
              <a:rPr lang="en-GB" sz="1400" b="1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br>
              <a:rPr lang="en-GB" sz="1400" b="1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400" b="1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                     </a:t>
            </a:r>
            <a:r>
              <a:rPr lang="en-GB" sz="1400" b="1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externalEvent.</a:t>
            </a:r>
            <a:r>
              <a:rPr lang="en-GB" sz="1400" b="1" err="1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orderId</a:t>
            </a:r>
            <a:r>
              <a:rPr lang="en-GB" sz="1400" b="1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.toString</a:t>
            </a:r>
            <a:r>
              <a:rPr lang="en-GB" sz="1400" b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GB" sz="1400" b="1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br>
              <a:rPr lang="en-GB" sz="1400" b="1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400" b="1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                     </a:t>
            </a:r>
            <a:r>
              <a:rPr lang="en-GB" sz="1400" b="1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externalEvent</a:t>
            </a:r>
            <a:r>
              <a:rPr lang="en-GB" sz="1400" b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GB" sz="1400" b="1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GB" sz="1400" b="1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400" b="1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GB" sz="1400" b="1" err="1">
                <a:solidFill>
                  <a:srgbClr val="9876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kafkaTemplate</a:t>
            </a:r>
            <a:r>
              <a:rPr lang="en-GB" sz="1400" b="1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.send</a:t>
            </a:r>
            <a:r>
              <a:rPr lang="en-GB" sz="1400" b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400" b="1" err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producerRecord</a:t>
            </a:r>
            <a:r>
              <a:rPr lang="en-GB" sz="1400" b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GB" sz="1400" b="1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  </a:t>
            </a:r>
            <a:br>
              <a:rPr lang="en-GB" sz="1400" b="1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400" b="1"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400" b="1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GB" sz="1400" b="1">
              <a:solidFill>
                <a:srgbClr val="A9B7C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400"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0108458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-tema">
  <a:themeElements>
    <a:clrScheme name="Brugerdefineret 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FFFFF"/>
      </a:accent1>
      <a:accent2>
        <a:srgbClr val="455876"/>
      </a:accent2>
      <a:accent3>
        <a:srgbClr val="364A04"/>
      </a:accent3>
      <a:accent4>
        <a:srgbClr val="FF7101"/>
      </a:accent4>
      <a:accent5>
        <a:srgbClr val="E2DDD4"/>
      </a:accent5>
      <a:accent6>
        <a:srgbClr val="FFFEFD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_TEMPLATE_master_VERSION_3 (1)" id="{137F610D-5A99-4CBC-978C-A0C0B2F31248}" vid="{A6ED925F-FCE0-4E59-9493-230DB26698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f487a9c-703f-4348-b20a-c69428913409">
      <Terms xmlns="http://schemas.microsoft.com/office/infopath/2007/PartnerControls"/>
    </lcf76f155ced4ddcb4097134ff3c332f>
    <TaxCatchAll xmlns="695f6e69-0cfc-48e6-b46d-45239a381b04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496A9F4394CF54D9B5BD78436A058B0" ma:contentTypeVersion="13" ma:contentTypeDescription="Opret et nyt dokument." ma:contentTypeScope="" ma:versionID="69572956c9434ab276e730f274e86ad7">
  <xsd:schema xmlns:xsd="http://www.w3.org/2001/XMLSchema" xmlns:xs="http://www.w3.org/2001/XMLSchema" xmlns:p="http://schemas.microsoft.com/office/2006/metadata/properties" xmlns:ns2="cf487a9c-703f-4348-b20a-c69428913409" xmlns:ns3="695f6e69-0cfc-48e6-b46d-45239a381b04" targetNamespace="http://schemas.microsoft.com/office/2006/metadata/properties" ma:root="true" ma:fieldsID="ab3eaec5e0a7e2a0b10f0adea066a6c0" ns2:_="" ns3:_="">
    <xsd:import namespace="cf487a9c-703f-4348-b20a-c69428913409"/>
    <xsd:import namespace="695f6e69-0cfc-48e6-b46d-45239a381b0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487a9c-703f-4348-b20a-c694289134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Billedmærker" ma:readOnly="false" ma:fieldId="{5cf76f15-5ced-4ddc-b409-7134ff3c332f}" ma:taxonomyMulti="true" ma:sspId="f1438ba6-dd50-45a7-aa79-b56b7789b4f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5f6e69-0cfc-48e6-b46d-45239a381b04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9cd1855-b578-4939-9b4e-4cfe785c6dd9}" ma:internalName="TaxCatchAll" ma:showField="CatchAllData" ma:web="695f6e69-0cfc-48e6-b46d-45239a381b0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24001F9-A732-43B5-861B-81372CF269B7}">
  <ds:schemaRefs>
    <ds:schemaRef ds:uri="http://schemas.microsoft.com/office/2006/documentManagement/types"/>
    <ds:schemaRef ds:uri="http://schemas.microsoft.com/office/2006/metadata/properties"/>
    <ds:schemaRef ds:uri="695f6e69-0cfc-48e6-b46d-45239a381b04"/>
    <ds:schemaRef ds:uri="http://www.w3.org/XML/1998/namespace"/>
    <ds:schemaRef ds:uri="http://purl.org/dc/terms/"/>
    <ds:schemaRef ds:uri="http://schemas.openxmlformats.org/package/2006/metadata/core-properties"/>
    <ds:schemaRef ds:uri="http://purl.org/dc/elements/1.1/"/>
    <ds:schemaRef ds:uri="cf487a9c-703f-4348-b20a-c69428913409"/>
    <ds:schemaRef ds:uri="http://schemas.microsoft.com/office/infopath/2007/PartnerControl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CB6D49D2-2AF1-4E2A-AF22-4EBB50D02EB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f487a9c-703f-4348-b20a-c69428913409"/>
    <ds:schemaRef ds:uri="695f6e69-0cfc-48e6-b46d-45239a381b0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C710D8D-4B36-4DC9-93FF-073007454C4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1393</TotalTime>
  <Words>5935</Words>
  <Application>Microsoft Office PowerPoint</Application>
  <PresentationFormat>Widescreen</PresentationFormat>
  <Paragraphs>1213</Paragraphs>
  <Slides>88</Slides>
  <Notes>31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Slidetitler</vt:lpstr>
      </vt:variant>
      <vt:variant>
        <vt:i4>88</vt:i4>
      </vt:variant>
    </vt:vector>
  </HeadingPairs>
  <TitlesOfParts>
    <vt:vector size="89" baseType="lpstr">
      <vt:lpstr>Office-tema</vt:lpstr>
      <vt:lpstr>Scalable Architecture using Microservices</vt:lpstr>
      <vt:lpstr>PowerPoint-præsentation</vt:lpstr>
      <vt:lpstr>How do we discover events?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Event Modeling: The Visual Story of Your System</vt:lpstr>
      <vt:lpstr>The Building Blocks of Event Modeling</vt:lpstr>
      <vt:lpstr>The Power of Patterns</vt:lpstr>
      <vt:lpstr>PowerPoint-præsentation</vt:lpstr>
      <vt:lpstr>PowerPoint-præsentation</vt:lpstr>
      <vt:lpstr>PowerPoint-præsentation</vt:lpstr>
      <vt:lpstr>PowerPoint-præsentation</vt:lpstr>
      <vt:lpstr>Slices: The Units of Business Value</vt:lpstr>
      <vt:lpstr>Autonomous Business Capabilities</vt:lpstr>
      <vt:lpstr>Estimation Certainty: Finally Predictable Development</vt:lpstr>
      <vt:lpstr>Testing: Built-In Quality</vt:lpstr>
      <vt:lpstr>Event modeling by example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Event store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View projections</vt:lpstr>
      <vt:lpstr>PowerPoint-præsentation</vt:lpstr>
      <vt:lpstr>CQRS</vt:lpstr>
      <vt:lpstr>PowerPoint-præsentation</vt:lpstr>
      <vt:lpstr>IT exists to support the business by support various usecases</vt:lpstr>
      <vt:lpstr>CQS </vt:lpstr>
      <vt:lpstr>PowerPoint-præsentation</vt:lpstr>
      <vt:lpstr>CQS from a code perspective</vt:lpstr>
      <vt:lpstr>So what is CQRS?</vt:lpstr>
      <vt:lpstr>PowerPoint-præsentation</vt:lpstr>
      <vt:lpstr>Commands</vt:lpstr>
      <vt:lpstr>1. Realization Commands and Queries support very different usecases</vt:lpstr>
      <vt:lpstr>When to use EAGER vs LAZY fetching?</vt:lpstr>
      <vt:lpstr>2. Realization Query results contain only data – no logic </vt:lpstr>
      <vt:lpstr>Things to think about in relation to Queries</vt:lpstr>
      <vt:lpstr>So how is this relevant in the real world?  </vt:lpstr>
      <vt:lpstr>PowerPoint-præsentation</vt:lpstr>
      <vt:lpstr>PowerPoint-præsentation</vt:lpstr>
      <vt:lpstr>PowerPoint-præsentation</vt:lpstr>
      <vt:lpstr>Let’s use stale data to our advantage by offloading the database by using our read models</vt:lpstr>
      <vt:lpstr>All we need is a good way to synchronize our write and read models</vt:lpstr>
      <vt:lpstr>Commands &amp; Events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Exercise 3</vt:lpstr>
      <vt:lpstr>PowerPoint-præsentation</vt:lpstr>
      <vt:lpstr>PowerPoint-præsentation</vt:lpstr>
      <vt:lpstr>PowerPoint-præsentation</vt:lpstr>
      <vt:lpstr>Hotel Booking      Book Room 1/2</vt:lpstr>
      <vt:lpstr>PowerPoint-præsentation</vt:lpstr>
      <vt:lpstr>Hotel Booking      Book Room 2/2</vt:lpstr>
      <vt:lpstr>IT-OPS integration </vt:lpstr>
      <vt:lpstr>PowerPoint-præsentation</vt:lpstr>
      <vt:lpstr>Event sourcing</vt:lpstr>
      <vt:lpstr>PowerPoint-præsentation</vt:lpstr>
      <vt:lpstr>PowerPoint-præsentation</vt:lpstr>
      <vt:lpstr>PowerPoint-præsentation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Should you be using an Event Driven Architecture?</dc:title>
  <dc:creator>Jeppe Cramon</dc:creator>
  <cp:lastModifiedBy>Jeppe Cramon</cp:lastModifiedBy>
  <cp:revision>73</cp:revision>
  <dcterms:created xsi:type="dcterms:W3CDTF">2020-12-06T16:39:46Z</dcterms:created>
  <dcterms:modified xsi:type="dcterms:W3CDTF">2026-09-15T17:13:56Z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0x0101007496A9F4394CF54D9B5BD78436A058B0</vt:lpwstr>
  </property>
  <property fmtid="{D5CDD505-2E9C-101B-9397-08002B2CF9AE}" pid="3" name="MediaServiceImageTags">
    <vt:lpwstr/>
  </property>
</Properties>
</file>